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6"/>
  </p:notesMasterIdLst>
  <p:sldIdLst>
    <p:sldId id="263" r:id="rId2"/>
    <p:sldId id="264" r:id="rId3"/>
    <p:sldId id="265" r:id="rId4"/>
    <p:sldId id="266" r:id="rId5"/>
    <p:sldId id="267" r:id="rId6"/>
    <p:sldId id="293" r:id="rId7"/>
    <p:sldId id="287" r:id="rId8"/>
    <p:sldId id="275" r:id="rId9"/>
    <p:sldId id="282" r:id="rId10"/>
    <p:sldId id="294" r:id="rId11"/>
    <p:sldId id="295" r:id="rId12"/>
    <p:sldId id="296" r:id="rId13"/>
    <p:sldId id="297" r:id="rId14"/>
    <p:sldId id="288" r:id="rId15"/>
    <p:sldId id="279" r:id="rId16"/>
    <p:sldId id="268" r:id="rId17"/>
    <p:sldId id="280" r:id="rId18"/>
    <p:sldId id="281" r:id="rId19"/>
    <p:sldId id="289" r:id="rId20"/>
    <p:sldId id="270" r:id="rId21"/>
    <p:sldId id="272" r:id="rId22"/>
    <p:sldId id="277" r:id="rId23"/>
    <p:sldId id="271" r:id="rId24"/>
    <p:sldId id="298" r:id="rId25"/>
    <p:sldId id="299" r:id="rId26"/>
    <p:sldId id="290" r:id="rId27"/>
    <p:sldId id="292" r:id="rId28"/>
    <p:sldId id="273" r:id="rId29"/>
    <p:sldId id="278" r:id="rId30"/>
    <p:sldId id="283" r:id="rId31"/>
    <p:sldId id="276" r:id="rId32"/>
    <p:sldId id="291" r:id="rId33"/>
    <p:sldId id="274" r:id="rId34"/>
    <p:sldId id="286" r:id="rId35"/>
  </p:sldIdLst>
  <p:sldSz cx="18288000" cy="10287000"/>
  <p:notesSz cx="6858000" cy="9144000"/>
  <p:embeddedFontLst>
    <p:embeddedFont>
      <p:font typeface="Readex Pro" panose="020B0604020202020204" charset="-78"/>
      <p:regular r:id="rId37"/>
      <p:bold r:id="rId38"/>
    </p:embeddedFont>
    <p:embeddedFont>
      <p:font typeface="Readex Pro Light" panose="020B0604020202020204" charset="-78"/>
      <p:regular r:id="rId39"/>
      <p:bold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65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20" Type="http://schemas.openxmlformats.org/officeDocument/2006/relationships/slide" Target="slides/slide19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الدقة %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C86B8"/>
              </a:solidFill>
            </c:spPr>
            <c:extLst>
              <c:ext xmlns:c16="http://schemas.microsoft.com/office/drawing/2014/chart" uri="{C3380CC4-5D6E-409C-BE32-E72D297353CC}">
                <c16:uniqueId val="{00000001-955F-4474-A8B7-F80815EE3081}"/>
              </c:ext>
            </c:extLst>
          </c:dPt>
          <c:dPt>
            <c:idx val="1"/>
            <c:invertIfNegative val="1"/>
            <c:bubble3D val="0"/>
            <c:spPr>
              <a:solidFill>
                <a:srgbClr val="2EF2C0"/>
              </a:solidFill>
            </c:spPr>
            <c:extLst>
              <c:ext xmlns:c16="http://schemas.microsoft.com/office/drawing/2014/chart" uri="{C3380CC4-5D6E-409C-BE32-E72D297353CC}">
                <c16:uniqueId val="{00000003-955F-4474-A8B7-F80815EE3081}"/>
              </c:ext>
            </c:extLst>
          </c:dPt>
          <c:dPt>
            <c:idx val="2"/>
            <c:invertIfNegative val="1"/>
            <c:bubble3D val="0"/>
            <c:spPr>
              <a:solidFill>
                <a:srgbClr val="7C86B8"/>
              </a:solidFill>
            </c:spPr>
            <c:extLst>
              <c:ext xmlns:c16="http://schemas.microsoft.com/office/drawing/2014/chart" uri="{C3380CC4-5D6E-409C-BE32-E72D297353CC}">
                <c16:uniqueId val="{00000005-955F-4474-A8B7-F80815EE3081}"/>
              </c:ext>
            </c:extLst>
          </c:dPt>
          <c:dPt>
            <c:idx val="3"/>
            <c:invertIfNegative val="1"/>
            <c:bubble3D val="0"/>
            <c:spPr>
              <a:solidFill>
                <a:srgbClr val="2EF2C0"/>
              </a:solidFill>
            </c:spPr>
            <c:extLst>
              <c:ext xmlns:c16="http://schemas.microsoft.com/office/drawing/2014/chart" uri="{C3380CC4-5D6E-409C-BE32-E72D297353CC}">
                <c16:uniqueId val="{00000007-955F-4474-A8B7-F80815EE3081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lang="en-US" sz="2200" b="1">
                    <a:solidFill>
                      <a:srgbClr val="FFFFFF"/>
                    </a:solidFill>
                  </a:defRPr>
                </a:pPr>
                <a:endParaRPr lang="ar-EG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1B Baseline</c:v>
                </c:pt>
                <c:pt idx="1">
                  <c:v>1B Amanah AI</c:v>
                </c:pt>
                <c:pt idx="2">
                  <c:v>1C Baseline</c:v>
                </c:pt>
                <c:pt idx="3">
                  <c:v>1C Amanah AI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59.5</c:v>
                </c:pt>
                <c:pt idx="1">
                  <c:v>93.12</c:v>
                </c:pt>
                <c:pt idx="2">
                  <c:v>62</c:v>
                </c:pt>
                <c:pt idx="3">
                  <c:v>74.3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55F-4474-A8B7-F80815EE308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6A73A8"/>
            </a:solidFill>
          </a:ln>
        </c:spPr>
        <c:txPr>
          <a:bodyPr/>
          <a:lstStyle/>
          <a:p>
            <a:pPr>
              <a:defRPr lang="en-US" sz="1800">
                <a:solidFill>
                  <a:srgbClr val="FFFFFF"/>
                </a:solidFill>
              </a:defRPr>
            </a:pPr>
            <a:endParaRPr lang="ar-EG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3A447A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lang="en-US" sz="1600">
                <a:solidFill>
                  <a:srgbClr val="C9CFEA"/>
                </a:solidFill>
              </a:defRPr>
            </a:pPr>
            <a:endParaRPr lang="ar-EG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lang="en-US" sz="1800">
          <a:solidFill>
            <a:srgbClr val="FFFFFF"/>
          </a:solidFill>
          <a:latin typeface="Readex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التغطية</c:v>
                </c:pt>
              </c:strCache>
            </c:strRef>
          </c:tx>
          <c:dPt>
            <c:idx val="0"/>
            <c:bubble3D val="0"/>
            <c:spPr>
              <a:solidFill>
                <a:srgbClr val="2EF2C0"/>
              </a:solidFill>
            </c:spPr>
            <c:extLst>
              <c:ext xmlns:c16="http://schemas.microsoft.com/office/drawing/2014/chart" uri="{C3380CC4-5D6E-409C-BE32-E72D297353CC}">
                <c16:uniqueId val="{00000001-D823-43AF-A62F-E24A6ACA7A0B}"/>
              </c:ext>
            </c:extLst>
          </c:dPt>
          <c:dPt>
            <c:idx val="1"/>
            <c:bubble3D val="0"/>
            <c:spPr>
              <a:solidFill>
                <a:srgbClr val="6A5AF5"/>
              </a:solidFill>
            </c:spPr>
            <c:extLst>
              <c:ext xmlns:c16="http://schemas.microsoft.com/office/drawing/2014/chart" uri="{C3380CC4-5D6E-409C-BE32-E72D297353CC}">
                <c16:uniqueId val="{00000003-D823-43AF-A62F-E24A6ACA7A0B}"/>
              </c:ext>
            </c:extLst>
          </c:dPt>
          <c:dPt>
            <c:idx val="2"/>
            <c:bubble3D val="0"/>
            <c:spPr>
              <a:solidFill>
                <a:srgbClr val="A9B6FF"/>
              </a:solidFill>
            </c:spPr>
            <c:extLst>
              <c:ext xmlns:c16="http://schemas.microsoft.com/office/drawing/2014/chart" uri="{C3380CC4-5D6E-409C-BE32-E72D297353CC}">
                <c16:uniqueId val="{00000005-D823-43AF-A62F-E24A6ACA7A0B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600" b="1">
                    <a:solidFill>
                      <a:srgbClr val="0B103A"/>
                    </a:solidFill>
                  </a:defRPr>
                </a:pPr>
                <a:endParaRPr lang="ar-E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تقنيات مفتوحة وموارد ذاتية</c:v>
                </c:pt>
                <c:pt idx="1">
                  <c:v>شراكات أكاديمية</c:v>
                </c:pt>
                <c:pt idx="2">
                  <c:v>رعايات مؤسسية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823-43AF-A62F-E24A6ACA7A0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overlay val="0"/>
      <c:txPr>
        <a:bodyPr/>
        <a:lstStyle/>
        <a:p>
          <a:pPr>
            <a:defRPr sz="2200">
              <a:solidFill>
                <a:srgbClr val="FFFFFF"/>
              </a:solidFill>
            </a:defRPr>
          </a:pPr>
          <a:endParaRPr lang="ar-EG"/>
        </a:p>
      </c:txPr>
    </c:legend>
    <c:plotVisOnly val="1"/>
    <c:dispBlanksAs val="gap"/>
    <c:showDLblsOverMax val="0"/>
  </c:chart>
  <c:txPr>
    <a:bodyPr/>
    <a:lstStyle/>
    <a:p>
      <a:pPr>
        <a:defRPr sz="2000">
          <a:solidFill>
            <a:srgbClr val="FFFFFF"/>
          </a:solidFill>
          <a:latin typeface="Readex Pro"/>
        </a:defRPr>
      </a:pPr>
      <a:endParaRPr lang="ar-EG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482" name="Google Shape;482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496" name="Google Shape;496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524" name="Google Shape;524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أربعة أنواع من الأخطاء تظهر في اقتباسات النماذج اللغوية.</a:t>
            </a:r>
          </a:p>
        </p:txBody>
      </p:sp>
      <p:sp>
        <p:nvSpPr>
          <p:cNvPr id="534" name="Google Shape;534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53" name="Google Shape;553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الهدف: نظام يحكم بالمصدر، ولا يخمّن، ويحيل الشك إلى إنسان.</a:t>
            </a:r>
          </a:p>
        </p:txBody>
      </p:sp>
      <p:sp>
        <p:nvSpPr>
          <p:cNvPr id="554" name="Google Shape;554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حارس التأسيس: كل تصحيح يجب أن يكون جزءًا حرفيًّا من السجل المستشهد به.</a:t>
            </a:r>
          </a:p>
        </p:txBody>
      </p:sp>
      <p:sp>
        <p:nvSpPr>
          <p:cNvPr id="707" name="Google Shape;707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56" name="Google Shape;856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المعالجة كلها قواعد صريحة تعمل داخل المتصفح عبر Pyodide.</a:t>
            </a:r>
          </a:p>
        </p:txBody>
      </p:sp>
      <p:sp>
        <p:nvSpPr>
          <p:cNvPr id="815" name="Google Shape;815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7" name="Google Shape;567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568" name="Google Shape;568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30" name="Google Shape;830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40" name="Google Shape;840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الأرقام من evaluate.py واختبار الإجهاد؛ العيّنة ضُبطت عليها العتبات.</a:t>
            </a:r>
          </a:p>
        </p:txBody>
      </p:sp>
      <p:sp>
        <p:nvSpPr>
          <p:cNvPr id="599" name="Google Shape;59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35" name="Google Shape;635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fa608e308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38" name="Google Shape;738;g3fa608e3085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739" name="Google Shape;739;g3fa608e3085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23" name="Google Shape;623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24" name="Google Shape;624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48" name="Google Shape;648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89" name="Google Shape;789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790" name="Google Shape;790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879" name="Google Shape;879;p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726" name="Google Shape;726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684" name="Google Shape;684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912" name="Google Shape;912;p3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غلاف المشروع">
  <p:cSld name="غلاف المشروع">
    <p:bg>
      <p:bgPr>
        <a:solidFill>
          <a:srgbClr val="12183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>
            <a:spLocks noGrp="1"/>
          </p:cNvSpPr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" name="Google Shape;17;p34"/>
          <p:cNvSpPr txBox="1">
            <a:spLocks noGrp="1"/>
          </p:cNvSpPr>
          <p:nvPr>
            <p:ph type="body" idx="1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" name="Google Shape;18;p34"/>
          <p:cNvSpPr txBox="1">
            <a:spLocks noGrp="1"/>
          </p:cNvSpPr>
          <p:nvPr>
            <p:ph type="body" idx="2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3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حتويات العرض">
  <p:cSld name="محتويات العرض">
    <p:bg>
      <p:bgPr>
        <a:solidFill>
          <a:srgbClr val="12183F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>
            <a:spLocks noGrp="1"/>
          </p:cNvSpPr>
          <p:nvPr>
            <p:ph type="body" idx="2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" name="Google Shape;28;p35"/>
          <p:cNvSpPr txBox="1">
            <a:spLocks noGrp="1"/>
          </p:cNvSpPr>
          <p:nvPr>
            <p:ph type="body" idx="3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" name="Google Shape;29;p35"/>
          <p:cNvSpPr txBox="1">
            <a:spLocks noGrp="1"/>
          </p:cNvSpPr>
          <p:nvPr>
            <p:ph type="body" idx="4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0" name="Google Shape;30;p35"/>
          <p:cNvSpPr txBox="1">
            <a:spLocks noGrp="1"/>
          </p:cNvSpPr>
          <p:nvPr>
            <p:ph type="body" idx="5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1" name="Google Shape;31;p35"/>
          <p:cNvSpPr txBox="1">
            <a:spLocks noGrp="1"/>
          </p:cNvSpPr>
          <p:nvPr>
            <p:ph type="body" idx="6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2" name="Google Shape;32;p35"/>
          <p:cNvSpPr txBox="1">
            <a:spLocks noGrp="1"/>
          </p:cNvSpPr>
          <p:nvPr>
            <p:ph type="body" idx="7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3" name="Google Shape;33;p35"/>
          <p:cNvSpPr txBox="1">
            <a:spLocks noGrp="1"/>
          </p:cNvSpPr>
          <p:nvPr>
            <p:ph type="body" idx="8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4" name="Google Shape;34;p35"/>
          <p:cNvSpPr txBox="1">
            <a:spLocks noGrp="1"/>
          </p:cNvSpPr>
          <p:nvPr>
            <p:ph type="body" idx="9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5" name="Google Shape;35;p35"/>
          <p:cNvSpPr txBox="1">
            <a:spLocks noGrp="1"/>
          </p:cNvSpPr>
          <p:nvPr>
            <p:ph type="body" idx="13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6" name="Google Shape;36;p35"/>
          <p:cNvSpPr txBox="1">
            <a:spLocks noGrp="1"/>
          </p:cNvSpPr>
          <p:nvPr>
            <p:ph type="body" idx="14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7" name="Google Shape;37;p35"/>
          <p:cNvSpPr txBox="1">
            <a:spLocks noGrp="1"/>
          </p:cNvSpPr>
          <p:nvPr>
            <p:ph type="body" idx="15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8" name="Google Shape;38;p35"/>
          <p:cNvSpPr txBox="1">
            <a:spLocks noGrp="1"/>
          </p:cNvSpPr>
          <p:nvPr>
            <p:ph type="body" idx="16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9" name="Google Shape;39;p35"/>
          <p:cNvSpPr txBox="1">
            <a:spLocks noGrp="1"/>
          </p:cNvSpPr>
          <p:nvPr>
            <p:ph type="body" idx="17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0" name="Google Shape;40;p35"/>
          <p:cNvSpPr txBox="1">
            <a:spLocks noGrp="1"/>
          </p:cNvSpPr>
          <p:nvPr>
            <p:ph type="body" idx="18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1" name="Google Shape;41;p35"/>
          <p:cNvSpPr txBox="1">
            <a:spLocks noGrp="1"/>
          </p:cNvSpPr>
          <p:nvPr>
            <p:ph type="body" idx="19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2" name="Google Shape;42;p35"/>
          <p:cNvSpPr txBox="1">
            <a:spLocks noGrp="1"/>
          </p:cNvSpPr>
          <p:nvPr>
            <p:ph type="body" idx="20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3" name="Google Shape;43;p35"/>
          <p:cNvSpPr txBox="1">
            <a:spLocks noGrp="1"/>
          </p:cNvSpPr>
          <p:nvPr>
            <p:ph type="body" idx="21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4" name="Google Shape;44;p35"/>
          <p:cNvSpPr txBox="1">
            <a:spLocks noGrp="1"/>
          </p:cNvSpPr>
          <p:nvPr>
            <p:ph type="body" idx="22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اصل قسم">
  <p:cSld name="فاصل قسم">
    <p:bg>
      <p:bgPr>
        <a:solidFill>
          <a:srgbClr val="12183F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>
            <a:spLocks noGrp="1"/>
          </p:cNvSpPr>
          <p:nvPr>
            <p:ph type="body" idx="1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49" name="Google Shape;49;p36"/>
          <p:cNvSpPr txBox="1">
            <a:spLocks noGrp="1"/>
          </p:cNvSpPr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0" name="Google Shape;50;p36"/>
          <p:cNvSpPr txBox="1">
            <a:spLocks noGrp="1"/>
          </p:cNvSpPr>
          <p:nvPr>
            <p:ph type="body" idx="2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أربع نقاط">
  <p:cSld name="أربع نقاط">
    <p:bg>
      <p:bgPr>
        <a:solidFill>
          <a:srgbClr val="12183F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5" name="Google Shape;55;p37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6" name="Google Shape;56;p37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>
            <a:spLocks noGrp="1"/>
          </p:cNvSpPr>
          <p:nvPr>
            <p:ph type="body" idx="3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0" name="Google Shape;60;p37"/>
          <p:cNvSpPr txBox="1">
            <a:spLocks noGrp="1"/>
          </p:cNvSpPr>
          <p:nvPr>
            <p:ph type="body" idx="4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1" name="Google Shape;61;p37"/>
          <p:cNvSpPr txBox="1">
            <a:spLocks noGrp="1"/>
          </p:cNvSpPr>
          <p:nvPr>
            <p:ph type="body" idx="5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2" name="Google Shape;62;p37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3" name="Google Shape;63;p37"/>
          <p:cNvSpPr txBox="1">
            <a:spLocks noGrp="1"/>
          </p:cNvSpPr>
          <p:nvPr>
            <p:ph type="body" idx="7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4" name="Google Shape;64;p37"/>
          <p:cNvSpPr txBox="1">
            <a:spLocks noGrp="1"/>
          </p:cNvSpPr>
          <p:nvPr>
            <p:ph type="body" idx="8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5" name="Google Shape;65;p37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66" name="Google Shape;66;p37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نص رئيسي">
  <p:cSld name="نص رئيسي">
    <p:bg>
      <p:bgPr>
        <a:solidFill>
          <a:srgbClr val="12183F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1" name="Google Shape;71;p38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>
            <a:spLocks noGrp="1"/>
          </p:cNvSpPr>
          <p:nvPr>
            <p:ph type="body" idx="2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5" name="Google Shape;75;p38"/>
          <p:cNvSpPr txBox="1">
            <a:spLocks noGrp="1"/>
          </p:cNvSpPr>
          <p:nvPr>
            <p:ph type="body" idx="3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76" name="Google Shape;76;p38"/>
          <p:cNvSpPr txBox="1">
            <a:spLocks noGrp="1"/>
          </p:cNvSpPr>
          <p:nvPr>
            <p:ph type="body" idx="4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نص وصورة عريضة">
  <p:cSld name="نص وصورة عريضة">
    <p:bg>
      <p:bgPr>
        <a:solidFill>
          <a:srgbClr val="12183F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1" name="Google Shape;81;p39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>
            <a:spLocks noGrp="1"/>
          </p:cNvSpPr>
          <p:nvPr>
            <p:ph type="pic" idx="2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p39"/>
          <p:cNvSpPr txBox="1">
            <a:spLocks noGrp="1"/>
          </p:cNvSpPr>
          <p:nvPr>
            <p:ph type="body" idx="3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6" name="Google Shape;86;p39"/>
          <p:cNvSpPr txBox="1">
            <a:spLocks noGrp="1"/>
          </p:cNvSpPr>
          <p:nvPr>
            <p:ph type="body" idx="4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7" name="Google Shape;87;p39"/>
          <p:cNvSpPr txBox="1">
            <a:spLocks noGrp="1"/>
          </p:cNvSpPr>
          <p:nvPr>
            <p:ph type="body" idx="5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88" name="Google Shape;88;p39"/>
          <p:cNvSpPr txBox="1">
            <a:spLocks noGrp="1"/>
          </p:cNvSpPr>
          <p:nvPr>
            <p:ph type="body" idx="6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نص وصورة مربعة">
  <p:cSld name="نص وصورة مربعة">
    <p:bg>
      <p:bgPr>
        <a:solidFill>
          <a:srgbClr val="12183F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3" name="Google Shape;93;p40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>
            <a:spLocks noGrp="1"/>
          </p:cNvSpPr>
          <p:nvPr>
            <p:ph type="pic" idx="2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40"/>
          <p:cNvSpPr txBox="1">
            <a:spLocks noGrp="1"/>
          </p:cNvSpPr>
          <p:nvPr>
            <p:ph type="body" idx="3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8" name="Google Shape;98;p40"/>
          <p:cNvSpPr txBox="1">
            <a:spLocks noGrp="1"/>
          </p:cNvSpPr>
          <p:nvPr>
            <p:ph type="body" idx="4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99" name="Google Shape;99;p40"/>
          <p:cNvSpPr txBox="1">
            <a:spLocks noGrp="1"/>
          </p:cNvSpPr>
          <p:nvPr>
            <p:ph type="body" idx="5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ؤشرات">
  <p:cSld name="مؤشرات">
    <p:bg>
      <p:bgPr>
        <a:solidFill>
          <a:srgbClr val="12183F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4" name="Google Shape;104;p41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5" name="Google Shape;105;p41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>
            <a:spLocks noGrp="1"/>
          </p:cNvSpPr>
          <p:nvPr>
            <p:ph type="body" idx="3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4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5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6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2" name="Google Shape;112;p41"/>
          <p:cNvSpPr txBox="1">
            <a:spLocks noGrp="1"/>
          </p:cNvSpPr>
          <p:nvPr>
            <p:ph type="body" idx="7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3" name="Google Shape;113;p41"/>
          <p:cNvSpPr txBox="1">
            <a:spLocks noGrp="1"/>
          </p:cNvSpPr>
          <p:nvPr>
            <p:ph type="body" idx="8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4" name="Google Shape;114;p41"/>
          <p:cNvSpPr txBox="1">
            <a:spLocks noGrp="1"/>
          </p:cNvSpPr>
          <p:nvPr>
            <p:ph type="body" idx="9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5" name="Google Shape;115;p41"/>
          <p:cNvSpPr txBox="1">
            <a:spLocks noGrp="1"/>
          </p:cNvSpPr>
          <p:nvPr>
            <p:ph type="body" idx="13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6" name="Google Shape;116;p41"/>
          <p:cNvSpPr txBox="1">
            <a:spLocks noGrp="1"/>
          </p:cNvSpPr>
          <p:nvPr>
            <p:ph type="body" idx="14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7" name="Google Shape;117;p41"/>
          <p:cNvSpPr txBox="1">
            <a:spLocks noGrp="1"/>
          </p:cNvSpPr>
          <p:nvPr>
            <p:ph type="body" idx="15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8" name="Google Shape;118;p41"/>
          <p:cNvSpPr txBox="1">
            <a:spLocks noGrp="1"/>
          </p:cNvSpPr>
          <p:nvPr>
            <p:ph type="body" idx="16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19" name="Google Shape;119;p41"/>
          <p:cNvSpPr txBox="1">
            <a:spLocks noGrp="1"/>
          </p:cNvSpPr>
          <p:nvPr>
            <p:ph type="body" idx="17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20" name="Google Shape;120;p41"/>
          <p:cNvSpPr txBox="1">
            <a:spLocks noGrp="1"/>
          </p:cNvSpPr>
          <p:nvPr>
            <p:ph type="body" idx="18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رسالة رئيسية">
  <p:cSld name="رسالة رئيسية">
    <p:bg>
      <p:bgPr>
        <a:solidFill>
          <a:srgbClr val="F2F4FF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>
            <a:spLocks noGrp="1"/>
          </p:cNvSpPr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27" name="Google Shape;127;p42"/>
          <p:cNvSpPr txBox="1">
            <a:spLocks noGrp="1"/>
          </p:cNvSpPr>
          <p:nvPr>
            <p:ph type="body" idx="1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28" name="Google Shape;128;p42"/>
          <p:cNvSpPr txBox="1">
            <a:spLocks noGrp="1"/>
          </p:cNvSpPr>
          <p:nvPr>
            <p:ph type="body" idx="2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جدول داكن">
  <p:cSld name="جدول داكن">
    <p:bg>
      <p:bgPr>
        <a:solidFill>
          <a:srgbClr val="12183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>
            <a:spLocks noGrp="1"/>
          </p:cNvSpPr>
          <p:nvPr>
            <p:ph type="body" idx="3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38" name="Google Shape;138;p43"/>
          <p:cNvSpPr>
            <a:spLocks noGrp="1"/>
          </p:cNvSpPr>
          <p:nvPr>
            <p:ph type="tbl" idx="4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خط زمني">
  <p:cSld name="خط زمني">
    <p:bg>
      <p:bgPr>
        <a:solidFill>
          <a:srgbClr val="12183F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w="11425" cap="flat" cmpd="sng">
            <a:solidFill>
              <a:srgbClr val="6150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48" name="Google Shape;148;p44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49" name="Google Shape;149;p44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3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4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5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6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body" idx="7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7" name="Google Shape;157;p44"/>
          <p:cNvSpPr txBox="1">
            <a:spLocks noGrp="1"/>
          </p:cNvSpPr>
          <p:nvPr>
            <p:ph type="body" idx="8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8" name="Google Shape;158;p44"/>
          <p:cNvSpPr txBox="1">
            <a:spLocks noGrp="1"/>
          </p:cNvSpPr>
          <p:nvPr>
            <p:ph type="body" idx="9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59" name="Google Shape;159;p44"/>
          <p:cNvSpPr txBox="1">
            <a:spLocks noGrp="1"/>
          </p:cNvSpPr>
          <p:nvPr>
            <p:ph type="body" idx="13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0" name="Google Shape;160;p44"/>
          <p:cNvSpPr txBox="1">
            <a:spLocks noGrp="1"/>
          </p:cNvSpPr>
          <p:nvPr>
            <p:ph type="body" idx="14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1" name="Google Shape;161;p44"/>
          <p:cNvSpPr txBox="1">
            <a:spLocks noGrp="1"/>
          </p:cNvSpPr>
          <p:nvPr>
            <p:ph type="body" idx="15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2" name="Google Shape;162;p44"/>
          <p:cNvSpPr txBox="1">
            <a:spLocks noGrp="1"/>
          </p:cNvSpPr>
          <p:nvPr>
            <p:ph type="body" idx="16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3" name="Google Shape;163;p44"/>
          <p:cNvSpPr txBox="1">
            <a:spLocks noGrp="1"/>
          </p:cNvSpPr>
          <p:nvPr>
            <p:ph type="body" idx="17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4" name="Google Shape;164;p44"/>
          <p:cNvSpPr txBox="1">
            <a:spLocks noGrp="1"/>
          </p:cNvSpPr>
          <p:nvPr>
            <p:ph type="body" idx="18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5" name="Google Shape;165;p44"/>
          <p:cNvSpPr txBox="1">
            <a:spLocks noGrp="1"/>
          </p:cNvSpPr>
          <p:nvPr>
            <p:ph type="body" idx="19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6" name="Google Shape;166;p44"/>
          <p:cNvSpPr txBox="1">
            <a:spLocks noGrp="1"/>
          </p:cNvSpPr>
          <p:nvPr>
            <p:ph type="body" idx="20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7" name="Google Shape;167;p44"/>
          <p:cNvSpPr txBox="1">
            <a:spLocks noGrp="1"/>
          </p:cNvSpPr>
          <p:nvPr>
            <p:ph type="body" idx="21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8" name="Google Shape;168;p44"/>
          <p:cNvSpPr txBox="1">
            <a:spLocks noGrp="1"/>
          </p:cNvSpPr>
          <p:nvPr>
            <p:ph type="body" idx="22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69" name="Google Shape;169;p44"/>
          <p:cNvSpPr txBox="1">
            <a:spLocks noGrp="1"/>
          </p:cNvSpPr>
          <p:nvPr>
            <p:ph type="body" idx="23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0" name="Google Shape;170;p44"/>
          <p:cNvSpPr txBox="1">
            <a:spLocks noGrp="1"/>
          </p:cNvSpPr>
          <p:nvPr>
            <p:ph type="body" idx="24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1" name="Google Shape;171;p44"/>
          <p:cNvSpPr txBox="1">
            <a:spLocks noGrp="1"/>
          </p:cNvSpPr>
          <p:nvPr>
            <p:ph type="body" idx="25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ريق العمل">
  <p:cSld name="فريق العمل">
    <p:bg>
      <p:bgPr>
        <a:solidFill>
          <a:srgbClr val="12183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6" name="Google Shape;176;p45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7" name="Google Shape;177;p45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>
            <a:spLocks noGrp="1"/>
          </p:cNvSpPr>
          <p:nvPr>
            <p:ph type="pic" idx="3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45"/>
          <p:cNvSpPr txBox="1">
            <a:spLocks noGrp="1"/>
          </p:cNvSpPr>
          <p:nvPr>
            <p:ph type="body" idx="4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2" name="Google Shape;182;p45"/>
          <p:cNvSpPr txBox="1">
            <a:spLocks noGrp="1"/>
          </p:cNvSpPr>
          <p:nvPr>
            <p:ph type="body" idx="5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3" name="Google Shape;183;p45"/>
          <p:cNvSpPr>
            <a:spLocks noGrp="1"/>
          </p:cNvSpPr>
          <p:nvPr>
            <p:ph type="pic" idx="6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p45"/>
          <p:cNvSpPr txBox="1">
            <a:spLocks noGrp="1"/>
          </p:cNvSpPr>
          <p:nvPr>
            <p:ph type="body" idx="7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5" name="Google Shape;185;p45"/>
          <p:cNvSpPr txBox="1">
            <a:spLocks noGrp="1"/>
          </p:cNvSpPr>
          <p:nvPr>
            <p:ph type="body" idx="8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6" name="Google Shape;186;p45"/>
          <p:cNvSpPr>
            <a:spLocks noGrp="1"/>
          </p:cNvSpPr>
          <p:nvPr>
            <p:ph type="pic" idx="9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p45"/>
          <p:cNvSpPr txBox="1">
            <a:spLocks noGrp="1"/>
          </p:cNvSpPr>
          <p:nvPr>
            <p:ph type="body" idx="13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8" name="Google Shape;188;p45"/>
          <p:cNvSpPr txBox="1">
            <a:spLocks noGrp="1"/>
          </p:cNvSpPr>
          <p:nvPr>
            <p:ph type="body" idx="14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89" name="Google Shape;189;p45"/>
          <p:cNvSpPr>
            <a:spLocks noGrp="1"/>
          </p:cNvSpPr>
          <p:nvPr>
            <p:ph type="pic" idx="15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0" name="Google Shape;190;p45"/>
          <p:cNvSpPr txBox="1">
            <a:spLocks noGrp="1"/>
          </p:cNvSpPr>
          <p:nvPr>
            <p:ph type="body" idx="16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1" name="Google Shape;191;p45"/>
          <p:cNvSpPr txBox="1">
            <a:spLocks noGrp="1"/>
          </p:cNvSpPr>
          <p:nvPr>
            <p:ph type="body" idx="17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أربع نقاط فاتحة">
  <p:cSld name="أربع نقاط فاتحة">
    <p:bg>
      <p:bgPr>
        <a:solidFill>
          <a:srgbClr val="F2F4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6" name="Google Shape;196;p46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7" name="Google Shape;197;p46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>
            <a:spLocks noGrp="1"/>
          </p:cNvSpPr>
          <p:nvPr>
            <p:ph type="body" idx="3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1" name="Google Shape;201;p46"/>
          <p:cNvSpPr txBox="1">
            <a:spLocks noGrp="1"/>
          </p:cNvSpPr>
          <p:nvPr>
            <p:ph type="body" idx="4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2" name="Google Shape;202;p46"/>
          <p:cNvSpPr txBox="1">
            <a:spLocks noGrp="1"/>
          </p:cNvSpPr>
          <p:nvPr>
            <p:ph type="body" idx="5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3" name="Google Shape;203;p46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4" name="Google Shape;204;p46"/>
          <p:cNvSpPr txBox="1">
            <a:spLocks noGrp="1"/>
          </p:cNvSpPr>
          <p:nvPr>
            <p:ph type="body" idx="7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5" name="Google Shape;205;p46"/>
          <p:cNvSpPr txBox="1">
            <a:spLocks noGrp="1"/>
          </p:cNvSpPr>
          <p:nvPr>
            <p:ph type="body" idx="8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6" name="Google Shape;206;p46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07" name="Google Shape;207;p46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جدول فاتح">
  <p:cSld name="جدول فاتح">
    <p:bg>
      <p:bgPr>
        <a:solidFill>
          <a:srgbClr val="F2F4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2" name="Google Shape;212;p47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3" name="Google Shape;213;p47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>
            <a:spLocks noGrp="1"/>
          </p:cNvSpPr>
          <p:nvPr>
            <p:ph type="body" idx="3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17" name="Google Shape;217;p47"/>
          <p:cNvSpPr>
            <a:spLocks noGrp="1"/>
          </p:cNvSpPr>
          <p:nvPr>
            <p:ph type="tbl" idx="4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قارنة بالأعمدة">
  <p:cSld name="مقارنة بالأعمدة">
    <p:bg>
      <p:bgPr>
        <a:solidFill>
          <a:srgbClr val="12183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2" name="Google Shape;222;p48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3" name="Google Shape;223;p48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>
            <a:spLocks noGrp="1"/>
          </p:cNvSpPr>
          <p:nvPr>
            <p:ph type="body" idx="3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27" name="Google Shape;227;p48"/>
          <p:cNvSpPr>
            <a:spLocks noGrp="1"/>
          </p:cNvSpPr>
          <p:nvPr>
            <p:ph type="chart" idx="4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توزيع نسبي">
  <p:cSld name="توزيع نسبي">
    <p:bg>
      <p:bgPr>
        <a:solidFill>
          <a:srgbClr val="12183F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2" name="Google Shape;232;p49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3" name="Google Shape;233;p49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>
            <a:spLocks noGrp="1"/>
          </p:cNvSpPr>
          <p:nvPr>
            <p:ph type="body" idx="3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37" name="Google Shape;237;p49"/>
          <p:cNvSpPr>
            <a:spLocks noGrp="1"/>
          </p:cNvSpPr>
          <p:nvPr>
            <p:ph type="chart" idx="4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0" tIns="45700" rIns="254000" bIns="45700" anchor="ctr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آلية العمل">
  <p:cSld name="آلية العمل">
    <p:bg>
      <p:bgPr>
        <a:solidFill>
          <a:srgbClr val="12183F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2" name="Google Shape;242;p50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3" name="Google Shape;243;p50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>
            <a:spLocks noGrp="1"/>
          </p:cNvSpPr>
          <p:nvPr>
            <p:ph type="body" idx="3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7" name="Google Shape;247;p50"/>
          <p:cNvSpPr txBox="1">
            <a:spLocks noGrp="1"/>
          </p:cNvSpPr>
          <p:nvPr>
            <p:ph type="body" idx="4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8" name="Google Shape;248;p50"/>
          <p:cNvSpPr txBox="1">
            <a:spLocks noGrp="1"/>
          </p:cNvSpPr>
          <p:nvPr>
            <p:ph type="body" idx="5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49" name="Google Shape;249;p50"/>
          <p:cNvSpPr txBox="1">
            <a:spLocks noGrp="1"/>
          </p:cNvSpPr>
          <p:nvPr>
            <p:ph type="body" idx="6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323D6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66700" tIns="238125" rIns="266700" bIns="238125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صورة كبيرة">
  <p:cSld name="صورة كبيرة">
    <p:bg>
      <p:bgPr>
        <a:solidFill>
          <a:srgbClr val="12183F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>
            <a:spLocks noGrp="1"/>
          </p:cNvSpPr>
          <p:nvPr>
            <p:ph type="pic" idx="2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51"/>
          <p:cNvSpPr txBox="1">
            <a:spLocks noGrp="1"/>
          </p:cNvSpPr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56" name="Google Shape;256;p51"/>
          <p:cNvSpPr txBox="1">
            <a:spLocks noGrp="1"/>
          </p:cNvSpPr>
          <p:nvPr>
            <p:ph type="body" idx="1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عرض الصور">
  <p:cSld name="معرض الصور">
    <p:bg>
      <p:bgPr>
        <a:solidFill>
          <a:srgbClr val="12183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1" name="Google Shape;261;p52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>
            <a:spLocks noGrp="1"/>
          </p:cNvSpPr>
          <p:nvPr>
            <p:ph type="pic" idx="2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5" name="Google Shape;265;p52"/>
          <p:cNvSpPr txBox="1">
            <a:spLocks noGrp="1"/>
          </p:cNvSpPr>
          <p:nvPr>
            <p:ph type="body" idx="3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6" name="Google Shape;266;p52"/>
          <p:cNvSpPr>
            <a:spLocks noGrp="1"/>
          </p:cNvSpPr>
          <p:nvPr>
            <p:ph type="pic" idx="4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52"/>
          <p:cNvSpPr txBox="1">
            <a:spLocks noGrp="1"/>
          </p:cNvSpPr>
          <p:nvPr>
            <p:ph type="body" idx="5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68" name="Google Shape;268;p52"/>
          <p:cNvSpPr>
            <a:spLocks noGrp="1"/>
          </p:cNvSpPr>
          <p:nvPr>
            <p:ph type="pic" idx="6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w="11425" cap="flat" cmpd="sng">
            <a:solidFill>
              <a:srgbClr val="4A559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9" name="Google Shape;269;p52"/>
          <p:cNvSpPr txBox="1">
            <a:spLocks noGrp="1"/>
          </p:cNvSpPr>
          <p:nvPr>
            <p:ph type="body" idx="7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أيقونات الهوية">
  <p:cSld name="أيقونات الهوية">
    <p:bg>
      <p:bgPr>
        <a:solidFill>
          <a:srgbClr val="12183F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4" name="Google Shape;274;p53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5" name="Google Shape;275;p53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>
            <a:spLocks noGrp="1"/>
          </p:cNvSpPr>
          <p:nvPr>
            <p:ph type="body" idx="3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79" name="Google Shape;279;p53"/>
          <p:cNvSpPr txBox="1">
            <a:spLocks noGrp="1"/>
          </p:cNvSpPr>
          <p:nvPr>
            <p:ph type="body" idx="4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0" name="Google Shape;280;p53"/>
          <p:cNvSpPr txBox="1">
            <a:spLocks noGrp="1"/>
          </p:cNvSpPr>
          <p:nvPr>
            <p:ph type="body" idx="5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1" name="Google Shape;281;p53"/>
          <p:cNvSpPr txBox="1">
            <a:spLocks noGrp="1"/>
          </p:cNvSpPr>
          <p:nvPr>
            <p:ph type="body" idx="6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2" name="Google Shape;282;p53"/>
          <p:cNvSpPr txBox="1">
            <a:spLocks noGrp="1"/>
          </p:cNvSpPr>
          <p:nvPr>
            <p:ph type="body" idx="7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3" name="Google Shape;283;p53"/>
          <p:cNvSpPr txBox="1">
            <a:spLocks noGrp="1"/>
          </p:cNvSpPr>
          <p:nvPr>
            <p:ph type="body" idx="8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4" name="Google Shape;284;p53"/>
          <p:cNvSpPr txBox="1">
            <a:spLocks noGrp="1"/>
          </p:cNvSpPr>
          <p:nvPr>
            <p:ph type="body" idx="9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85" name="Google Shape;285;p53"/>
          <p:cNvSpPr txBox="1">
            <a:spLocks noGrp="1"/>
          </p:cNvSpPr>
          <p:nvPr>
            <p:ph type="body" idx="13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مقارنة خيارين">
  <p:cSld name="مقارنة خيارين">
    <p:bg>
      <p:bgPr>
        <a:solidFill>
          <a:srgbClr val="12183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>
            <a:spLocks noGrp="1"/>
          </p:cNvSpPr>
          <p:nvPr>
            <p:ph type="body" idx="1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1" name="Google Shape;291;p54"/>
          <p:cNvSpPr txBox="1">
            <a:spLocks noGrp="1"/>
          </p:cNvSpPr>
          <p:nvPr>
            <p:ph type="body" idx="2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>
            <a:spLocks noGrp="1"/>
          </p:cNvSpPr>
          <p:nvPr>
            <p:ph type="body" idx="3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5" name="Google Shape;295;p54"/>
          <p:cNvSpPr txBox="1">
            <a:spLocks noGrp="1"/>
          </p:cNvSpPr>
          <p:nvPr>
            <p:ph type="body" idx="4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6" name="Google Shape;296;p54"/>
          <p:cNvSpPr txBox="1">
            <a:spLocks noGrp="1"/>
          </p:cNvSpPr>
          <p:nvPr>
            <p:ph type="body" idx="5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7" name="Google Shape;297;p54"/>
          <p:cNvSpPr txBox="1">
            <a:spLocks noGrp="1"/>
          </p:cNvSpPr>
          <p:nvPr>
            <p:ph type="body" idx="6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8" name="Google Shape;298;p54"/>
          <p:cNvSpPr txBox="1">
            <a:spLocks noGrp="1"/>
          </p:cNvSpPr>
          <p:nvPr>
            <p:ph type="body" idx="7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299" name="Google Shape;299;p54"/>
          <p:cNvSpPr txBox="1">
            <a:spLocks noGrp="1"/>
          </p:cNvSpPr>
          <p:nvPr>
            <p:ph type="body" idx="8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ارغة داكنة">
  <p:cSld name="فارغة داكنة">
    <p:bg>
      <p:bgPr>
        <a:solidFill>
          <a:srgbClr val="12183F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فارغة فاتحة">
  <p:cSld name="فارغة فاتحة">
    <p:bg>
      <p:bgPr>
        <a:solidFill>
          <a:srgbClr val="F2F4FF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ختام العرض">
  <p:cSld name="ختام العرض">
    <p:bg>
      <p:bgPr>
        <a:solidFill>
          <a:srgbClr val="12183F"/>
        </a:solid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l="4300" t="16000" r="69700" b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>
            <a:spLocks noGrp="1"/>
          </p:cNvSpPr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R="0" lvl="1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16" name="Google Shape;316;p57"/>
          <p:cNvSpPr txBox="1">
            <a:spLocks noGrp="1"/>
          </p:cNvSpPr>
          <p:nvPr>
            <p:ph type="body" idx="1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  <p:sp>
        <p:nvSpPr>
          <p:cNvPr id="317" name="Google Shape;317;p57"/>
          <p:cNvSpPr txBox="1">
            <a:spLocks noGrp="1"/>
          </p:cNvSpPr>
          <p:nvPr>
            <p:ph type="body" idx="2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marL="914400" marR="0" lvl="1" indent="-22860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5" Type="http://schemas.openxmlformats.org/officeDocument/2006/relationships/chart" Target="../charts/chart2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4.png"/><Relationship Id="rId5" Type="http://schemas.openxmlformats.org/officeDocument/2006/relationships/image" Target="../media/image3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>
            <a:spLocks noGrp="1"/>
          </p:cNvSpPr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lang="ar-SA" sz="64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Amanah AI</a:t>
            </a:r>
            <a:endParaRPr/>
          </a:p>
        </p:txBody>
      </p:sp>
      <p:sp>
        <p:nvSpPr>
          <p:cNvPr id="487" name="Google Shape;487;p8"/>
          <p:cNvSpPr txBox="1">
            <a:spLocks noGrp="1"/>
          </p:cNvSpPr>
          <p:nvPr>
            <p:ph type="body" idx="1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ar-SA" sz="3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يتحقق من الآيات والأحاديث في أي نص،</a:t>
            </a:r>
            <a:endParaRPr lang="ar-EG" sz="3300" b="0" dirty="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ar-SA" sz="3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 ويصحّحها من المصدر أو يحيلها للمراجعة البشرية</a:t>
            </a:r>
            <a:endParaRPr dirty="0"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0" marR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Amanah AI</a:t>
            </a:r>
            <a:endParaRPr sz="1950" i="0" u="none" strike="noStrike" cap="non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0" marR="0" lvl="0" indent="0" algn="l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sz="1950" i="0" u="none" strike="noStrike" cap="non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3" name="شعار Amanah AI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000" y="3286125"/>
            <a:ext cx="1619250" cy="1619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7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Amanah AI</a:t>
            </a:r>
            <a:endParaRPr/>
          </a:p>
        </p:txBody>
      </p:sp>
      <p:sp>
        <p:nvSpPr>
          <p:cNvPr id="501" name="Google Shape;501;p9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 dirty="0"/>
          </a:p>
        </p:txBody>
      </p:sp>
      <p:sp>
        <p:nvSpPr>
          <p:cNvPr id="502" name="Google Shape;502;p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</a:t>
            </a:fld>
            <a:endParaRPr/>
          </a:p>
        </p:txBody>
      </p:sp>
      <p:sp>
        <p:nvSpPr>
          <p:cNvPr id="503" name="Google Shape;503;p9"/>
          <p:cNvSpPr txBox="1">
            <a:spLocks noGrp="1"/>
          </p:cNvSpPr>
          <p:nvPr>
            <p:ph type="body" idx="2"/>
          </p:nvPr>
        </p:nvSpPr>
        <p:spPr>
          <a:xfrm>
            <a:off x="12077700" y="3857625"/>
            <a:ext cx="4476900" cy="2002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 dirty="0"/>
          </a:p>
        </p:txBody>
      </p:sp>
      <p:sp>
        <p:nvSpPr>
          <p:cNvPr id="504" name="Google Shape;504;p9"/>
          <p:cNvSpPr txBox="1">
            <a:spLocks noGrp="1"/>
          </p:cNvSpPr>
          <p:nvPr>
            <p:ph type="body" idx="3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 dirty="0"/>
          </a:p>
        </p:txBody>
      </p:sp>
      <p:sp>
        <p:nvSpPr>
          <p:cNvPr id="505" name="Google Shape;505;p9"/>
          <p:cNvSpPr txBox="1">
            <a:spLocks noGrp="1"/>
          </p:cNvSpPr>
          <p:nvPr>
            <p:ph type="body" idx="4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هلوسة الاقتباسات الدينية</a:t>
            </a:r>
            <a:endParaRPr dirty="0"/>
          </a:p>
        </p:txBody>
      </p:sp>
      <p:sp>
        <p:nvSpPr>
          <p:cNvPr id="506" name="Google Shape;506;p9"/>
          <p:cNvSpPr txBox="1">
            <a:spLocks noGrp="1"/>
          </p:cNvSpPr>
          <p:nvPr>
            <p:ph type="body" idx="5"/>
          </p:nvPr>
        </p:nvSpPr>
        <p:spPr>
          <a:xfrm>
            <a:off x="6743700" y="3857624"/>
            <a:ext cx="4476900" cy="2002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 dirty="0"/>
          </a:p>
        </p:txBody>
      </p:sp>
      <p:sp>
        <p:nvSpPr>
          <p:cNvPr id="507" name="Google Shape;507;p9"/>
          <p:cNvSpPr txBox="1">
            <a:spLocks noGrp="1"/>
          </p:cNvSpPr>
          <p:nvPr>
            <p:ph type="body" idx="6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508" name="Google Shape;508;p9"/>
          <p:cNvSpPr txBox="1">
            <a:spLocks noGrp="1"/>
          </p:cNvSpPr>
          <p:nvPr>
            <p:ph type="body" idx="7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المصدر هو الحَكَم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>
            <a:spLocks noGrp="1"/>
          </p:cNvSpPr>
          <p:nvPr>
            <p:ph type="body" idx="8"/>
          </p:nvPr>
        </p:nvSpPr>
        <p:spPr>
          <a:xfrm>
            <a:off x="1409700" y="3857624"/>
            <a:ext cx="4476900" cy="2067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 dirty="0"/>
          </a:p>
        </p:txBody>
      </p:sp>
      <p:sp>
        <p:nvSpPr>
          <p:cNvPr id="510" name="Google Shape;510;p9"/>
          <p:cNvSpPr txBox="1">
            <a:spLocks noGrp="1"/>
          </p:cNvSpPr>
          <p:nvPr>
            <p:ph type="body" idx="9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511" name="Google Shape;511;p9"/>
          <p:cNvSpPr txBox="1">
            <a:spLocks noGrp="1"/>
          </p:cNvSpPr>
          <p:nvPr>
            <p:ph type="body" idx="13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من النص إلى القرار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>
            <a:spLocks noGrp="1"/>
          </p:cNvSpPr>
          <p:nvPr>
            <p:ph type="body" idx="14"/>
          </p:nvPr>
        </p:nvSpPr>
        <p:spPr>
          <a:xfrm>
            <a:off x="12077700" y="6524624"/>
            <a:ext cx="4476900" cy="195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 dirty="0"/>
          </a:p>
        </p:txBody>
      </p:sp>
      <p:sp>
        <p:nvSpPr>
          <p:cNvPr id="513" name="Google Shape;513;p9"/>
          <p:cNvSpPr txBox="1">
            <a:spLocks noGrp="1"/>
          </p:cNvSpPr>
          <p:nvPr>
            <p:ph type="body" idx="15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514" name="Google Shape;514;p9"/>
          <p:cNvSpPr txBox="1">
            <a:spLocks noGrp="1"/>
          </p:cNvSpPr>
          <p:nvPr>
            <p:ph type="body" idx="16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نتائج وتوثيق علمي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>
            <a:spLocks noGrp="1"/>
          </p:cNvSpPr>
          <p:nvPr>
            <p:ph type="body" idx="17"/>
          </p:nvPr>
        </p:nvSpPr>
        <p:spPr>
          <a:xfrm>
            <a:off x="6743700" y="6524625"/>
            <a:ext cx="4476900" cy="1952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 dirty="0"/>
          </a:p>
        </p:txBody>
      </p:sp>
      <p:sp>
        <p:nvSpPr>
          <p:cNvPr id="516" name="Google Shape;516;p9"/>
          <p:cNvSpPr txBox="1">
            <a:spLocks noGrp="1"/>
          </p:cNvSpPr>
          <p:nvPr>
            <p:ph type="body" idx="18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والتشغيل</a:t>
            </a:r>
            <a:endParaRPr/>
          </a:p>
        </p:txBody>
      </p:sp>
      <p:sp>
        <p:nvSpPr>
          <p:cNvPr id="517" name="Google Shape;517;p9"/>
          <p:cNvSpPr txBox="1">
            <a:spLocks noGrp="1"/>
          </p:cNvSpPr>
          <p:nvPr>
            <p:ph type="body" idx="19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تكلفة حالية صفرية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>
            <a:spLocks noGrp="1"/>
          </p:cNvSpPr>
          <p:nvPr>
            <p:ph type="body" idx="20"/>
          </p:nvPr>
        </p:nvSpPr>
        <p:spPr>
          <a:xfrm>
            <a:off x="1409700" y="6524625"/>
            <a:ext cx="4476900" cy="20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 dirty="0"/>
          </a:p>
        </p:txBody>
      </p:sp>
      <p:sp>
        <p:nvSpPr>
          <p:cNvPr id="519" name="Google Shape;519;p9"/>
          <p:cNvSpPr txBox="1">
            <a:spLocks noGrp="1"/>
          </p:cNvSpPr>
          <p:nvPr>
            <p:ph type="body" idx="21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 والدعم</a:t>
            </a:r>
            <a:endParaRPr/>
          </a:p>
        </p:txBody>
      </p:sp>
      <p:sp>
        <p:nvSpPr>
          <p:cNvPr id="520" name="Google Shape;520;p9"/>
          <p:cNvSpPr txBox="1">
            <a:spLocks noGrp="1"/>
          </p:cNvSpPr>
          <p:nvPr>
            <p:ph type="body" idx="22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الفريق وخطط التوسع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3855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50"/>
            <a:ext cx="70155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النماذج اللغوية تقتبس القرآن والحديث بطلاقة، وأحيانًا بخطأ لا يلاحظه القارئ.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/>
          </a:p>
        </p:txBody>
      </p:sp>
      <p:sp>
        <p:nvSpPr>
          <p:cNvPr id="538" name="Google Shape;538;p11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نحتاج التحقق من الاقتباسات؟</a:t>
            </a:r>
            <a:endParaRPr dirty="0"/>
          </a:p>
        </p:txBody>
      </p:sp>
      <p:sp>
        <p:nvSpPr>
          <p:cNvPr id="539" name="Google Shape;539;p11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المحتوى الديني الخطأ الواثق أسوأ من غياب الإجابة</a:t>
            </a:r>
            <a:endParaRPr dirty="0"/>
          </a:p>
        </p:txBody>
      </p:sp>
      <p:sp>
        <p:nvSpPr>
          <p:cNvPr id="540" name="Google Shape;540;p1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4</a:t>
            </a:fld>
            <a:endParaRPr/>
          </a:p>
        </p:txBody>
      </p:sp>
      <p:sp>
        <p:nvSpPr>
          <p:cNvPr id="541" name="Google Shape;541;p11"/>
          <p:cNvSpPr txBox="1">
            <a:spLocks noGrp="1"/>
          </p:cNvSpPr>
          <p:nvPr>
            <p:ph type="body" idx="3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كلمة مبدَّلة</a:t>
            </a:r>
            <a:endParaRPr/>
          </a:p>
        </p:txBody>
      </p:sp>
      <p:sp>
        <p:nvSpPr>
          <p:cNvPr id="542" name="Google Shape;542;p11"/>
          <p:cNvSpPr txBox="1">
            <a:spLocks noGrp="1"/>
          </p:cNvSpPr>
          <p:nvPr>
            <p:ph type="body" idx="4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تتغير الآية بكلمة واحدة، مثل «ثم استقم» بدل «فاستقم».</a:t>
            </a:r>
            <a:endParaRPr dirty="0"/>
          </a:p>
        </p:txBody>
      </p:sp>
      <p:sp>
        <p:nvSpPr>
          <p:cNvPr id="543" name="Google Shape;543;p11"/>
          <p:cNvSpPr txBox="1">
            <a:spLocks noGrp="1"/>
          </p:cNvSpPr>
          <p:nvPr>
            <p:ph type="body" idx="5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دمج وتلفيق</a:t>
            </a:r>
            <a:endParaRPr/>
          </a:p>
        </p:txBody>
      </p:sp>
      <p:sp>
        <p:nvSpPr>
          <p:cNvPr id="544" name="Google Shape;544;p11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آيتان أو حديثان يُدمجان في نص واحد يبدو سليمًا.</a:t>
            </a:r>
            <a:endParaRPr/>
          </a:p>
        </p:txBody>
      </p:sp>
      <p:sp>
        <p:nvSpPr>
          <p:cNvPr id="545" name="Google Shape;545;p11"/>
          <p:cNvSpPr txBox="1">
            <a:spLocks noGrp="1"/>
          </p:cNvSpPr>
          <p:nvPr>
            <p:ph type="body" idx="7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حديث مختلق</a:t>
            </a:r>
            <a:endParaRPr/>
          </a:p>
        </p:txBody>
      </p:sp>
      <p:sp>
        <p:nvSpPr>
          <p:cNvPr id="546" name="Google Shape;546;p11"/>
          <p:cNvSpPr txBox="1">
            <a:spLocks noGrp="1"/>
          </p:cNvSpPr>
          <p:nvPr>
            <p:ph type="body" idx="8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منسوب للنبي ﷺ لا أصل له في الكتب الستة.</a:t>
            </a:r>
            <a:endParaRPr/>
          </a:p>
        </p:txBody>
      </p:sp>
      <p:sp>
        <p:nvSpPr>
          <p:cNvPr id="547" name="Google Shape;547;p11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قائل خاطئ</a:t>
            </a:r>
            <a:endParaRPr/>
          </a:p>
        </p:txBody>
      </p:sp>
      <p:sp>
        <p:nvSpPr>
          <p:cNvPr id="548" name="Google Shape;548;p11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آية تُنسب للنبي ﷺ، أو حديث يُنسب إلى الله تعالى.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 · المسار الرابع: أدوات المعرفة والتحقق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12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 · المسار الرابع: أدوات المعرفة والتحقق</a:t>
            </a:r>
            <a:endParaRPr/>
          </a:p>
        </p:txBody>
      </p:sp>
      <p:pic>
        <p:nvPicPr>
          <p:cNvPr id="558" name="Google Shape;558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12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/>
          </a:p>
        </p:txBody>
      </p:sp>
      <p:sp>
        <p:nvSpPr>
          <p:cNvPr id="560" name="Google Shape;560;p12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هدف المشروع</a:t>
            </a:r>
            <a:endParaRPr dirty="0"/>
          </a:p>
        </p:txBody>
      </p:sp>
      <p:sp>
        <p:nvSpPr>
          <p:cNvPr id="561" name="Google Shape;561;p12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5</a:t>
            </a:fld>
            <a:endParaRPr/>
          </a:p>
        </p:txBody>
      </p:sp>
      <p:sp>
        <p:nvSpPr>
          <p:cNvPr id="562" name="Google Shape;562;p12"/>
          <p:cNvSpPr txBox="1">
            <a:spLocks noGrp="1"/>
          </p:cNvSpPr>
          <p:nvPr>
            <p:ph type="body" idx="2"/>
          </p:nvPr>
        </p:nvSpPr>
        <p:spPr>
          <a:xfrm>
            <a:off x="5886450" y="3604500"/>
            <a:ext cx="10953900" cy="22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25"/>
              <a:buNone/>
            </a:pPr>
            <a:r>
              <a:rPr lang="ar-SA" sz="3225" dirty="0">
                <a:solidFill>
                  <a:srgbClr val="F2F4FF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نكتشف كل آية وحديث في النص، ونطابقه كلمةً بكلمة مع نص المصدر، ثم نحكم: موثّق، أو غير مطابق مع التصحيح من المصدر، أو يحتاج مراجعة بشرية. نريد نظامًا يقول «هذا خطأ» أو «هذا نص المصدر» أو «لست متأكدًا فليحكم إنسان»، ولا يخترع شيئًا.</a:t>
            </a:r>
            <a:endParaRPr dirty="0"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63" name="Google Shape;563;p12"/>
          <p:cNvSpPr txBox="1">
            <a:spLocks noGrp="1"/>
          </p:cNvSpPr>
          <p:nvPr>
            <p:ph type="body" idx="3"/>
          </p:nvPr>
        </p:nvSpPr>
        <p:spPr>
          <a:xfrm>
            <a:off x="5886450" y="7239000"/>
            <a:ext cx="10953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الامتناع قبل التخمين</a:t>
            </a:r>
            <a:endParaRPr dirty="0"/>
          </a:p>
        </p:txBody>
      </p:sp>
      <p:sp>
        <p:nvSpPr>
          <p:cNvPr id="564" name="Google Shape;564;p12"/>
          <p:cNvSpPr txBox="1">
            <a:spLocks noGrp="1"/>
          </p:cNvSpPr>
          <p:nvPr>
            <p:ph type="body" idx="4"/>
          </p:nvPr>
        </p:nvSpPr>
        <p:spPr>
          <a:xfrm>
            <a:off x="5886450" y="8001000"/>
            <a:ext cx="109539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يُصحَّح الحديث آليًّا، وأي كلمة زائدة أو ناقصة فيه تُحال إلى المراجعة البشرية.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0" grpId="0"/>
      <p:bldP spid="562" grpId="0" build="p"/>
      <p:bldP spid="563" grpId="0" build="p"/>
      <p:bldP spid="56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والهدف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اخترنا مسار أدوات المعرفة والتحقق؟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أدوات تمكّن المعرِّفين بالإسلام والباحثين من الوصول إلى المعرفة الموثوقة والتحقق من مصادرها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6</a:t>
            </a:fld>
            <a:endParaRPr/>
          </a:p>
        </p:txBody>
      </p:sp>
      <p:sp>
        <p:nvSpPr>
          <p:cNvPr id="9001" name="Card 9001"/>
          <p:cNvSpPr/>
          <p:nvPr/>
        </p:nvSpPr>
        <p:spPr>
          <a:xfrm>
            <a:off x="11896700" y="3750000"/>
            <a:ext cx="4943500" cy="43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 · خطر يمسّ المعرِّف</a:t>
            </a:r>
          </a:p>
          <a:p>
            <a:pPr marL="0" indent="0" algn="r" rtl="1"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22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النماذج اللغوية تقتبس الآيات والأحاديث بطلاقة، وأحيانًا بكلمة مبدَّلة أو بحديث لا أصل له.</a:t>
            </a:r>
          </a:p>
          <a:p>
            <a:pPr marL="0" indent="0" algn="r" rtl="1"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22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والمعرِّف بالإسلام يخاطب الناس بنصوص الوحي، فلا يحتمل أن ينقل خطأً واحدًا.</a:t>
            </a:r>
          </a:p>
        </p:txBody>
      </p:sp>
      <p:sp>
        <p:nvSpPr>
          <p:cNvPr id="9002" name="Card 9002"/>
          <p:cNvSpPr/>
          <p:nvPr/>
        </p:nvSpPr>
        <p:spPr>
          <a:xfrm>
            <a:off x="6653200" y="3750000"/>
            <a:ext cx="4943500" cy="43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2 · يطابق ما يطلبه المسار</a:t>
            </a:r>
          </a:p>
          <a:p>
            <a:pPr marL="0" indent="0" algn="r" rtl="1"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المسار يطلب: </a:t>
            </a:r>
            <a:r>
              <a:rPr lang="ar-SA" sz="22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معرفة موثوقة، وتحققًا من المحتوى ومصادره، وتقييمًا لقوة الدليل.</a:t>
            </a:r>
          </a:p>
          <a:p>
            <a:pPr marL="0" indent="0" algn="r" rtl="1"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نحن نقدّم: </a:t>
            </a:r>
            <a:r>
              <a:rPr lang="ar-SA" sz="22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مطابقة كل آية وحديث بنص المصدر، وحكمًا معلَّلًا بالدليل: موثّق أو غير مطابق أو مراجعة بشرية.</a:t>
            </a:r>
          </a:p>
        </p:txBody>
      </p:sp>
      <p:sp>
        <p:nvSpPr>
          <p:cNvPr id="9003" name="Card 9003"/>
          <p:cNvSpPr/>
          <p:nvPr/>
        </p:nvSpPr>
        <p:spPr>
          <a:xfrm>
            <a:off x="1409700" y="3750000"/>
            <a:ext cx="4943500" cy="43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3 · يخدم المعرِّفين بالإسلام</a:t>
            </a:r>
          </a:p>
          <a:p>
            <a:pPr marL="0" indent="0" algn="r" rtl="1"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22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يختصر على المعرِّف والباحث التدقيق اليدوي قبل النشر أو الاستشهاد.</a:t>
            </a:r>
          </a:p>
          <a:p>
            <a:pPr marL="0" indent="0" algn="r" rtl="1"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22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التصحيح من نص المصدر لا من النموذج، وعند الشك يُحال إلى إنسان، ويعمل مجانًا من المتصفح.</a:t>
            </a:r>
          </a:p>
        </p:txBody>
      </p:sp>
      <p:sp>
        <p:nvSpPr>
          <p:cNvPr id="9004" name="Card 9004"/>
          <p:cNvSpPr/>
          <p:nvPr/>
        </p:nvSpPr>
        <p:spPr>
          <a:xfrm>
            <a:off x="1409700" y="8380000"/>
            <a:ext cx="15430500" cy="8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المسار الرابع: أدوات المعرفة والتحقق · مبنيّ على المهمة 1 من IslamicEval 2025 · دقة الحكم 93.12% على عيّنة التطوير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23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محرك استرجاع ومحاذاة تكون فيه المصادر هي السلطة الوحيدة في الحكم.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711" name="Google Shape;711;p20"/>
          <p:cNvSpPr txBox="1">
            <a:spLocks noGrp="1"/>
          </p:cNvSpPr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نضمن عدم الهلوسة؟</a:t>
            </a:r>
            <a:endParaRPr dirty="0"/>
          </a:p>
        </p:txBody>
      </p:sp>
      <p:sp>
        <p:nvSpPr>
          <p:cNvPr id="712" name="Google Shape;712;p20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المصدر هو الحَكَم، والنموذج اللغوي لا سلطة له على الصحة</a:t>
            </a:r>
            <a:endParaRPr/>
          </a:p>
        </p:txBody>
      </p:sp>
      <p:sp>
        <p:nvSpPr>
          <p:cNvPr id="713" name="Google Shape;713;p2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8</a:t>
            </a:fld>
            <a:endParaRPr/>
          </a:p>
        </p:txBody>
      </p:sp>
      <p:sp>
        <p:nvSpPr>
          <p:cNvPr id="714" name="Google Shape;714;p20"/>
          <p:cNvSpPr txBox="1">
            <a:spLocks noGrp="1"/>
          </p:cNvSpPr>
          <p:nvPr>
            <p:ph type="body" idx="3"/>
          </p:nvPr>
        </p:nvSpPr>
        <p:spPr>
          <a:xfrm>
            <a:off x="9505950" y="3952874"/>
            <a:ext cx="7334400" cy="1190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تصحيح حرفي</a:t>
            </a:r>
            <a:endParaRPr dirty="0"/>
          </a:p>
        </p:txBody>
      </p:sp>
      <p:sp>
        <p:nvSpPr>
          <p:cNvPr id="715" name="Google Shape;715;p20"/>
          <p:cNvSpPr txBox="1">
            <a:spLocks noGrp="1"/>
          </p:cNvSpPr>
          <p:nvPr>
            <p:ph type="body" idx="4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التصحيح يُنسخ من نص المصدر ولا يُولَّد أبدًا.</a:t>
            </a:r>
            <a:endParaRPr/>
          </a:p>
        </p:txBody>
      </p:sp>
      <p:sp>
        <p:nvSpPr>
          <p:cNvPr id="716" name="Google Shape;716;p20"/>
          <p:cNvSpPr txBox="1">
            <a:spLocks noGrp="1"/>
          </p:cNvSpPr>
          <p:nvPr>
            <p:ph type="body" idx="5"/>
          </p:nvPr>
        </p:nvSpPr>
        <p:spPr>
          <a:xfrm>
            <a:off x="1714500" y="3952874"/>
            <a:ext cx="6953250" cy="159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حارس التأسيس</a:t>
            </a:r>
            <a:endParaRPr dirty="0"/>
          </a:p>
        </p:txBody>
      </p:sp>
      <p:sp>
        <p:nvSpPr>
          <p:cNvPr id="717" name="Google Shape;717;p20"/>
          <p:cNvSpPr txBox="1">
            <a:spLocks noGrp="1"/>
          </p:cNvSpPr>
          <p:nvPr>
            <p:ph type="body" idx="6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أي تصحيح ليس جزءًا من السجل المستشهد به يُحذف وتُحال الحالة للبشر.</a:t>
            </a:r>
            <a:endParaRPr dirty="0"/>
          </a:p>
        </p:txBody>
      </p:sp>
      <p:sp>
        <p:nvSpPr>
          <p:cNvPr id="718" name="Google Shape;718;p20"/>
          <p:cNvSpPr txBox="1">
            <a:spLocks noGrp="1"/>
          </p:cNvSpPr>
          <p:nvPr>
            <p:ph type="body" idx="7"/>
          </p:nvPr>
        </p:nvSpPr>
        <p:spPr>
          <a:xfrm>
            <a:off x="9505950" y="6619800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حديث صارم</a:t>
            </a:r>
            <a:endParaRPr dirty="0"/>
          </a:p>
        </p:txBody>
      </p:sp>
      <p:sp>
        <p:nvSpPr>
          <p:cNvPr id="719" name="Google Shape;719;p20"/>
          <p:cNvSpPr txBox="1">
            <a:spLocks noGrp="1"/>
          </p:cNvSpPr>
          <p:nvPr>
            <p:ph type="body" idx="8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يُوثَّق الحديث إلا عند تطابق كلماته كلها.</a:t>
            </a:r>
            <a:endParaRPr/>
          </a:p>
        </p:txBody>
      </p:sp>
      <p:sp>
        <p:nvSpPr>
          <p:cNvPr id="720" name="Google Shape;720;p20"/>
          <p:cNvSpPr txBox="1">
            <a:spLocks noGrp="1"/>
          </p:cNvSpPr>
          <p:nvPr>
            <p:ph type="body" idx="9"/>
          </p:nvPr>
        </p:nvSpPr>
        <p:spPr>
          <a:xfrm>
            <a:off x="1714500" y="6619875"/>
            <a:ext cx="6953250" cy="1277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اقتباس قصير</a:t>
            </a:r>
            <a:endParaRPr dirty="0"/>
          </a:p>
        </p:txBody>
      </p:sp>
      <p:sp>
        <p:nvSpPr>
          <p:cNvPr id="721" name="Google Shape;721;p20"/>
          <p:cNvSpPr txBox="1">
            <a:spLocks noGrp="1"/>
          </p:cNvSpPr>
          <p:nvPr>
            <p:ph type="body" idx="13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ما دون ثلاث كلمات يذهب إلى المراجعة البشرية.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عناصر الحل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بنية خفيفة ومنخفضة التكلفة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9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>
            <a:spLocks noGrp="1"/>
          </p:cNvSpPr>
          <p:nvPr>
            <p:ph type="body" idx="3"/>
          </p:nvPr>
        </p:nvSpPr>
        <p:spPr>
          <a:xfrm>
            <a:off x="13411200" y="6048374"/>
            <a:ext cx="3524400" cy="228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كشف ذكي</a:t>
            </a:r>
            <a:endParaRPr dirty="0"/>
          </a:p>
        </p:txBody>
      </p:sp>
      <p:sp>
        <p:nvSpPr>
          <p:cNvPr id="866" name="Google Shape;866;p27"/>
          <p:cNvSpPr txBox="1">
            <a:spLocks noGrp="1"/>
          </p:cNvSpPr>
          <p:nvPr>
            <p:ph type="body" idx="4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يجد الاقتباس بعلامات تنصيص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أو بدونها من المدوّنة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>
            <a:spLocks noGrp="1"/>
          </p:cNvSpPr>
          <p:nvPr>
            <p:ph type="body" idx="5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موثّقة</a:t>
            </a:r>
            <a:endParaRPr/>
          </a:p>
        </p:txBody>
      </p:sp>
      <p:sp>
        <p:nvSpPr>
          <p:cNvPr id="869" name="Google Shape;869;p27"/>
          <p:cNvSpPr txBox="1">
            <a:spLocks noGrp="1"/>
          </p:cNvSpPr>
          <p:nvPr>
            <p:ph type="body" idx="6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6,236 آية و34,994 حديثًا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الكتب الستة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>
            <a:spLocks noGrp="1"/>
          </p:cNvSpPr>
          <p:nvPr>
            <p:ph type="body" idx="7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بشرية</a:t>
            </a:r>
            <a:endParaRPr/>
          </a:p>
        </p:txBody>
      </p:sp>
      <p:sp>
        <p:nvSpPr>
          <p:cNvPr id="872" name="Google Shape;872;p27"/>
          <p:cNvSpPr txBox="1">
            <a:spLocks noGrp="1"/>
          </p:cNvSpPr>
          <p:nvPr>
            <p:ph type="body" idx="8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حالات الشك تُحال لإنسان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بيان السبب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>
            <a:spLocks noGrp="1"/>
          </p:cNvSpPr>
          <p:nvPr>
            <p:ph type="body" idx="9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محاذاة دقيقة</a:t>
            </a:r>
            <a:endParaRPr/>
          </a:p>
        </p:txBody>
      </p:sp>
      <p:sp>
        <p:nvSpPr>
          <p:cNvPr id="875" name="Google Shape;875;p27"/>
          <p:cNvSpPr txBox="1">
            <a:spLocks noGrp="1"/>
          </p:cNvSpPr>
          <p:nvPr>
            <p:ph type="body" idx="13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كلمةً بكلمة، والتصحيح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منسوخ من المصدر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دور الذكاء الاصطناعي في المنتج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اللغوي يكتب الإجابة، والمدوّنات هي التي تحكم على الاقتباسات فيها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10</a:t>
            </a:fld>
            <a:endParaRPr/>
          </a:p>
        </p:txBody>
      </p:sp>
      <p:sp>
        <p:nvSpPr>
          <p:cNvPr id="9005" name="Card 9005"/>
          <p:cNvSpPr/>
          <p:nvPr/>
        </p:nvSpPr>
        <p:spPr>
          <a:xfrm>
            <a:off x="9249950" y="3750000"/>
            <a:ext cx="7590250" cy="24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 التي يعالجها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النماذج اللغوية تُنتج آيات وأحاديث تبدو صحيحة وكثيرًا ما تكون خاطئة.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المنتج يجعل هذه المخرجات قابلة للفحص قبل أن يصدّقها القارئ.</a:t>
            </a:r>
          </a:p>
        </p:txBody>
      </p:sp>
      <p:sp>
        <p:nvSpPr>
          <p:cNvPr id="9006" name="Card 9006"/>
          <p:cNvSpPr/>
          <p:nvPr/>
        </p:nvSpPr>
        <p:spPr>
          <a:xfrm>
            <a:off x="1409700" y="3750000"/>
            <a:ext cx="7590250" cy="24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في «اسأل ثم تحقّق»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يجيب عبر وسيط Cloudflare Workers AI (يبدأ بـ Llama 3.3 70B).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يُوثَق بإجابته أبدًا: كل اقتباس فيها يُفحص مقابل المدوّنات.</a:t>
            </a:r>
          </a:p>
        </p:txBody>
      </p:sp>
      <p:sp>
        <p:nvSpPr>
          <p:cNvPr id="9007" name="Card 9007"/>
          <p:cNvSpPr/>
          <p:nvPr/>
        </p:nvSpPr>
        <p:spPr>
          <a:xfrm>
            <a:off x="9249950" y="6450000"/>
            <a:ext cx="7590250" cy="24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تحقق معزَّز بالاسترجاع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استرجاع BM25 على 6,236 آية و34,994 حديثًا.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السجل المسترجَع يُستعمل للحكم وللنقل منه، لا لتوليد نص.</a:t>
            </a:r>
          </a:p>
        </p:txBody>
      </p:sp>
      <p:sp>
        <p:nvSpPr>
          <p:cNvPr id="9008" name="Card 9008"/>
          <p:cNvSpPr/>
          <p:nvPr/>
        </p:nvSpPr>
        <p:spPr>
          <a:xfrm>
            <a:off x="1409700" y="6450000"/>
            <a:ext cx="7590250" cy="24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كاشف متعلَّم اختياري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CAMeLBERT-MSA مضبوط للمهمة 1A (الوسوم O وB/I-Ayah وB/I-Hadith) وتُدمج مقاطعه بصمت.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غير مضمَّن في النسخة الحالية، وبدونه يعمل الكاشف المدمج وحده.</a:t>
            </a:r>
          </a:p>
        </p:txBody>
      </p:sp>
      <p:sp>
        <p:nvSpPr>
          <p:cNvPr id="9009" name="Card 9009"/>
          <p:cNvSpPr/>
          <p:nvPr/>
        </p:nvSpPr>
        <p:spPr>
          <a:xfrm>
            <a:off x="1409700" y="9150000"/>
            <a:ext cx="15430500" cy="52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القرار النهائي قواعد صريحة بلا أوزان نماذج، فيبقى قابلًا للتكرار والاختبار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 المستخدمة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كلها مسجّلة في ملف المراجع، والتحقق نفسه بلا خادم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11</a:t>
            </a:fld>
            <a:endParaRPr/>
          </a:p>
        </p:txBody>
      </p:sp>
      <p:sp>
        <p:nvSpPr>
          <p:cNvPr id="9010" name="Card 9010"/>
          <p:cNvSpPr/>
          <p:nvPr/>
        </p:nvSpPr>
        <p:spPr>
          <a:xfrm>
            <a:off x="11863367" y="3750000"/>
            <a:ext cx="4976833" cy="25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نواة بايثون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Python 3.12/3.13: difflib وre وunicodedata وjson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NumPy 2.4.4 لحساب F1 في evaluate.py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RapidFuzz اختياري (يوجد بديل بايثون خالص)</a:t>
            </a:r>
          </a:p>
        </p:txBody>
      </p:sp>
      <p:sp>
        <p:nvSpPr>
          <p:cNvPr id="9011" name="Card 9011"/>
          <p:cNvSpPr/>
          <p:nvPr/>
        </p:nvSpPr>
        <p:spPr>
          <a:xfrm>
            <a:off x="6636534" y="3750000"/>
            <a:ext cx="4976833" cy="25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في المتصفح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Pyodide 0.26.4 داخل Web Worker (من jsDelivr)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ثابت: لا خادم للتحقق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أول زيارة تنزّل الفهارس ثم تُخزَّن في المتصفح</a:t>
            </a:r>
          </a:p>
        </p:txBody>
      </p:sp>
      <p:sp>
        <p:nvSpPr>
          <p:cNvPr id="9012" name="Card 9012"/>
          <p:cNvSpPr/>
          <p:nvPr/>
        </p:nvSpPr>
        <p:spPr>
          <a:xfrm>
            <a:off x="1409701" y="3750000"/>
            <a:ext cx="4976833" cy="25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والمطابقة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BM25 + n-gram حرفية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فهارس جاهزة: quran.idx.gz (2.1 م.ب) وhadith.idx.gz (8.2 م.ب)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تحميل كسول لفهرس الحديث</a:t>
            </a:r>
          </a:p>
        </p:txBody>
      </p:sp>
      <p:sp>
        <p:nvSpPr>
          <p:cNvPr id="9013" name="Card 9013"/>
          <p:cNvSpPr/>
          <p:nvPr/>
        </p:nvSpPr>
        <p:spPr>
          <a:xfrm>
            <a:off x="11863367" y="6500000"/>
            <a:ext cx="4976833" cy="25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Cloudflare Workers AI (طبقة مجانية)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أي واجهة متوافقة مع OpenAI بديلًا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CAMeLBERT-MSA اختياري للكشف</a:t>
            </a:r>
          </a:p>
        </p:txBody>
      </p:sp>
      <p:sp>
        <p:nvSpPr>
          <p:cNvPr id="9014" name="Card 9014"/>
          <p:cNvSpPr/>
          <p:nvPr/>
        </p:nvSpPr>
        <p:spPr>
          <a:xfrm>
            <a:off x="6636534" y="6500000"/>
            <a:ext cx="4976833" cy="25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الاستضافة والنشر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Hugging Face Static Space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Cloudflare Workers وPages (server/ask-core.js)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حدّ للحجم والمصدر والمعدّل في الوسيط</a:t>
            </a:r>
          </a:p>
        </p:txBody>
      </p:sp>
      <p:sp>
        <p:nvSpPr>
          <p:cNvPr id="9015" name="Card 9015"/>
          <p:cNvSpPr/>
          <p:nvPr/>
        </p:nvSpPr>
        <p:spPr>
          <a:xfrm>
            <a:off x="1409701" y="6500000"/>
            <a:ext cx="4976833" cy="25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والاختبار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واجهة عربية، وGradio للتشغيل المحلي فقط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69 اختبارًا بـ unittest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Playwright/Chromium لفحص الواجهة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الخوارزميات والأدوات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النص إلى القرار في سبع خطوات، وكل خطوة وحدة برمجية قابلة للاختبار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12</a:t>
            </a:fld>
            <a:endParaRPr/>
          </a:p>
        </p:txBody>
      </p:sp>
      <p:sp>
        <p:nvSpPr>
          <p:cNvPr id="9016" name="Card 9016"/>
          <p:cNvSpPr/>
          <p:nvPr/>
        </p:nvSpPr>
        <p:spPr>
          <a:xfrm>
            <a:off x="13170075" y="3750000"/>
            <a:ext cx="3670125" cy="26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 · التطبيع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إزالة التشكيل والتطويل، وتوحيد الألف والتاء المربوطة والألف المقصورة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هيكل صوتي (normalization.py)</a:t>
            </a:r>
          </a:p>
        </p:txBody>
      </p:sp>
      <p:sp>
        <p:nvSpPr>
          <p:cNvPr id="9017" name="Card 9017"/>
          <p:cNvSpPr/>
          <p:nvPr/>
        </p:nvSpPr>
        <p:spPr>
          <a:xfrm>
            <a:off x="9249950" y="3750000"/>
            <a:ext cx="3670125" cy="26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2 · الكشف 1A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علامات التنصيص والأقواس، وماسح المدوّنة بمراسٍ صوتية n-gram للقرآن ونوافذ BM25 للحديث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(scanner.py)</a:t>
            </a:r>
          </a:p>
        </p:txBody>
      </p:sp>
      <p:sp>
        <p:nvSpPr>
          <p:cNvPr id="9018" name="Card 9018"/>
          <p:cNvSpPr/>
          <p:nvPr/>
        </p:nvSpPr>
        <p:spPr>
          <a:xfrm>
            <a:off x="5329825" y="3750000"/>
            <a:ext cx="3670125" cy="26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3 · تحديد النوع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آية أم حديث بتغطية الكلمات في المدوّنات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«قال الله» و«قال رسول الله ﷺ» تلميحات فقط (detector.py)</a:t>
            </a:r>
          </a:p>
        </p:txBody>
      </p:sp>
      <p:sp>
        <p:nvSpPr>
          <p:cNvPr id="9019" name="Card 9019"/>
          <p:cNvSpPr/>
          <p:nvPr/>
        </p:nvSpPr>
        <p:spPr>
          <a:xfrm>
            <a:off x="1409700" y="3750000"/>
            <a:ext cx="3670125" cy="26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 · الاسترجاع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مرشحون بـ BM25 ثم إعادة ترتيب بتشابه n-gram حرفية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(retrieval.py)</a:t>
            </a:r>
          </a:p>
        </p:txBody>
      </p:sp>
      <p:sp>
        <p:nvSpPr>
          <p:cNvPr id="9020" name="Card 9020"/>
          <p:cNvSpPr/>
          <p:nvPr/>
        </p:nvSpPr>
        <p:spPr>
          <a:xfrm>
            <a:off x="11863367" y="6650000"/>
            <a:ext cx="4976833" cy="24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 · المحاذاة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هيكل صوتي ونافذة منزلقة وLCS وفجوة ديناميكية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مطابق / جزء نصي / معدَّل / غير مرتبط (alignment.py)</a:t>
            </a:r>
          </a:p>
        </p:txBody>
      </p:sp>
      <p:sp>
        <p:nvSpPr>
          <p:cNvPr id="9021" name="Card 9021"/>
          <p:cNvSpPr/>
          <p:nvPr/>
        </p:nvSpPr>
        <p:spPr>
          <a:xfrm>
            <a:off x="6636534" y="6650000"/>
            <a:ext cx="4976833" cy="24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6 · القرار 1B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قواعد صريحة: VERIFIED وCORRECTED وUNSUPPORTED وHUMAN_REVIEW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(verifier.py)</a:t>
            </a:r>
          </a:p>
        </p:txBody>
      </p:sp>
      <p:sp>
        <p:nvSpPr>
          <p:cNvPr id="9022" name="Card 9022"/>
          <p:cNvSpPr/>
          <p:nvPr/>
        </p:nvSpPr>
        <p:spPr>
          <a:xfrm>
            <a:off x="1409701" y="6650000"/>
            <a:ext cx="4976833" cy="245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70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 · حارس التأسيس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_ground() يتحقق أن التصحيح جزء نصي من السجل المستشهد به</a:t>
            </a:r>
          </a:p>
          <a:p>
            <a:pPr marL="0" indent="0" algn="r" rtl="1">
              <a:spcBef>
                <a:spcPts val="0"/>
              </a:spcBef>
              <a:spcAft>
                <a:spcPts val="500"/>
              </a:spcAft>
              <a:buNone/>
            </a:pPr>
            <a:r>
              <a:rPr lang="ar-SA" sz="17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وإلا حُذف وصارت الحالة HUMAN_REVIEW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 التقني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قواعد القرار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حكم 1B «صحيح» لحالة VERIFIED فقط، والحديث لا يُصحَّح آليًّا ولا يُوثَّق إلا بتطابق كلماته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13</a:t>
            </a:fld>
            <a:endParaRPr/>
          </a:p>
        </p:txBody>
      </p:sp>
      <p:sp>
        <p:nvSpPr>
          <p:cNvPr id="9023" name="Card 9023"/>
          <p:cNvSpPr/>
          <p:nvPr/>
        </p:nvSpPr>
        <p:spPr>
          <a:xfrm>
            <a:off x="1409700" y="3750000"/>
            <a:ext cx="15430500" cy="118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>
            <a:noFill/>
          </a:ln>
        </p:spPr>
        <p:txBody>
          <a:bodyPr wrap="square" lIns="230000" tIns="170000" rIns="230000" bIns="170000" anchor="t">
            <a:noAutofit/>
          </a:bodyPr>
          <a:lstStyle/>
          <a:p>
            <a:endParaRPr lang="ar-SA"/>
          </a:p>
        </p:txBody>
      </p:sp>
      <p:sp>
        <p:nvSpPr>
          <p:cNvPr id="9024" name="Card 9024"/>
          <p:cNvSpPr/>
          <p:nvPr/>
        </p:nvSpPr>
        <p:spPr>
          <a:xfrm>
            <a:off x="13340200" y="3750000"/>
            <a:ext cx="35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VERIFIED</a:t>
            </a:r>
          </a:p>
        </p:txBody>
      </p:sp>
      <p:sp>
        <p:nvSpPr>
          <p:cNvPr id="9025" name="Card 9025"/>
          <p:cNvSpPr/>
          <p:nvPr/>
        </p:nvSpPr>
        <p:spPr>
          <a:xfrm>
            <a:off x="5309700" y="3750000"/>
            <a:ext cx="79305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يطابق مصدره تمامًا بعد التطبيع: آية كاملة أو جزء نصي دقيق من سجل</a:t>
            </a:r>
          </a:p>
        </p:txBody>
      </p:sp>
      <p:sp>
        <p:nvSpPr>
          <p:cNvPr id="9026" name="Card 9026"/>
          <p:cNvSpPr/>
          <p:nvPr/>
        </p:nvSpPr>
        <p:spPr>
          <a:xfrm>
            <a:off x="1409700" y="3750000"/>
            <a:ext cx="38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تصحيح</a:t>
            </a:r>
          </a:p>
        </p:txBody>
      </p:sp>
      <p:sp>
        <p:nvSpPr>
          <p:cNvPr id="9027" name="Card 9027"/>
          <p:cNvSpPr/>
          <p:nvPr/>
        </p:nvSpPr>
        <p:spPr>
          <a:xfrm>
            <a:off x="1409700" y="5110000"/>
            <a:ext cx="15430500" cy="118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>
            <a:noFill/>
          </a:ln>
        </p:spPr>
        <p:txBody>
          <a:bodyPr wrap="square" lIns="230000" tIns="170000" rIns="230000" bIns="170000" anchor="t">
            <a:noAutofit/>
          </a:bodyPr>
          <a:lstStyle/>
          <a:p>
            <a:endParaRPr lang="ar-SA"/>
          </a:p>
        </p:txBody>
      </p:sp>
      <p:sp>
        <p:nvSpPr>
          <p:cNvPr id="9028" name="Card 9028"/>
          <p:cNvSpPr/>
          <p:nvPr/>
        </p:nvSpPr>
        <p:spPr>
          <a:xfrm>
            <a:off x="13340200" y="5110000"/>
            <a:ext cx="35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FFB86B"/>
                </a:solidFill>
                <a:latin typeface="Readex Pro"/>
                <a:ea typeface="Readex Pro"/>
                <a:cs typeface="Readex Pro"/>
                <a:sym typeface="Readex Pro"/>
              </a:rPr>
              <a:t>CORRECTED</a:t>
            </a:r>
          </a:p>
        </p:txBody>
      </p:sp>
      <p:sp>
        <p:nvSpPr>
          <p:cNvPr id="9029" name="Card 9029"/>
          <p:cNvSpPr/>
          <p:nvPr/>
        </p:nvSpPr>
        <p:spPr>
          <a:xfrm>
            <a:off x="5309700" y="5110000"/>
            <a:ext cx="79305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مقطع قرآني أفضل مصدر له قوي ومحلي، لكن كلماته تختلف</a:t>
            </a:r>
          </a:p>
        </p:txBody>
      </p:sp>
      <p:sp>
        <p:nvSpPr>
          <p:cNvPr id="9030" name="Card 9030"/>
          <p:cNvSpPr/>
          <p:nvPr/>
        </p:nvSpPr>
        <p:spPr>
          <a:xfrm>
            <a:off x="1409700" y="5110000"/>
            <a:ext cx="38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المصدر حرفيًا</a:t>
            </a:r>
          </a:p>
        </p:txBody>
      </p:sp>
      <p:sp>
        <p:nvSpPr>
          <p:cNvPr id="9031" name="Card 9031"/>
          <p:cNvSpPr/>
          <p:nvPr/>
        </p:nvSpPr>
        <p:spPr>
          <a:xfrm>
            <a:off x="1409700" y="6470000"/>
            <a:ext cx="15430500" cy="118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>
            <a:noFill/>
          </a:ln>
        </p:spPr>
        <p:txBody>
          <a:bodyPr wrap="square" lIns="230000" tIns="170000" rIns="230000" bIns="170000" anchor="t">
            <a:noAutofit/>
          </a:bodyPr>
          <a:lstStyle/>
          <a:p>
            <a:endParaRPr lang="ar-SA"/>
          </a:p>
        </p:txBody>
      </p:sp>
      <p:sp>
        <p:nvSpPr>
          <p:cNvPr id="9032" name="Card 9032"/>
          <p:cNvSpPr/>
          <p:nvPr/>
        </p:nvSpPr>
        <p:spPr>
          <a:xfrm>
            <a:off x="13340200" y="6470000"/>
            <a:ext cx="35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FF7A8A"/>
                </a:solidFill>
                <a:latin typeface="Readex Pro"/>
                <a:ea typeface="Readex Pro"/>
                <a:cs typeface="Readex Pro"/>
                <a:sym typeface="Readex Pro"/>
              </a:rPr>
              <a:t>UNSUPPORTED</a:t>
            </a:r>
          </a:p>
        </p:txBody>
      </p:sp>
      <p:sp>
        <p:nvSpPr>
          <p:cNvPr id="9033" name="Card 9033"/>
          <p:cNvSpPr/>
          <p:nvPr/>
        </p:nvSpPr>
        <p:spPr>
          <a:xfrm>
            <a:off x="5309700" y="6470000"/>
            <a:ext cx="79305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شيء في المدوّنات يشبهه</a:t>
            </a:r>
          </a:p>
        </p:txBody>
      </p:sp>
      <p:sp>
        <p:nvSpPr>
          <p:cNvPr id="9034" name="Card 9034"/>
          <p:cNvSpPr/>
          <p:nvPr/>
        </p:nvSpPr>
        <p:spPr>
          <a:xfrm>
            <a:off x="1409700" y="6470000"/>
            <a:ext cx="38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تصحيح ولا دليل معروض</a:t>
            </a:r>
          </a:p>
        </p:txBody>
      </p:sp>
      <p:sp>
        <p:nvSpPr>
          <p:cNvPr id="9035" name="Card 9035"/>
          <p:cNvSpPr/>
          <p:nvPr/>
        </p:nvSpPr>
        <p:spPr>
          <a:xfrm>
            <a:off x="1409700" y="7830000"/>
            <a:ext cx="15430500" cy="118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>
            <a:noFill/>
          </a:ln>
        </p:spPr>
        <p:txBody>
          <a:bodyPr wrap="square" lIns="230000" tIns="170000" rIns="230000" bIns="170000" anchor="t">
            <a:noAutofit/>
          </a:bodyPr>
          <a:lstStyle/>
          <a:p>
            <a:endParaRPr lang="ar-SA"/>
          </a:p>
        </p:txBody>
      </p:sp>
      <p:sp>
        <p:nvSpPr>
          <p:cNvPr id="9036" name="Card 9036"/>
          <p:cNvSpPr/>
          <p:nvPr/>
        </p:nvSpPr>
        <p:spPr>
          <a:xfrm>
            <a:off x="13340200" y="7830000"/>
            <a:ext cx="35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8EA2FF"/>
                </a:solidFill>
                <a:latin typeface="Readex Pro"/>
                <a:ea typeface="Readex Pro"/>
                <a:cs typeface="Readex Pro"/>
                <a:sym typeface="Readex Pro"/>
              </a:rPr>
              <a:t>HUMAN_REVIEW</a:t>
            </a:r>
          </a:p>
        </p:txBody>
      </p:sp>
      <p:sp>
        <p:nvSpPr>
          <p:cNvPr id="9037" name="Card 9037"/>
          <p:cNvSpPr/>
          <p:nvPr/>
        </p:nvSpPr>
        <p:spPr>
          <a:xfrm>
            <a:off x="5309700" y="7830000"/>
            <a:ext cx="79305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دليل ضعيف أو ملتبس، أو حديث يختلف في أي كلمة، أو اقتباس أقل من 3 كلمات، أو نتيجة غير مؤسَّسة</a:t>
            </a:r>
          </a:p>
        </p:txBody>
      </p:sp>
      <p:sp>
        <p:nvSpPr>
          <p:cNvPr id="9038" name="Card 9038"/>
          <p:cNvSpPr/>
          <p:nvPr/>
        </p:nvSpPr>
        <p:spPr>
          <a:xfrm>
            <a:off x="1409700" y="7830000"/>
            <a:ext cx="3800000" cy="1180000"/>
          </a:xfrm>
          <a:prstGeom prst="rect">
            <a:avLst/>
          </a:prstGeom>
          <a:noFill/>
          <a:ln>
            <a:noFill/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تصحيح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117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النص أو السؤال إلى قرار موثّق، مع الدليل والتصحيح.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819" name="Google Shape;819;p24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آلية عمل الحل</a:t>
            </a:r>
            <a:endParaRPr/>
          </a:p>
        </p:txBody>
      </p:sp>
      <p:sp>
        <p:nvSpPr>
          <p:cNvPr id="820" name="Google Shape;820;p24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المدخلات إلى الأثر، كلها داخل متصفحك</a:t>
            </a:r>
            <a:endParaRPr/>
          </a:p>
        </p:txBody>
      </p:sp>
      <p:sp>
        <p:nvSpPr>
          <p:cNvPr id="821" name="Google Shape;821;p24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15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3867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المدخلات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أو نص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المستخدم أو من إجابة نموذج</a:t>
            </a:r>
            <a:endParaRPr dirty="0"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1" dirty="0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23307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المعالجة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كشف ← استرجاع ← محاذاة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ثم قرار وحارس تأسيس</a:t>
            </a:r>
            <a:endParaRPr sz="3600" b="1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38125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المخرجات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ثلاثة قرارات مع الدليل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موثّق · غير مطابق · مراجعة</a:t>
            </a:r>
            <a:endParaRPr sz="3600" b="1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name="adj" fmla="val 8059"/>
            </a:avLst>
          </a:prstGeom>
          <a:solidFill>
            <a:srgbClr val="FFFFFF">
              <a:alpha val="3920"/>
            </a:srgbClr>
          </a:solidFill>
          <a:ln w="8175" cap="flat" cmpd="sng">
            <a:solidFill>
              <a:srgbClr val="2EF2C2">
                <a:alpha val="1216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8400" tIns="78400" rIns="78400" bIns="78400" anchor="ctr" anchorCtr="0">
            <a:noAutofit/>
          </a:bodyPr>
          <a:lstStyle/>
          <a:p>
            <a:pPr marL="0" marR="223307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6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300"/>
              </a:spcBef>
              <a:spcAft>
                <a:spcPts val="0"/>
              </a:spcAft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الأثر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ثقة أعلى وتدقيق أسرع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269999" lvl="0" indent="0" algn="r" rtl="1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تُقاس بدقة الحكم 93.12%</a:t>
            </a:r>
            <a:endParaRPr sz="3600" b="1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0" name="Google Shape;570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13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 · المسار الرابع: أدوات المعرفة والتحقق</a:t>
            </a:r>
            <a:endParaRPr/>
          </a:p>
        </p:txBody>
      </p:sp>
      <p:pic>
        <p:nvPicPr>
          <p:cNvPr id="572" name="Google Shape;572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13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574" name="Google Shape;574;p13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تصحيح آية من نص المصدر</a:t>
            </a:r>
            <a:endParaRPr/>
          </a:p>
        </p:txBody>
      </p:sp>
      <p:sp>
        <p:nvSpPr>
          <p:cNvPr id="575" name="Google Shape;575;p1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16</a:t>
            </a:fld>
            <a:endParaRPr/>
          </a:p>
        </p:txBody>
      </p:sp>
      <p:sp>
        <p:nvSpPr>
          <p:cNvPr id="577" name="Google Shape;577;p13"/>
          <p:cNvSpPr txBox="1">
            <a:spLocks noGrp="1"/>
          </p:cNvSpPr>
          <p:nvPr>
            <p:ph type="body" idx="3"/>
          </p:nvPr>
        </p:nvSpPr>
        <p:spPr>
          <a:xfrm>
            <a:off x="10458450" y="409575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نراه؟</a:t>
            </a:r>
            <a:endParaRPr/>
          </a:p>
        </p:txBody>
      </p:sp>
      <p:sp>
        <p:nvSpPr>
          <p:cNvPr id="578" name="Google Shape;578;p13"/>
          <p:cNvSpPr txBox="1">
            <a:spLocks noGrp="1"/>
          </p:cNvSpPr>
          <p:nvPr>
            <p:ph type="body" idx="4"/>
          </p:nvPr>
        </p:nvSpPr>
        <p:spPr>
          <a:xfrm>
            <a:off x="10458450" y="480060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آية اقتُبست بكلمة مخالفة: يبرز النظام الفرق ويعرض نص سورة الأحزاب 10 كما في المصدر.</a:t>
            </a:r>
            <a:endParaRPr/>
          </a:p>
        </p:txBody>
      </p:sp>
      <p:sp>
        <p:nvSpPr>
          <p:cNvPr id="579" name="Google Shape;579;p13"/>
          <p:cNvSpPr txBox="1">
            <a:spLocks noGrp="1"/>
          </p:cNvSpPr>
          <p:nvPr>
            <p:ph type="body" idx="5"/>
          </p:nvPr>
        </p:nvSpPr>
        <p:spPr>
          <a:xfrm>
            <a:off x="10458450" y="6667500"/>
            <a:ext cx="6381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يهم المستخدم؟</a:t>
            </a:r>
            <a:endParaRPr/>
          </a:p>
        </p:txBody>
      </p:sp>
      <p:sp>
        <p:nvSpPr>
          <p:cNvPr id="580" name="Google Shape;580;p13"/>
          <p:cNvSpPr txBox="1">
            <a:spLocks noGrp="1"/>
          </p:cNvSpPr>
          <p:nvPr>
            <p:ph type="body" idx="6"/>
          </p:nvPr>
        </p:nvSpPr>
        <p:spPr>
          <a:xfrm>
            <a:off x="10458450" y="7372350"/>
            <a:ext cx="6381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يرى موضع الخطأ بعينه، ويأخذ النص الصحيح بنقرة نسخ، دون أن يخترع النظام شيئًا.</a:t>
            </a:r>
            <a:endParaRPr/>
          </a:p>
        </p:txBody>
      </p:sp>
      <p:pic>
        <p:nvPicPr>
          <p:cNvPr id="581" name="لقطة: تصحيح آية" descr="c_ay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0" y="4048125"/>
            <a:ext cx="8382000" cy="47053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17</a:t>
            </a:fld>
            <a:endParaRPr/>
          </a:p>
        </p:txBody>
      </p:sp>
      <p:sp>
        <p:nvSpPr>
          <p:cNvPr id="835" name="Google Shape;835;p25"/>
          <p:cNvSpPr txBox="1">
            <a:spLocks noGrp="1"/>
          </p:cNvSpPr>
          <p:nvPr>
            <p:ph type="title"/>
          </p:nvPr>
        </p:nvSpPr>
        <p:spPr>
          <a:xfrm>
            <a:off x="2038350" y="7962900"/>
            <a:ext cx="14763900" cy="150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حديث مختلق يُوسَم «غير مطابق» دون اقتراح أي بديل</a:t>
            </a:r>
            <a:endParaRPr dirty="0"/>
          </a:p>
        </p:txBody>
      </p:sp>
      <p:sp>
        <p:nvSpPr>
          <p:cNvPr id="836" name="Google Shape;836;p25"/>
          <p:cNvSpPr txBox="1">
            <a:spLocks noGrp="1"/>
          </p:cNvSpPr>
          <p:nvPr>
            <p:ph type="body" idx="1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النسخة المنشورة: «غزوة الشفع والوتر» لا أصل لها في المراجع المضمّنة، فلم يُقترح نص بديل.</a:t>
            </a:r>
            <a:endParaRPr/>
          </a:p>
        </p:txBody>
      </p:sp>
      <p:pic>
        <p:nvPicPr>
          <p:cNvPr id="837" name="لقطة: حديث مختلق" descr="c_hadi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666750"/>
            <a:ext cx="16192500" cy="6953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</a:t>
            </a:r>
            <a:endParaRPr/>
          </a:p>
        </p:txBody>
      </p:sp>
      <p:sp>
        <p:nvSpPr>
          <p:cNvPr id="844" name="Google Shape;844;p26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معرض الواجهات</a:t>
            </a:r>
            <a:endParaRPr/>
          </a:p>
        </p:txBody>
      </p:sp>
      <p:sp>
        <p:nvSpPr>
          <p:cNvPr id="845" name="Google Shape;845;p2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18</a:t>
            </a:fld>
            <a:endParaRPr/>
          </a:p>
        </p:txBody>
      </p:sp>
      <p:sp>
        <p:nvSpPr>
          <p:cNvPr id="847" name="Google Shape;847;p26"/>
          <p:cNvSpPr txBox="1">
            <a:spLocks noGrp="1"/>
          </p:cNvSpPr>
          <p:nvPr>
            <p:ph type="body" idx="3"/>
          </p:nvPr>
        </p:nvSpPr>
        <p:spPr>
          <a:xfrm>
            <a:off x="12115800" y="782002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«اسأل ثم تحقّق»: سؤال وإجابة النموذج وعدّاد القرارات</a:t>
            </a:r>
            <a:endParaRPr/>
          </a:p>
        </p:txBody>
      </p:sp>
      <p:sp>
        <p:nvSpPr>
          <p:cNvPr id="848" name="Google Shape;848;p26"/>
          <p:cNvSpPr txBox="1">
            <a:spLocks noGrp="1"/>
          </p:cNvSpPr>
          <p:nvPr>
            <p:ph type="body" idx="5"/>
          </p:nvPr>
        </p:nvSpPr>
        <p:spPr>
          <a:xfrm>
            <a:off x="6762750" y="782002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«تحقّق مباشر»: نص ملصوق مع إبراز الاقتباسات</a:t>
            </a:r>
            <a:endParaRPr/>
          </a:p>
        </p:txBody>
      </p:sp>
      <p:sp>
        <p:nvSpPr>
          <p:cNvPr id="849" name="Google Shape;849;p26"/>
          <p:cNvSpPr txBox="1">
            <a:spLocks noGrp="1"/>
          </p:cNvSpPr>
          <p:nvPr>
            <p:ph type="body" idx="7"/>
          </p:nvPr>
        </p:nvSpPr>
        <p:spPr>
          <a:xfrm>
            <a:off x="1409700" y="782002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النسخة المصحّحة: نسخ بنقرة وتنبيه للحالة الملتبسة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3" name="لقطة: ask" descr="c_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82450" y="4000500"/>
            <a:ext cx="4953000" cy="3533775"/>
          </a:xfrm>
          <a:prstGeom prst="rect">
            <a:avLst/>
          </a:prstGeom>
        </p:spPr>
      </p:pic>
      <p:pic>
        <p:nvPicPr>
          <p:cNvPr id="854" name="لقطة: direct" descr="c_dir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8450" y="4000500"/>
            <a:ext cx="4953000" cy="3533775"/>
          </a:xfrm>
          <a:prstGeom prst="rect">
            <a:avLst/>
          </a:prstGeom>
        </p:spPr>
      </p:pic>
      <p:pic>
        <p:nvPicPr>
          <p:cNvPr id="855" name="لقطة: copy" descr="c_cop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4450" y="4000500"/>
            <a:ext cx="4953000" cy="35337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23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نتائج مقاسة على بيانات IslamicEval 2025 واختبار إجهاد تركيبي، مع المراجع والتراخيص والحدود المعروفة.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50" b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 · المسار الرابع: أدوات المعرفة والتحقق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605" name="Google Shape;605;p15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الأثر والمؤشرات</a:t>
            </a:r>
            <a:endParaRPr/>
          </a:p>
        </p:txBody>
      </p:sp>
      <p:sp>
        <p:nvSpPr>
          <p:cNvPr id="606" name="Google Shape;606;p15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عيّنة التطوير الرسمية من IslamicEval 2025 (150 ردًّا) واختبار إجهاد تركيبي</a:t>
            </a:r>
            <a:endParaRPr/>
          </a:p>
        </p:txBody>
      </p:sp>
      <p:sp>
        <p:nvSpPr>
          <p:cNvPr id="607" name="Google Shape;607;p15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20</a:t>
            </a:fld>
            <a:endParaRPr/>
          </a:p>
        </p:txBody>
      </p:sp>
      <p:sp>
        <p:nvSpPr>
          <p:cNvPr id="608" name="Google Shape;608;p15"/>
          <p:cNvSpPr txBox="1">
            <a:spLocks noGrp="1"/>
          </p:cNvSpPr>
          <p:nvPr>
            <p:ph type="body" idx="3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93.12%</a:t>
            </a:r>
            <a:endParaRPr/>
          </a:p>
        </p:txBody>
      </p:sp>
      <p:sp>
        <p:nvSpPr>
          <p:cNvPr id="609" name="Google Shape;609;p15"/>
          <p:cNvSpPr txBox="1">
            <a:spLocks noGrp="1"/>
          </p:cNvSpPr>
          <p:nvPr>
            <p:ph type="body" idx="4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دقة الحكم (صحيح/خطأ)</a:t>
            </a:r>
            <a:endParaRPr/>
          </a:p>
        </p:txBody>
      </p:sp>
      <p:sp>
        <p:nvSpPr>
          <p:cNvPr id="610" name="Google Shape;610;p15"/>
          <p:cNvSpPr txBox="1">
            <a:spLocks noGrp="1"/>
          </p:cNvSpPr>
          <p:nvPr>
            <p:ph type="body" idx="5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المهمة 1B · 247 مقطعًا</a:t>
            </a:r>
            <a:endParaRPr/>
          </a:p>
        </p:txBody>
      </p:sp>
      <p:sp>
        <p:nvSpPr>
          <p:cNvPr id="611" name="Google Shape;611;p15"/>
          <p:cNvSpPr txBox="1">
            <a:spLocks noGrp="1"/>
          </p:cNvSpPr>
          <p:nvPr>
            <p:ph type="body" idx="6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>
            <a:spLocks noGrp="1"/>
          </p:cNvSpPr>
          <p:nvPr>
            <p:ph type="body" idx="7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استدعاء الاقتباسات المسنودة بالمدوّنة</a:t>
            </a:r>
            <a:endParaRPr/>
          </a:p>
        </p:txBody>
      </p:sp>
      <p:sp>
        <p:nvSpPr>
          <p:cNvPr id="613" name="Google Shape;613;p15"/>
          <p:cNvSpPr txBox="1">
            <a:spLocks noGrp="1"/>
          </p:cNvSpPr>
          <p:nvPr>
            <p:ph type="body" idx="8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76 مقطعًا بلا علامات اقتباس</a:t>
            </a:r>
            <a:endParaRPr/>
          </a:p>
        </p:txBody>
      </p:sp>
      <p:sp>
        <p:nvSpPr>
          <p:cNvPr id="614" name="Google Shape;614;p15"/>
          <p:cNvSpPr txBox="1">
            <a:spLocks noGrp="1"/>
          </p:cNvSpPr>
          <p:nvPr>
            <p:ph type="body" idx="9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>
            <a:spLocks noGrp="1"/>
          </p:cNvSpPr>
          <p:nvPr>
            <p:ph type="body" idx="13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نص مختلق أو مدمج وُسم موثّقًا</a:t>
            </a:r>
            <a:endParaRPr/>
          </a:p>
        </p:txBody>
      </p:sp>
      <p:sp>
        <p:nvSpPr>
          <p:cNvPr id="616" name="Google Shape;616;p15"/>
          <p:cNvSpPr txBox="1">
            <a:spLocks noGrp="1"/>
          </p:cNvSpPr>
          <p:nvPr>
            <p:ph type="body" idx="14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الإجهاد · 60 حالة لكل نوع</a:t>
            </a:r>
            <a:endParaRPr/>
          </a:p>
        </p:txBody>
      </p:sp>
      <p:sp>
        <p:nvSpPr>
          <p:cNvPr id="617" name="Google Shape;617;p15"/>
          <p:cNvSpPr txBox="1">
            <a:spLocks noGrp="1"/>
          </p:cNvSpPr>
          <p:nvPr>
            <p:ph type="body" idx="15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lang="en-US" sz="5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41,230</a:t>
            </a:r>
            <a:endParaRPr/>
          </a:p>
        </p:txBody>
      </p:sp>
      <p:sp>
        <p:nvSpPr>
          <p:cNvPr id="618" name="Google Shape;618;p15"/>
          <p:cNvSpPr txBox="1">
            <a:spLocks noGrp="1"/>
          </p:cNvSpPr>
          <p:nvPr>
            <p:ph type="body" idx="16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سجلًّا مرجعيًّا مضمّنًا</a:t>
            </a:r>
            <a:endParaRPr/>
          </a:p>
        </p:txBody>
      </p:sp>
      <p:sp>
        <p:nvSpPr>
          <p:cNvPr id="619" name="Google Shape;619;p15"/>
          <p:cNvSpPr txBox="1">
            <a:spLocks noGrp="1"/>
          </p:cNvSpPr>
          <p:nvPr>
            <p:ph type="body" idx="17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lang="ar-SA" sz="2025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6,236 آية + 34,994 حديثًا</a:t>
            </a:r>
            <a:endParaRPr/>
          </a:p>
        </p:txBody>
      </p:sp>
      <p:sp>
        <p:nvSpPr>
          <p:cNvPr id="620" name="Google Shape;620;p15"/>
          <p:cNvSpPr txBox="1">
            <a:spLocks noGrp="1"/>
          </p:cNvSpPr>
          <p:nvPr>
            <p:ph type="body" idx="18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evaluate.py واختبار الإجهاد، 6 أكتوبر 2026 · عيّنة ضُبطت عليها العتبات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640" name="Google Shape;640;p1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مقابل خط الأساس</a:t>
            </a:r>
            <a:endParaRPr/>
          </a:p>
        </p:txBody>
      </p:sp>
      <p:sp>
        <p:nvSpPr>
          <p:cNvPr id="641" name="Google Shape;641;p1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نتائج المهام الثلاث على عيّنة التطوير الرسمية</a:t>
            </a:r>
            <a:endParaRPr/>
          </a:p>
        </p:txBody>
      </p:sp>
      <p:sp>
        <p:nvSpPr>
          <p:cNvPr id="642" name="Google Shape;642;p1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21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0500" cy="447675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Amanah AI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خط الأساس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المقياس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المهمة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0.8274 (قواعد فقط 0.8379)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F1 على مستوى الحرف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1A الكشف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93.12%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59.5%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دقة الحكم · 247 مقطعًا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1B التحقق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74.30%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62.0%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دقة التصحيح · 179 مقطعًا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1C التصحيح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100%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استدعاء المقاطع المسنودة بالمدوّنة (76)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اقتباس بلا علامات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4" name="Google Shape;644;p17"/>
          <p:cNvSpPr txBox="1">
            <a:spLocks noGrp="1"/>
          </p:cNvSpPr>
          <p:nvPr>
            <p:ph type="body" idx="3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الأرقام على بيانات ضُبطت عليها العتبات، فقد تكون أعلى من الأداء على بيانات مستقلة · خط الأساس: «صحيح دائمًا» (1B) و«لا مصدر» دائمًا (1C)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1" name="Google Shape;741;g3fa608e3085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42" name="Google Shape;742;g3fa608e3085_0_0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المؤشرات والأثر</a:t>
            </a:r>
            <a:endParaRPr/>
          </a:p>
        </p:txBody>
      </p:sp>
      <p:sp>
        <p:nvSpPr>
          <p:cNvPr id="743" name="Google Shape;743;g3fa608e3085_0_0"/>
          <p:cNvSpPr txBox="1">
            <a:spLocks noGrp="1"/>
          </p:cNvSpPr>
          <p:nvPr>
            <p:ph type="title"/>
          </p:nvPr>
        </p:nvSpPr>
        <p:spPr>
          <a:xfrm>
            <a:off x="1409700" y="1581150"/>
            <a:ext cx="15430500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Amanah AI يتفوّق على خط الأساس</a:t>
            </a:r>
            <a:endParaRPr dirty="0"/>
          </a:p>
        </p:txBody>
      </p:sp>
      <p:sp>
        <p:nvSpPr>
          <p:cNvPr id="744" name="Google Shape;744;g3fa608e3085_0_0"/>
          <p:cNvSpPr txBox="1">
            <a:spLocks noGrp="1"/>
          </p:cNvSpPr>
          <p:nvPr>
            <p:ph type="body" idx="2"/>
          </p:nvPr>
        </p:nvSpPr>
        <p:spPr>
          <a:xfrm>
            <a:off x="1409700" y="23241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خط الأساس: نظام بسيط يقول «صحيح» دائمًا (1B) و«لا مصدر» دائمًا (1C)</a:t>
            </a:r>
            <a:endParaRPr/>
          </a:p>
        </p:txBody>
      </p:sp>
      <p:sp>
        <p:nvSpPr>
          <p:cNvPr id="745" name="Google Shape;745;g3fa608e3085_0_0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22</a:t>
            </a:fld>
            <a:endParaRPr/>
          </a:p>
        </p:txBody>
      </p:sp>
      <p:sp>
        <p:nvSpPr>
          <p:cNvPr id="746" name="Google Shape;746;g3fa608e3085_0_0"/>
          <p:cNvSpPr txBox="1">
            <a:spLocks noGrp="1"/>
          </p:cNvSpPr>
          <p:nvPr>
            <p:ph type="body" idx="3"/>
          </p:nvPr>
        </p:nvSpPr>
        <p:spPr>
          <a:xfrm>
            <a:off x="2095500" y="8905875"/>
            <a:ext cx="14192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النسبة المئوية % · المصدر: evaluate.py، عيّنة التطوير · 6 أكتوبر 2026</a:t>
            </a:r>
            <a:endParaRPr/>
          </a:p>
        </p:txBody>
      </p:sp>
      <p:pic>
        <p:nvPicPr>
          <p:cNvPr id="785" name="Google Shape;785;g3fa608e3085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86" name="مخطط الدقة"/>
          <p:cNvGraphicFramePr>
            <a:graphicFrameLocks noGrp="1"/>
          </p:cNvGraphicFramePr>
          <p:nvPr/>
        </p:nvGraphicFramePr>
        <p:xfrm>
          <a:off x="1524000" y="3524250"/>
          <a:ext cx="104775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7" name="Rounded Rectangle 786"/>
          <p:cNvSpPr/>
          <p:nvPr/>
        </p:nvSpPr>
        <p:spPr>
          <a:xfrm>
            <a:off x="12668250" y="3667125"/>
            <a:ext cx="4095750" cy="2190750"/>
          </a:xfrm>
          <a:prstGeom prst="roundRect">
            <a:avLst>
              <a:gd name="adj" fmla="val 8000"/>
            </a:avLst>
          </a:prstGeom>
          <a:solidFill>
            <a:srgbClr val="1B2470"/>
          </a:solidFill>
          <a:ln w="31750">
            <a:solidFill>
              <a:srgbClr val="2EF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6000" b="1" dirty="0">
                <a:solidFill>
                  <a:srgbClr val="2EF2C0"/>
                </a:solidFill>
                <a:latin typeface="Readex Pro"/>
              </a:rPr>
              <a:t>+33.6 pts</a:t>
            </a:r>
          </a:p>
          <a:p>
            <a:pPr algn="ctr"/>
            <a:r>
              <a:rPr lang="en-US" sz="2400" b="1" dirty="0">
                <a:solidFill>
                  <a:srgbClr val="FFFFFF"/>
                </a:solidFill>
                <a:latin typeface="Readex Pro"/>
              </a:rPr>
              <a:t>Verification (1B)</a:t>
            </a:r>
          </a:p>
          <a:p>
            <a:pPr algn="ctr"/>
            <a:r>
              <a:rPr lang="en-US" sz="1900" b="0" dirty="0">
                <a:solidFill>
                  <a:srgbClr val="C9CFEA"/>
                </a:solidFill>
                <a:latin typeface="Readex Pro"/>
              </a:rPr>
              <a:t>93.12% vs 59.5% baseline</a:t>
            </a:r>
          </a:p>
        </p:txBody>
      </p:sp>
      <p:sp>
        <p:nvSpPr>
          <p:cNvPr id="788" name="Rounded Rectangle 787"/>
          <p:cNvSpPr/>
          <p:nvPr/>
        </p:nvSpPr>
        <p:spPr>
          <a:xfrm>
            <a:off x="12668250" y="6191250"/>
            <a:ext cx="4095750" cy="2190750"/>
          </a:xfrm>
          <a:prstGeom prst="roundRect">
            <a:avLst>
              <a:gd name="adj" fmla="val 8000"/>
            </a:avLst>
          </a:prstGeom>
          <a:solidFill>
            <a:srgbClr val="1B2470"/>
          </a:solidFill>
          <a:ln w="31750">
            <a:solidFill>
              <a:srgbClr val="2EF2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6000" b="1" dirty="0">
                <a:solidFill>
                  <a:srgbClr val="2EF2C0"/>
                </a:solidFill>
                <a:latin typeface="Readex Pro"/>
              </a:rPr>
              <a:t>+12.3 pts</a:t>
            </a:r>
          </a:p>
          <a:p>
            <a:pPr algn="ctr"/>
            <a:r>
              <a:rPr lang="en-US" sz="2400" b="1" dirty="0">
                <a:solidFill>
                  <a:srgbClr val="FFFFFF"/>
                </a:solidFill>
                <a:latin typeface="Readex Pro"/>
              </a:rPr>
              <a:t>Correction (1C)</a:t>
            </a:r>
          </a:p>
          <a:p>
            <a:pPr algn="ctr"/>
            <a:r>
              <a:rPr lang="en-US" sz="1900" b="0" dirty="0">
                <a:solidFill>
                  <a:srgbClr val="C9CFEA"/>
                </a:solidFill>
                <a:latin typeface="Readex Pro"/>
              </a:rPr>
              <a:t>74.30% vs 62.0% baseline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3" grpId="0"/>
      <p:bldP spid="787" grpId="0" animBg="1"/>
      <p:bldP spid="78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F"/>
        </a:solidFill>
        <a:effectLst/>
      </p:bgPr>
    </p:bg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6" name="Google Shape;626;p16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16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23</a:t>
            </a:fld>
            <a:endParaRPr/>
          </a:p>
        </p:txBody>
      </p:sp>
      <p:sp>
        <p:nvSpPr>
          <p:cNvPr id="628" name="Google Shape;628;p16"/>
          <p:cNvSpPr txBox="1">
            <a:spLocks noGrp="1"/>
          </p:cNvSpPr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lang="ar-SA" sz="55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نظام لا يخترع ولا يخمّن</a:t>
            </a:r>
            <a:endParaRPr dirty="0"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50"/>
              <a:buNone/>
            </a:pPr>
            <a:r>
              <a:rPr lang="ar-SA" sz="555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ويقول «لا أعلم» حين لا يكفي الدليل</a:t>
            </a:r>
            <a:endParaRPr dirty="0"/>
          </a:p>
        </p:txBody>
      </p:sp>
      <p:sp>
        <p:nvSpPr>
          <p:cNvPr id="629" name="Google Shape;629;p16"/>
          <p:cNvSpPr txBox="1">
            <a:spLocks noGrp="1"/>
          </p:cNvSpPr>
          <p:nvPr>
            <p:ph type="body" idx="1"/>
          </p:nvPr>
        </p:nvSpPr>
        <p:spPr>
          <a:xfrm>
            <a:off x="4202375" y="6905625"/>
            <a:ext cx="10752000" cy="5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0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التصحيح منقول من المصدر · لا تخمين · المراجعة البشرية عند الشك</a:t>
            </a:r>
            <a:endParaRPr dirty="0"/>
          </a:p>
        </p:txBody>
      </p:sp>
      <p:pic>
        <p:nvPicPr>
          <p:cNvPr id="631" name="Google Shape;631;p16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8" grpId="0"/>
      <p:bldP spid="629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المراجعة العلمية والتوثيق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المراجع ومصادر البيانات والتراخيص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تحقّقنا من كل ملف بيانات مقابل المصدر الأصلي في 6 أكتوبر 2026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24</a:t>
            </a:fld>
            <a:endParaRPr/>
          </a:p>
        </p:txBody>
      </p:sp>
      <p:sp>
        <p:nvSpPr>
          <p:cNvPr id="9039" name="Card 9039"/>
          <p:cNvSpPr/>
          <p:nvPr/>
        </p:nvSpPr>
        <p:spPr>
          <a:xfrm>
            <a:off x="13540200" y="3750000"/>
            <a:ext cx="33000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 القرآن</a:t>
            </a:r>
          </a:p>
        </p:txBody>
      </p:sp>
      <p:sp>
        <p:nvSpPr>
          <p:cNvPr id="9040" name="Card 9040"/>
          <p:cNvSpPr/>
          <p:nvPr/>
        </p:nvSpPr>
        <p:spPr>
          <a:xfrm>
            <a:off x="1409700" y="3750000"/>
            <a:ext cx="119805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Tanzil · CC BY 3.0: نسخ حرفي فقط مع النسبة إلى tanzil.net، ولا يجوز تغيير النص. تأكّدنا من تطابق 6,236 آية مع ملف المهمة.</a:t>
            </a:r>
          </a:p>
        </p:txBody>
      </p:sp>
      <p:sp>
        <p:nvSpPr>
          <p:cNvPr id="9041" name="Card 9041"/>
          <p:cNvSpPr/>
          <p:nvPr/>
        </p:nvSpPr>
        <p:spPr>
          <a:xfrm>
            <a:off x="13540200" y="4880000"/>
            <a:ext cx="33000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الحديث</a:t>
            </a:r>
          </a:p>
        </p:txBody>
      </p:sp>
      <p:sp>
        <p:nvSpPr>
          <p:cNvPr id="9042" name="Card 9042"/>
          <p:cNvSpPr/>
          <p:nvPr/>
        </p:nvSpPr>
        <p:spPr>
          <a:xfrm>
            <a:off x="1409700" y="4880000"/>
            <a:ext cx="119805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الكتب الستة من مستودع IslamicEval (Apache-2.0)، وأصلها مستودع KASHAF (GPL-3.0). لا يُنصّ على ترخيص مستقل للنصوص، فالاستخدام بحثي غير تجاري. 34,994 من 34,994 سجلًّا مطابقة.</a:t>
            </a:r>
          </a:p>
        </p:txBody>
      </p:sp>
      <p:sp>
        <p:nvSpPr>
          <p:cNvPr id="9043" name="Card 9043"/>
          <p:cNvSpPr/>
          <p:nvPr/>
        </p:nvSpPr>
        <p:spPr>
          <a:xfrm>
            <a:off x="13540200" y="6010000"/>
            <a:ext cx="33000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بيانات التطوير</a:t>
            </a:r>
          </a:p>
        </p:txBody>
      </p:sp>
      <p:sp>
        <p:nvSpPr>
          <p:cNvPr id="9044" name="Card 9044"/>
          <p:cNvSpPr/>
          <p:nvPr/>
        </p:nvSpPr>
        <p:spPr>
          <a:xfrm>
            <a:off x="1409700" y="6010000"/>
            <a:ext cx="119805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IslamicEval 2025 (Apache-2.0): 150 ردًّا حقيقيًّا، و150 من 150 مطابقة لملفات XML الرسمية.</a:t>
            </a:r>
          </a:p>
        </p:txBody>
      </p:sp>
      <p:sp>
        <p:nvSpPr>
          <p:cNvPr id="9045" name="Card 9045"/>
          <p:cNvSpPr/>
          <p:nvPr/>
        </p:nvSpPr>
        <p:spPr>
          <a:xfrm>
            <a:off x="13540200" y="7140000"/>
            <a:ext cx="33000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الكود</a:t>
            </a:r>
          </a:p>
        </p:txBody>
      </p:sp>
      <p:sp>
        <p:nvSpPr>
          <p:cNvPr id="9046" name="Card 9046"/>
          <p:cNvSpPr/>
          <p:nvPr/>
        </p:nvSpPr>
        <p:spPr>
          <a:xfrm>
            <a:off x="1409700" y="7140000"/>
            <a:ext cx="119805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MIT للكود فقط، وملفات data/ مصادر خارجية لا يشملها هذا الترخيص.</a:t>
            </a:r>
          </a:p>
        </p:txBody>
      </p:sp>
      <p:sp>
        <p:nvSpPr>
          <p:cNvPr id="9047" name="Card 9047"/>
          <p:cNvSpPr/>
          <p:nvPr/>
        </p:nvSpPr>
        <p:spPr>
          <a:xfrm>
            <a:off x="13540200" y="8270000"/>
            <a:ext cx="33000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المراجع</a:t>
            </a:r>
          </a:p>
        </p:txBody>
      </p:sp>
      <p:sp>
        <p:nvSpPr>
          <p:cNvPr id="9048" name="Card 9048"/>
          <p:cNvSpPr/>
          <p:nvPr/>
        </p:nvSpPr>
        <p:spPr>
          <a:xfrm>
            <a:off x="1409700" y="8270000"/>
            <a:ext cx="11980500" cy="1000000"/>
          </a:xfrm>
          <a:prstGeom prst="roundRect">
            <a:avLst>
              <a:gd name="adj" fmla="val 7000"/>
            </a:avLst>
          </a:prstGeom>
          <a:solidFill>
            <a:srgbClr val="141B52">
              <a:alpha val="60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ctr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Mubarak et al. (2025), ACL Anthology 2025.arabicnlp-sharedtasks.67 · Tanzil Project · Shafie (2021), KASHAF, جامعة حمد بن خليفة.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المراجعة العلمية والتوثيق</a:t>
            </a:r>
            <a:endParaRPr/>
          </a:p>
        </p:txBody>
      </p:sp>
      <p:sp>
        <p:nvSpPr>
          <p:cNvPr id="861" name="Google Shape;861;p2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الاختبار والحدود المعروفة</a:t>
            </a:r>
            <a:endParaRPr/>
          </a:p>
        </p:txBody>
      </p:sp>
      <p:sp>
        <p:nvSpPr>
          <p:cNvPr id="862" name="Google Shape;862;p2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فحصناه وما لا ندّعيه</a:t>
            </a:r>
            <a:endParaRPr/>
          </a:p>
        </p:txBody>
      </p:sp>
      <p:sp>
        <p:nvSpPr>
          <p:cNvPr id="863" name="Google Shape;863;p2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25</a:t>
            </a:fld>
            <a:endParaRPr/>
          </a:p>
        </p:txBody>
      </p:sp>
      <p:sp>
        <p:nvSpPr>
          <p:cNvPr id="9049" name="Card 9049"/>
          <p:cNvSpPr/>
          <p:nvPr/>
        </p:nvSpPr>
        <p:spPr>
          <a:xfrm>
            <a:off x="9274950" y="3750000"/>
            <a:ext cx="7565250" cy="53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2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اختُبر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69 اختبارًا: التطبيع والكشف والمحاذاة والقرارات والتأسيس وصرامة الحديث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كل مثال من الأمثلة الـ25 يعيد حالاته المخزّنة ويُعرض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إجهاد تركيبي: لم يُوسم أي نص مختلق أو مدمج موثّقًا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فحص ذاتي: كل مرجع وتصحيح يوجد حرفيًّا في السجل المستشهد به</a:t>
            </a:r>
          </a:p>
        </p:txBody>
      </p:sp>
      <p:sp>
        <p:nvSpPr>
          <p:cNvPr id="9050" name="Card 9050"/>
          <p:cNvSpPr/>
          <p:nvPr/>
        </p:nvSpPr>
        <p:spPr>
          <a:xfrm>
            <a:off x="1409700" y="3750000"/>
            <a:ext cx="7565250" cy="5300000"/>
          </a:xfrm>
          <a:prstGeom prst="roundRect">
            <a:avLst>
              <a:gd name="adj" fmla="val 7000"/>
            </a:avLst>
          </a:prstGeom>
          <a:solidFill>
            <a:srgbClr val="141B52">
              <a:alpha val="78000"/>
            </a:srgbClr>
          </a:solidFill>
          <a:ln w="12700">
            <a:solidFill>
              <a:srgbClr val="2EF2C2">
                <a:alpha val="35000"/>
              </a:srgbClr>
            </a:solidFill>
          </a:ln>
        </p:spPr>
        <p:txBody>
          <a:bodyPr wrap="square" lIns="230000" tIns="170000" rIns="230000" bIns="170000" anchor="t">
            <a:noAutofit/>
          </a:bodyPr>
          <a:lstStyle/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2400" b="1">
                <a:solidFill>
                  <a:srgbClr val="FFB86B"/>
                </a:solidFill>
                <a:latin typeface="Readex Pro"/>
                <a:ea typeface="Readex Pro"/>
                <a:cs typeface="Readex Pro"/>
                <a:sym typeface="Readex Pro"/>
              </a:rPr>
              <a:t>حدود نصرّح بها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العتبات ضُبطت على عيّنة التطوير نفسها، فالأرقام متفائلة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مطابقة مدوّنة لا فهم: وُجد الحديث بلا علامات في 73% من حالات الإجهاد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تصحيح آلي للحديث، وصحة الحديث ودرجته والفقه خارج النطاق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ترخيص جمع الحديث الرقمي غير منصوص عليه في المصدر</a:t>
            </a:r>
          </a:p>
          <a:p>
            <a:pPr marL="0" indent="0" algn="r" rtl="1">
              <a:spcBef>
                <a:spcPts val="0"/>
              </a:spcBef>
              <a:spcAft>
                <a:spcPts val="800"/>
              </a:spcAft>
              <a:buNone/>
            </a:pPr>
            <a:r>
              <a:rPr lang="ar-SA" sz="18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نسخة المتصفح لم تُشغَّل من البداية للنهاية في بيئة الإعداد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والتشغيل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49"/>
            <a:ext cx="7015500" cy="123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تشغيل بتكلفة حالية صفرية على بنية مجانية، وخطة لمراجعة المحتوى.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640" name="Google Shape;640;p17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حصر التكاليف وآليات التخفيض</a:t>
            </a:r>
            <a:endParaRPr/>
          </a:p>
        </p:txBody>
      </p:sp>
      <p:sp>
        <p:nvSpPr>
          <p:cNvPr id="641" name="Google Shape;641;p17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خطة واقعية لتغطية وتخفيض الاحتياجات التشغيلية للمشروع</a:t>
            </a:r>
            <a:endParaRPr/>
          </a:p>
        </p:txBody>
      </p:sp>
      <p:sp>
        <p:nvSpPr>
          <p:cNvPr id="642" name="Google Shape;642;p17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27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15430500" cy="447675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آلية التخفيض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النوع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الوصف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427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طبقة مجانية ثم توسّع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متطلب تشغيلي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Hugging Face Spaces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استضافة الموقع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مفتوح ومجاني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متطلب تقني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Cloudflare Workers AI لتوليد الإجابات فقط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وسيط الإجابة (API)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شراكات ومتطوعون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دورية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تدقيق المصادر والأمثلة المحفوظة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موارد الفريق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فريق التقنية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تحسين الأداء وإصلاح الأخطاء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الصيانة والتطوير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23D6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61D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4" name="Google Shape;644;p17"/>
          <p:cNvSpPr txBox="1">
            <a:spLocks noGrp="1"/>
          </p:cNvSpPr>
          <p:nvPr>
            <p:ph type="body" idx="3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التحقق نفسه يعمل في متصفح المستخدم فلا تكلفة معالجة على الخادم · تقدير مبدئي، وحدود الطبقات المجانية قد تتغير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28</a:t>
            </a:fld>
            <a:endParaRPr/>
          </a:p>
        </p:txBody>
      </p:sp>
      <p:sp>
        <p:nvSpPr>
          <p:cNvPr id="652" name="Google Shape;652;p18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653" name="Google Shape;653;p18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خطة التنفيذ</a:t>
            </a:r>
            <a:endParaRPr/>
          </a:p>
        </p:txBody>
      </p:sp>
      <p:sp>
        <p:nvSpPr>
          <p:cNvPr id="654" name="Google Shape;654;p18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المرحلة الأولى: 6 أشهر</a:t>
            </a:r>
            <a:endParaRPr/>
          </a:p>
        </p:txBody>
      </p:sp>
      <p:sp>
        <p:nvSpPr>
          <p:cNvPr id="655" name="Google Shape;655;p18"/>
          <p:cNvSpPr txBox="1">
            <a:spLocks noGrp="1"/>
          </p:cNvSpPr>
          <p:nvPr>
            <p:ph type="body" idx="3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>
            <a:spLocks noGrp="1"/>
          </p:cNvSpPr>
          <p:nvPr>
            <p:ph type="body" idx="4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الإطلاق</a:t>
            </a:r>
            <a:endParaRPr/>
          </a:p>
        </p:txBody>
      </p:sp>
      <p:sp>
        <p:nvSpPr>
          <p:cNvPr id="657" name="Google Shape;657;p18"/>
          <p:cNvSpPr txBox="1">
            <a:spLocks noGrp="1"/>
          </p:cNvSpPr>
          <p:nvPr>
            <p:ph type="body" idx="5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1</a:t>
            </a:r>
            <a:endParaRPr/>
          </a:p>
        </p:txBody>
      </p:sp>
      <p:sp>
        <p:nvSpPr>
          <p:cNvPr id="658" name="Google Shape;658;p18"/>
          <p:cNvSpPr txBox="1">
            <a:spLocks noGrp="1"/>
          </p:cNvSpPr>
          <p:nvPr>
            <p:ph type="body" idx="6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نسخة أولى وضبط التكاليف</a:t>
            </a:r>
            <a:endParaRPr/>
          </a:p>
        </p:txBody>
      </p:sp>
      <p:sp>
        <p:nvSpPr>
          <p:cNvPr id="659" name="Google Shape;659;p18"/>
          <p:cNvSpPr txBox="1">
            <a:spLocks noGrp="1"/>
          </p:cNvSpPr>
          <p:nvPr>
            <p:ph type="body" idx="7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>
            <a:spLocks noGrp="1"/>
          </p:cNvSpPr>
          <p:nvPr>
            <p:ph type="body" idx="8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المراجعة الدورية</a:t>
            </a:r>
            <a:endParaRPr/>
          </a:p>
        </p:txBody>
      </p:sp>
      <p:sp>
        <p:nvSpPr>
          <p:cNvPr id="661" name="Google Shape;661;p18"/>
          <p:cNvSpPr txBox="1">
            <a:spLocks noGrp="1"/>
          </p:cNvSpPr>
          <p:nvPr>
            <p:ph type="body" idx="9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2</a:t>
            </a:r>
            <a:endParaRPr/>
          </a:p>
        </p:txBody>
      </p:sp>
      <p:sp>
        <p:nvSpPr>
          <p:cNvPr id="662" name="Google Shape;662;p18"/>
          <p:cNvSpPr txBox="1">
            <a:spLocks noGrp="1"/>
          </p:cNvSpPr>
          <p:nvPr>
            <p:ph type="body" idx="13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تحديث المصادر والفهارس</a:t>
            </a:r>
            <a:endParaRPr/>
          </a:p>
        </p:txBody>
      </p:sp>
      <p:sp>
        <p:nvSpPr>
          <p:cNvPr id="663" name="Google Shape;663;p18"/>
          <p:cNvSpPr txBox="1">
            <a:spLocks noGrp="1"/>
          </p:cNvSpPr>
          <p:nvPr>
            <p:ph type="body" idx="14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>
            <a:spLocks noGrp="1"/>
          </p:cNvSpPr>
          <p:nvPr>
            <p:ph type="body" idx="15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الكفاءة</a:t>
            </a:r>
            <a:endParaRPr/>
          </a:p>
        </p:txBody>
      </p:sp>
      <p:sp>
        <p:nvSpPr>
          <p:cNvPr id="665" name="Google Shape;665;p18"/>
          <p:cNvSpPr txBox="1">
            <a:spLocks noGrp="1"/>
          </p:cNvSpPr>
          <p:nvPr>
            <p:ph type="body" idx="16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الشهران 3–4</a:t>
            </a:r>
            <a:endParaRPr/>
          </a:p>
        </p:txBody>
      </p:sp>
      <p:sp>
        <p:nvSpPr>
          <p:cNvPr id="666" name="Google Shape;666;p18"/>
          <p:cNvSpPr txBox="1">
            <a:spLocks noGrp="1"/>
          </p:cNvSpPr>
          <p:nvPr>
            <p:ph type="body" idx="17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نماذج محلية لتقليل استهلاك API</a:t>
            </a:r>
            <a:endParaRPr/>
          </a:p>
        </p:txBody>
      </p:sp>
      <p:sp>
        <p:nvSpPr>
          <p:cNvPr id="667" name="Google Shape;667;p18"/>
          <p:cNvSpPr txBox="1">
            <a:spLocks noGrp="1"/>
          </p:cNvSpPr>
          <p:nvPr>
            <p:ph type="body" idx="18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>
            <a:spLocks noGrp="1"/>
          </p:cNvSpPr>
          <p:nvPr>
            <p:ph type="body" idx="19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الشراكات</a:t>
            </a:r>
            <a:endParaRPr/>
          </a:p>
        </p:txBody>
      </p:sp>
      <p:sp>
        <p:nvSpPr>
          <p:cNvPr id="669" name="Google Shape;669;p18"/>
          <p:cNvSpPr txBox="1">
            <a:spLocks noGrp="1"/>
          </p:cNvSpPr>
          <p:nvPr>
            <p:ph type="body" idx="20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5</a:t>
            </a:r>
            <a:endParaRPr/>
          </a:p>
        </p:txBody>
      </p:sp>
      <p:sp>
        <p:nvSpPr>
          <p:cNvPr id="670" name="Google Shape;670;p18"/>
          <p:cNvSpPr txBox="1">
            <a:spLocks noGrp="1"/>
          </p:cNvSpPr>
          <p:nvPr>
            <p:ph type="body" idx="21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مؤسسات تهتم بالمحتوى الإسلامي</a:t>
            </a:r>
            <a:endParaRPr/>
          </a:p>
        </p:txBody>
      </p:sp>
      <p:sp>
        <p:nvSpPr>
          <p:cNvPr id="671" name="Google Shape;671;p18"/>
          <p:cNvSpPr txBox="1">
            <a:spLocks noGrp="1"/>
          </p:cNvSpPr>
          <p:nvPr>
            <p:ph type="body" idx="22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lang="ar-SA" sz="39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>
            <a:spLocks noGrp="1"/>
          </p:cNvSpPr>
          <p:nvPr>
            <p:ph type="body" idx="23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التوسع</a:t>
            </a:r>
            <a:endParaRPr/>
          </a:p>
        </p:txBody>
      </p:sp>
      <p:sp>
        <p:nvSpPr>
          <p:cNvPr id="673" name="Google Shape;673;p18"/>
          <p:cNvSpPr txBox="1">
            <a:spLocks noGrp="1"/>
          </p:cNvSpPr>
          <p:nvPr>
            <p:ph type="body" idx="24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6</a:t>
            </a:r>
            <a:endParaRPr/>
          </a:p>
        </p:txBody>
      </p:sp>
      <p:sp>
        <p:nvSpPr>
          <p:cNvPr id="674" name="Google Shape;674;p18"/>
          <p:cNvSpPr txBox="1">
            <a:spLocks noGrp="1"/>
          </p:cNvSpPr>
          <p:nvPr>
            <p:ph type="body" idx="25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جديدة من ملاحظات المستخدمين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w="76200" cap="flat" cmpd="sng">
            <a:solidFill>
              <a:srgbClr val="6150EA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2" name="Google Shape;79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93" name="Google Shape;793;p23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794" name="Google Shape;794;p23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نسب تغطية التكاليف (مستهدفة)</a:t>
            </a:r>
            <a:endParaRPr/>
          </a:p>
        </p:txBody>
      </p:sp>
      <p:sp>
        <p:nvSpPr>
          <p:cNvPr id="795" name="Google Shape;795;p23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تقدير تخطيطي للمرحلة الأولى، وليس رقمًا مقيسًا</a:t>
            </a:r>
            <a:endParaRPr/>
          </a:p>
        </p:txBody>
      </p:sp>
      <p:sp>
        <p:nvSpPr>
          <p:cNvPr id="796" name="Google Shape;796;p23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29</a:t>
            </a:fld>
            <a:endParaRPr/>
          </a:p>
        </p:txBody>
      </p:sp>
      <p:sp>
        <p:nvSpPr>
          <p:cNvPr id="797" name="Google Shape;797;p23"/>
          <p:cNvSpPr txBox="1">
            <a:spLocks noGrp="1"/>
          </p:cNvSpPr>
          <p:nvPr>
            <p:ph type="body" idx="3"/>
          </p:nvPr>
        </p:nvSpPr>
        <p:spPr>
          <a:xfrm>
            <a:off x="14097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نسب مستهدفة من تقدير الفريق، ويجري التفاوض عليها مع الجهات المهتمة</a:t>
            </a:r>
            <a:endParaRPr/>
          </a:p>
        </p:txBody>
      </p:sp>
      <p:pic>
        <p:nvPicPr>
          <p:cNvPr id="811" name="Google Shape;811;p2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12" name="مخطط نسب التغطية"/>
          <p:cNvGraphicFramePr>
            <a:graphicFrameLocks noGrp="1"/>
          </p:cNvGraphicFramePr>
          <p:nvPr/>
        </p:nvGraphicFramePr>
        <p:xfrm>
          <a:off x="2857500" y="3714750"/>
          <a:ext cx="12573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الاستدامة المالية والتشغيل</a:t>
            </a:r>
            <a:endParaRPr/>
          </a:p>
        </p:txBody>
      </p:sp>
      <p:sp>
        <p:nvSpPr>
          <p:cNvPr id="884" name="Google Shape;884;p28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نموذج تغطية التكاليف والاستمرارية</a:t>
            </a:r>
            <a:endParaRPr/>
          </a:p>
        </p:txBody>
      </p:sp>
      <p:sp>
        <p:nvSpPr>
          <p:cNvPr id="885" name="Google Shape;885;p28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خيارات التمويل المتاحة</a:t>
            </a:r>
            <a:endParaRPr/>
          </a:p>
        </p:txBody>
      </p:sp>
      <p:sp>
        <p:nvSpPr>
          <p:cNvPr id="886" name="Google Shape;886;p28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30</a:t>
            </a:fld>
            <a:endParaRPr/>
          </a:p>
        </p:txBody>
      </p:sp>
      <p:sp>
        <p:nvSpPr>
          <p:cNvPr id="887" name="Google Shape;887;p28"/>
          <p:cNvSpPr txBox="1">
            <a:spLocks noGrp="1"/>
          </p:cNvSpPr>
          <p:nvPr>
            <p:ph type="body" idx="3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الشراكات والرعايات</a:t>
            </a:r>
            <a:endParaRPr/>
          </a:p>
        </p:txBody>
      </p:sp>
      <p:sp>
        <p:nvSpPr>
          <p:cNvPr id="888" name="Google Shape;888;p28"/>
          <p:cNvSpPr txBox="1">
            <a:spLocks noGrp="1"/>
          </p:cNvSpPr>
          <p:nvPr>
            <p:ph type="body" idx="4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تمويل من مؤسسات مهتمة بالمحتوى الإسلامي</a:t>
            </a:r>
            <a:endParaRPr/>
          </a:p>
        </p:txBody>
      </p:sp>
      <p:sp>
        <p:nvSpPr>
          <p:cNvPr id="889" name="Google Shape;889;p28"/>
          <p:cNvSpPr txBox="1">
            <a:spLocks noGrp="1"/>
          </p:cNvSpPr>
          <p:nvPr>
            <p:ph type="body" idx="5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 المفتوحة والموارد الذاتية</a:t>
            </a:r>
            <a:endParaRPr/>
          </a:p>
        </p:txBody>
      </p:sp>
      <p:sp>
        <p:nvSpPr>
          <p:cNvPr id="890" name="Google Shape;890;p28"/>
          <p:cNvSpPr txBox="1">
            <a:spLocks noGrp="1"/>
          </p:cNvSpPr>
          <p:nvPr>
            <p:ph type="body" idx="6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ar-SA" sz="24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أدنى تكلفة دون تمويل خارجي كبير</a:t>
            </a:r>
            <a:endParaRPr/>
          </a:p>
        </p:txBody>
      </p:sp>
      <p:sp>
        <p:nvSpPr>
          <p:cNvPr id="891" name="Google Shape;891;p28"/>
          <p:cNvSpPr txBox="1">
            <a:spLocks noGrp="1"/>
          </p:cNvSpPr>
          <p:nvPr>
            <p:ph type="body" idx="7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الميزة: تغطية الاستضافة والنماذج عبر الرعاة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القيد: إبرام شراكات استراتيجية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يناسب: مرحلة الإطلاق والتوسع</a:t>
            </a:r>
            <a:endParaRPr/>
          </a:p>
        </p:txBody>
      </p:sp>
      <p:sp>
        <p:nvSpPr>
          <p:cNvPr id="892" name="Google Shape;892;p28"/>
          <p:cNvSpPr txBox="1">
            <a:spLocks noGrp="1"/>
          </p:cNvSpPr>
          <p:nvPr>
            <p:ph type="body" idx="8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الميزة: تكلفة حالية صفرية على بنية مجانية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القيد: حدود الطبقات المجانية وجهد الفريق</a:t>
            </a:r>
            <a:endParaRPr/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endParaRPr sz="2550" b="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lang="ar-SA" sz="255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يناسب: المرحلة الأولى والتجريبية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31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15430500" cy="447675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1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1050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الموعد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1" u="none" strike="noStrike" cap="non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0D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 كل تحديث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تدقيق مخرجات النظام على الأمثلة المحفوظة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النصوص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شهريًّا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الفريق التقني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إضافة مصادر وإعادة بناء الفهارس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تحديث قاعدة البيانات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أسبوعيًّا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التقنية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متابعة حصص الطبقات المجانية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مراقبة التكاليف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نهاية كل مرحلة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الفريق كاملًا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تقييم الدقة بـ evaluate.py واختبار الإجهاد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lang="ar-SA" sz="2250" b="0" u="none" strike="noStrike" cap="non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تقييم الأداء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0D9F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A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32" name="Google Shape;732;p21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استمرارية المحتوى</a:t>
            </a:r>
            <a:endParaRPr/>
          </a:p>
        </p:txBody>
      </p:sp>
      <p:sp>
        <p:nvSpPr>
          <p:cNvPr id="733" name="Google Shape;733;p21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جدولة مراجعة وتحديث البيانات</a:t>
            </a:r>
            <a:endParaRPr/>
          </a:p>
        </p:txBody>
      </p:sp>
      <p:sp>
        <p:nvSpPr>
          <p:cNvPr id="734" name="Google Shape;734;p21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خريطة توزيع المهام والمسؤوليات لمراجعة وتأمين المحتوى</a:t>
            </a:r>
            <a:endParaRPr/>
          </a:p>
        </p:txBody>
      </p:sp>
      <p:sp>
        <p:nvSpPr>
          <p:cNvPr id="735" name="Google Shape;735;p21"/>
          <p:cNvSpPr txBox="1">
            <a:spLocks noGrp="1"/>
          </p:cNvSpPr>
          <p:nvPr>
            <p:ph type="body" idx="3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الأدوار موزّعة على أعضاء الفريق الحاليين، ويمكن إسناد مراجعة المحتوى لمختصين شرعيين لاحقًا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3F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10" title="خلفية هكثون3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10"/>
          <p:cNvSpPr txBox="1">
            <a:spLocks noGrp="1"/>
          </p:cNvSpPr>
          <p:nvPr>
            <p:ph type="body" idx="1"/>
          </p:nvPr>
        </p:nvSpPr>
        <p:spPr>
          <a:xfrm>
            <a:off x="13125450" y="3143250"/>
            <a:ext cx="36195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</a:pPr>
            <a:r>
              <a:rPr lang="ar-SA" sz="84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28" name="Google Shape;528;p10"/>
          <p:cNvSpPr txBox="1">
            <a:spLocks noGrp="1"/>
          </p:cNvSpPr>
          <p:nvPr>
            <p:ph type="title"/>
          </p:nvPr>
        </p:nvSpPr>
        <p:spPr>
          <a:xfrm>
            <a:off x="9179000" y="4810125"/>
            <a:ext cx="7566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ar-SA" sz="60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 والدعم</a:t>
            </a:r>
            <a:endParaRPr dirty="0"/>
          </a:p>
        </p:txBody>
      </p:sp>
      <p:sp>
        <p:nvSpPr>
          <p:cNvPr id="529" name="Google Shape;529;p10"/>
          <p:cNvSpPr txBox="1">
            <a:spLocks noGrp="1"/>
          </p:cNvSpPr>
          <p:nvPr>
            <p:ph type="body" idx="2"/>
          </p:nvPr>
        </p:nvSpPr>
        <p:spPr>
          <a:xfrm>
            <a:off x="9729275" y="6572250"/>
            <a:ext cx="7015500" cy="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lang="ar-SA" sz="28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Amanah AI وخطط التوسع.</a:t>
            </a:r>
            <a:endParaRPr dirty="0"/>
          </a:p>
        </p:txBody>
      </p:sp>
      <p:pic>
        <p:nvPicPr>
          <p:cNvPr id="530" name="Google Shape;53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8" grpId="0"/>
      <p:bldP spid="529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702" name="بطاقة ممدوح فاروق فرغلي"/>
          <p:cNvSpPr/>
          <p:nvPr/>
        </p:nvSpPr>
        <p:spPr>
          <a:xfrm>
            <a:off x="3048000" y="3810000"/>
            <a:ext cx="5715000" cy="5334000"/>
          </a:xfrm>
          <a:prstGeom prst="roundRect">
            <a:avLst>
              <a:gd name="adj" fmla="val 6000"/>
            </a:avLst>
          </a:prstGeom>
          <a:solidFill>
            <a:srgbClr val="141B5C"/>
          </a:solidFill>
          <a:ln w="19050">
            <a:solidFill>
              <a:srgbClr val="3A4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8" name="بطاقة غادة رجب علي محمود"/>
          <p:cNvSpPr/>
          <p:nvPr/>
        </p:nvSpPr>
        <p:spPr>
          <a:xfrm>
            <a:off x="9525000" y="3810000"/>
            <a:ext cx="5715000" cy="5334000"/>
          </a:xfrm>
          <a:prstGeom prst="roundRect">
            <a:avLst>
              <a:gd name="adj" fmla="val 6000"/>
            </a:avLst>
          </a:prstGeom>
          <a:solidFill>
            <a:srgbClr val="141B5C"/>
          </a:solidFill>
          <a:ln w="19050">
            <a:solidFill>
              <a:srgbClr val="3A4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8" name="Google Shape;688;p19"/>
          <p:cNvSpPr txBox="1">
            <a:spLocks noGrp="1"/>
          </p:cNvSpPr>
          <p:nvPr>
            <p:ph type="body" idx="1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ar-SA" sz="18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 والدعم</a:t>
            </a:r>
            <a:endParaRPr/>
          </a:p>
        </p:txBody>
      </p:sp>
      <p:sp>
        <p:nvSpPr>
          <p:cNvPr id="689" name="Google Shape;689;p19"/>
          <p:cNvSpPr txBox="1">
            <a:spLocks noGrp="1"/>
          </p:cNvSpPr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ar-SA" sz="45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>
            <a:spLocks noGrp="1"/>
          </p:cNvSpPr>
          <p:nvPr>
            <p:ph type="body" idx="2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Amanah AI</a:t>
            </a:r>
            <a:endParaRPr/>
          </a:p>
        </p:txBody>
      </p:sp>
      <p:sp>
        <p:nvSpPr>
          <p:cNvPr id="691" name="Google Shape;691;p19"/>
          <p:cNvSpPr txBox="1">
            <a:spLocks noGrp="1"/>
          </p:cNvSpPr>
          <p:nvPr>
            <p:ph type="sldNum" idx="12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33</a:t>
            </a:fld>
            <a:endParaRPr/>
          </a:p>
        </p:txBody>
      </p:sp>
      <p:sp>
        <p:nvSpPr>
          <p:cNvPr id="693" name="Google Shape;693;p19"/>
          <p:cNvSpPr txBox="1">
            <a:spLocks noGrp="1"/>
          </p:cNvSpPr>
          <p:nvPr>
            <p:ph type="body" idx="4"/>
          </p:nvPr>
        </p:nvSpPr>
        <p:spPr>
          <a:xfrm>
            <a:off x="9715500" y="6191250"/>
            <a:ext cx="53340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غادة رجب علي محمود</a:t>
            </a:r>
            <a:endParaRPr/>
          </a:p>
        </p:txBody>
      </p:sp>
      <p:sp>
        <p:nvSpPr>
          <p:cNvPr id="694" name="Google Shape;694;p19"/>
          <p:cNvSpPr txBox="1">
            <a:spLocks noGrp="1"/>
          </p:cNvSpPr>
          <p:nvPr>
            <p:ph type="body" idx="5"/>
          </p:nvPr>
        </p:nvSpPr>
        <p:spPr>
          <a:xfrm>
            <a:off x="9715500" y="7572375"/>
            <a:ext cx="5334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مطوّرة ذكاء اصطناعي وواجهة المستخدم</a:t>
            </a:r>
            <a:endParaRPr/>
          </a:p>
        </p:txBody>
      </p:sp>
      <p:sp>
        <p:nvSpPr>
          <p:cNvPr id="696" name="Google Shape;696;p19"/>
          <p:cNvSpPr txBox="1">
            <a:spLocks noGrp="1"/>
          </p:cNvSpPr>
          <p:nvPr>
            <p:ph type="body" idx="7"/>
          </p:nvPr>
        </p:nvSpPr>
        <p:spPr>
          <a:xfrm>
            <a:off x="3238500" y="6191250"/>
            <a:ext cx="53340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1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ممدوح فاروق فرغلي</a:t>
            </a:r>
            <a:endParaRPr/>
          </a:p>
        </p:txBody>
      </p:sp>
      <p:sp>
        <p:nvSpPr>
          <p:cNvPr id="697" name="Google Shape;697;p19"/>
          <p:cNvSpPr txBox="1">
            <a:spLocks noGrp="1"/>
          </p:cNvSpPr>
          <p:nvPr>
            <p:ph type="body" idx="8"/>
          </p:nvPr>
        </p:nvSpPr>
        <p:spPr>
          <a:xfrm>
            <a:off x="3238500" y="7572375"/>
            <a:ext cx="5334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ذكاء اصطناعي</a:t>
            </a:r>
            <a:endParaRPr/>
          </a:p>
        </p:txBody>
      </p:sp>
      <p:pic>
        <p:nvPicPr>
          <p:cNvPr id="699" name="أفاتار غادة رجب علي محمود" descr="avatar_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4095750"/>
            <a:ext cx="1905000" cy="1905000"/>
          </a:xfrm>
          <a:prstGeom prst="rect">
            <a:avLst/>
          </a:prstGeom>
        </p:spPr>
      </p:pic>
      <p:sp>
        <p:nvSpPr>
          <p:cNvPr id="700" name="Rounded Rectangle 699"/>
          <p:cNvSpPr/>
          <p:nvPr/>
        </p:nvSpPr>
        <p:spPr>
          <a:xfrm>
            <a:off x="11334750" y="6934200"/>
            <a:ext cx="2095500" cy="438150"/>
          </a:xfrm>
          <a:prstGeom prst="roundRect">
            <a:avLst>
              <a:gd name="adj" fmla="val 50000"/>
            </a:avLst>
          </a:prstGeom>
          <a:solidFill>
            <a:srgbClr val="2EF2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03A"/>
                </a:solidFill>
                <a:latin typeface="Readex Pro"/>
              </a:rPr>
              <a:t>قائدة الفريق</a:t>
            </a:r>
          </a:p>
        </p:txBody>
      </p:sp>
      <p:sp>
        <p:nvSpPr>
          <p:cNvPr id="701" name="TextBox 700"/>
          <p:cNvSpPr txBox="1"/>
          <p:nvPr/>
        </p:nvSpPr>
        <p:spPr>
          <a:xfrm>
            <a:off x="9715500" y="8553450"/>
            <a:ext cx="5334000" cy="419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>
                <a:solidFill>
                  <a:srgbClr val="A9B6FF"/>
                </a:solidFill>
                <a:latin typeface="Readex Pro"/>
              </a:rPr>
              <a:t>ghadaragabaliragabali@gmail.com</a:t>
            </a:r>
          </a:p>
        </p:txBody>
      </p:sp>
      <p:pic>
        <p:nvPicPr>
          <p:cNvPr id="703" name="أفاتار ممدوح فاروق فرغلي" descr="avatar_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3000" y="4095750"/>
            <a:ext cx="1905000" cy="1905000"/>
          </a:xfrm>
          <a:prstGeom prst="rect">
            <a:avLst/>
          </a:prstGeom>
        </p:spPr>
      </p:pic>
      <p:sp>
        <p:nvSpPr>
          <p:cNvPr id="704" name="Rounded Rectangle 703"/>
          <p:cNvSpPr/>
          <p:nvPr/>
        </p:nvSpPr>
        <p:spPr>
          <a:xfrm>
            <a:off x="4857750" y="6934200"/>
            <a:ext cx="2095500" cy="438150"/>
          </a:xfrm>
          <a:prstGeom prst="roundRect">
            <a:avLst>
              <a:gd name="adj" fmla="val 50000"/>
            </a:avLst>
          </a:prstGeom>
          <a:solidFill>
            <a:srgbClr val="6A5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Readex Pro"/>
              </a:rPr>
              <a:t>عضو الفريق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3238500" y="8553450"/>
            <a:ext cx="5334000" cy="419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>
                <a:solidFill>
                  <a:srgbClr val="A9B6FF"/>
                </a:solidFill>
                <a:latin typeface="Readex Pro"/>
              </a:rPr>
              <a:t>mamfarouk@aun.edu.eg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2" grpId="0" animBg="1"/>
      <p:bldP spid="69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>
            <a:spLocks noGrp="1"/>
          </p:cNvSpPr>
          <p:nvPr>
            <p:ph type="body" idx="1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ar-SA" sz="2700" b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Amanah AI · غادة رجب علي محمود · ممدوح فاروق فرغلي</a:t>
            </a:r>
            <a:endParaRPr/>
          </a:p>
        </p:txBody>
      </p:sp>
      <p:sp>
        <p:nvSpPr>
          <p:cNvPr id="916" name="Google Shape;916;p31"/>
          <p:cNvSpPr txBox="1">
            <a:spLocks noGrp="1"/>
          </p:cNvSpPr>
          <p:nvPr>
            <p:ph type="body" idx="2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ghada-99-ragab-amanah-ai.static.hf.space</a:t>
            </a:r>
            <a:endParaRPr/>
          </a:p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ar-SA" sz="2100" b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ghadaragabaliragabali@gmail.com · mamfarouk@aun.edu.eg</a:t>
            </a:r>
            <a:endParaRPr/>
          </a:p>
        </p:txBody>
      </p:sp>
      <p:sp>
        <p:nvSpPr>
          <p:cNvPr id="917" name="Google Shape;917;p31"/>
          <p:cNvSpPr txBox="1">
            <a:spLocks noGrp="1"/>
          </p:cNvSpPr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lang="ar-SA" sz="7200" b="1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w="9525" cap="flat" cmpd="sng">
            <a:solidFill>
              <a:srgbClr val="2EF2C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w="9525" cap="flat" cmpd="sng">
            <a:solidFill>
              <a:srgbClr val="2EF2C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w="9525" cap="flat" cmpd="sng">
            <a:solidFill>
              <a:srgbClr val="2EF2C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2390</Words>
  <Application>Microsoft Office PowerPoint</Application>
  <PresentationFormat>Custom</PresentationFormat>
  <Paragraphs>435</Paragraphs>
  <Slides>34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Readex Pro</vt:lpstr>
      <vt:lpstr>Readex Pro Light</vt:lpstr>
      <vt:lpstr>Office Theme</vt:lpstr>
      <vt:lpstr>Amanah AI</vt:lpstr>
      <vt:lpstr>محتويات العرض</vt:lpstr>
      <vt:lpstr>المشكلة والهدف</vt:lpstr>
      <vt:lpstr>لماذا نحتاج التحقق من الاقتباسات؟</vt:lpstr>
      <vt:lpstr>هدف المشروع</vt:lpstr>
      <vt:lpstr>لماذا اخترنا مسار أدوات المعرفة والتحقق؟</vt:lpstr>
      <vt:lpstr>الحل التقني</vt:lpstr>
      <vt:lpstr>كيف نضمن عدم الهلوسة؟</vt:lpstr>
      <vt:lpstr>عناصر الحل</vt:lpstr>
      <vt:lpstr>دور الذكاء الاصطناعي في المنتج</vt:lpstr>
      <vt:lpstr>التقنيات المستخدمة</vt:lpstr>
      <vt:lpstr>الخوارزميات والأدوات</vt:lpstr>
      <vt:lpstr>قواعد القرار</vt:lpstr>
      <vt:lpstr>آلية العمل</vt:lpstr>
      <vt:lpstr>آلية عمل الحل</vt:lpstr>
      <vt:lpstr>تصحيح آية من نص المصدر</vt:lpstr>
      <vt:lpstr>حديث مختلق يُوسَم «غير مطابق» دون اقتراح أي بديل</vt:lpstr>
      <vt:lpstr>معرض الواجهات</vt:lpstr>
      <vt:lpstr>المؤشرات والأثر</vt:lpstr>
      <vt:lpstr>الأثر والمؤشرات</vt:lpstr>
      <vt:lpstr>النتائج مقابل خط الأساس</vt:lpstr>
      <vt:lpstr>Amanah AI يتفوّق على خط الأساس</vt:lpstr>
      <vt:lpstr>نظام لا يخترع ولا يخمّن ويقول «لا أعلم» حين لا يكفي الدليل</vt:lpstr>
      <vt:lpstr>المراجع ومصادر البيانات والتراخيص</vt:lpstr>
      <vt:lpstr>الاختبار والحدود المعروفة</vt:lpstr>
      <vt:lpstr>الاستدامة والتشغيل</vt:lpstr>
      <vt:lpstr>حصر التكاليف وآليات التخفيض</vt:lpstr>
      <vt:lpstr>خطة التنفيذ</vt:lpstr>
      <vt:lpstr>نسب تغطية التكاليف (مستهدفة)</vt:lpstr>
      <vt:lpstr>نموذج تغطية التكاليف والاستمرارية</vt:lpstr>
      <vt:lpstr>جدولة مراجعة وتحديث البيانات</vt:lpstr>
      <vt:lpstr>فريق العمل والدعم</vt:lpstr>
      <vt:lpstr>فريق العمل</vt:lpstr>
      <vt:lpstr>شكراً لكم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Microsoft</dc:creator>
  <cp:lastModifiedBy>Ghada Ragab</cp:lastModifiedBy>
  <cp:revision>4</cp:revision>
  <dcterms:modified xsi:type="dcterms:W3CDTF">2026-10-06T17:14:36Z</dcterms:modified>
</cp:coreProperties>
</file>