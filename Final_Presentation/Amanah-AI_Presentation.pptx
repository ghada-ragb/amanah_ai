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63" r:id="rId2"/>
    <p:sldId id="264" r:id="rId3"/>
    <p:sldId id="265" r:id="rId4"/>
    <p:sldId id="266" r:id="rId5"/>
    <p:sldId id="267" r:id="rId6"/>
    <p:sldId id="287" r:id="rId7"/>
    <p:sldId id="275" r:id="rId8"/>
    <p:sldId id="282" r:id="rId9"/>
    <p:sldId id="288" r:id="rId10"/>
    <p:sldId id="279" r:id="rId11"/>
    <p:sldId id="268" r:id="rId12"/>
    <p:sldId id="280" r:id="rId13"/>
    <p:sldId id="281" r:id="rId14"/>
    <p:sldId id="289" r:id="rId15"/>
    <p:sldId id="270" r:id="rId16"/>
    <p:sldId id="272" r:id="rId17"/>
    <p:sldId id="277" r:id="rId18"/>
    <p:sldId id="271" r:id="rId19"/>
    <p:sldId id="290" r:id="rId20"/>
    <p:sldId id="292" r:id="rId21"/>
    <p:sldId id="273" r:id="rId22"/>
    <p:sldId id="278" r:id="rId23"/>
    <p:sldId id="283" r:id="rId24"/>
    <p:sldId id="276" r:id="rId25"/>
    <p:sldId id="291" r:id="rId26"/>
    <p:sldId id="274" r:id="rId27"/>
    <p:sldId id="286" r:id="rId28"/>
  </p:sldIdLst>
  <p:sldSz cx="18288000" cy="10287000"/>
  <p:notesSz cx="6858000" cy="9144000"/>
  <p:embeddedFontLst>
    <p:embeddedFont>
      <p:font typeface="Readex Pro" panose="020B0604020202020204" charset="-78"/>
      <p:regular r:id="rId30"/>
      <p:bold r:id="rId31"/>
    </p:embeddedFont>
    <p:embeddedFont>
      <p:font typeface="Readex Pro Light" panose="020B0604020202020204" charset="-78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h1GeQrG1kO//gaBT9ZQp796F1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ED9858-D163-4338-9E88-1F424354888F}">
  <a:tblStyle styleId="{B8ED9858-D163-4338-9E88-1F42435488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65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الدقة %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C86B8"/>
              </a:solidFill>
            </c:spPr>
            <c:extLst>
              <c:ext xmlns:c16="http://schemas.microsoft.com/office/drawing/2014/chart" uri="{C3380CC4-5D6E-409C-BE32-E72D297353CC}">
                <c16:uniqueId val="{00000001-3E86-4C49-8A91-45AD13D22F77}"/>
              </c:ext>
            </c:extLst>
          </c:dPt>
          <c:dPt>
            <c:idx val="1"/>
            <c:invertIfNegative val="1"/>
            <c:bubble3D val="0"/>
            <c:spPr>
              <a:solidFill>
                <a:srgbClr val="2EF2C0"/>
              </a:solidFill>
            </c:spPr>
            <c:extLst>
              <c:ext xmlns:c16="http://schemas.microsoft.com/office/drawing/2014/chart" uri="{C3380CC4-5D6E-409C-BE32-E72D297353CC}">
                <c16:uniqueId val="{00000003-3E86-4C49-8A91-45AD13D22F77}"/>
              </c:ext>
            </c:extLst>
          </c:dPt>
          <c:dPt>
            <c:idx val="2"/>
            <c:invertIfNegative val="1"/>
            <c:bubble3D val="0"/>
            <c:spPr>
              <a:solidFill>
                <a:srgbClr val="7C86B8"/>
              </a:solidFill>
            </c:spPr>
            <c:extLst>
              <c:ext xmlns:c16="http://schemas.microsoft.com/office/drawing/2014/chart" uri="{C3380CC4-5D6E-409C-BE32-E72D297353CC}">
                <c16:uniqueId val="{00000005-3E86-4C49-8A91-45AD13D22F77}"/>
              </c:ext>
            </c:extLst>
          </c:dPt>
          <c:dPt>
            <c:idx val="3"/>
            <c:invertIfNegative val="1"/>
            <c:bubble3D val="0"/>
            <c:spPr>
              <a:solidFill>
                <a:srgbClr val="2EF2C0"/>
              </a:solidFill>
            </c:spPr>
            <c:extLst>
              <c:ext xmlns:c16="http://schemas.microsoft.com/office/drawing/2014/chart" uri="{C3380CC4-5D6E-409C-BE32-E72D297353CC}">
                <c16:uniqueId val="{00000007-3E86-4C49-8A91-45AD13D22F77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200" b="1">
                    <a:solidFill>
                      <a:srgbClr val="FFFFFF"/>
                    </a:solidFill>
                  </a:defRPr>
                </a:pPr>
                <a:endParaRPr lang="ar-E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1B خط الأساس</c:v>
                </c:pt>
                <c:pt idx="1">
                  <c:v>1B Amanah AI</c:v>
                </c:pt>
                <c:pt idx="2">
                  <c:v>1C خط الأساس</c:v>
                </c:pt>
                <c:pt idx="3">
                  <c:v>1C Amanah AI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59.5</c:v>
                </c:pt>
                <c:pt idx="1">
                  <c:v>93.12</c:v>
                </c:pt>
                <c:pt idx="2">
                  <c:v>62</c:v>
                </c:pt>
                <c:pt idx="3">
                  <c:v>74.3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E86-4C49-8A91-45AD13D22F7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A73A8"/>
            </a:solidFill>
          </a:ln>
        </c:spPr>
        <c:txPr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endParaRPr lang="ar-EG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3A447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C9CFEA"/>
                </a:solidFill>
              </a:defRPr>
            </a:pPr>
            <a:endParaRPr lang="ar-EG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>
          <a:solidFill>
            <a:srgbClr val="FFFFFF"/>
          </a:solidFill>
          <a:latin typeface="Readex Pr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نسبة التغطية</c:v>
                </c:pt>
              </c:strCache>
            </c:strRef>
          </c:tx>
          <c:dPt>
            <c:idx val="0"/>
            <c:bubble3D val="0"/>
            <c:spPr>
              <a:solidFill>
                <a:srgbClr val="2EF2C0"/>
              </a:solidFill>
            </c:spPr>
            <c:extLst>
              <c:ext xmlns:c16="http://schemas.microsoft.com/office/drawing/2014/chart" uri="{C3380CC4-5D6E-409C-BE32-E72D297353CC}">
                <c16:uniqueId val="{00000001-A817-4C78-ADF2-8A40938808F9}"/>
              </c:ext>
            </c:extLst>
          </c:dPt>
          <c:dPt>
            <c:idx val="1"/>
            <c:bubble3D val="0"/>
            <c:spPr>
              <a:solidFill>
                <a:srgbClr val="6A5AF5"/>
              </a:solidFill>
            </c:spPr>
            <c:extLst>
              <c:ext xmlns:c16="http://schemas.microsoft.com/office/drawing/2014/chart" uri="{C3380CC4-5D6E-409C-BE32-E72D297353CC}">
                <c16:uniqueId val="{00000003-A817-4C78-ADF2-8A40938808F9}"/>
              </c:ext>
            </c:extLst>
          </c:dPt>
          <c:dPt>
            <c:idx val="2"/>
            <c:bubble3D val="0"/>
            <c:spPr>
              <a:solidFill>
                <a:srgbClr val="A9B6FF"/>
              </a:solidFill>
            </c:spPr>
            <c:extLst>
              <c:ext xmlns:c16="http://schemas.microsoft.com/office/drawing/2014/chart" uri="{C3380CC4-5D6E-409C-BE32-E72D297353CC}">
                <c16:uniqueId val="{00000005-A817-4C78-ADF2-8A40938808F9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600" b="1">
                    <a:solidFill>
                      <a:srgbClr val="0B103A"/>
                    </a:solidFill>
                  </a:defRPr>
                </a:pPr>
                <a:endParaRPr lang="ar-E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تقنيات مفتوحة وموارد ذاتية</c:v>
                </c:pt>
                <c:pt idx="1">
                  <c:v>شراكات أكاديمية</c:v>
                </c:pt>
                <c:pt idx="2">
                  <c:v>رعايات مؤسسية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817-4C78-ADF2-8A40938808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  <c:txPr>
        <a:bodyPr/>
        <a:lstStyle/>
        <a:p>
          <a:pPr>
            <a:defRPr sz="2200">
              <a:solidFill>
                <a:srgbClr val="FFFFFF"/>
              </a:solidFill>
            </a:defRPr>
          </a:pPr>
          <a:endParaRPr lang="ar-EG"/>
        </a:p>
      </c:txPr>
    </c:legend>
    <c:plotVisOnly val="1"/>
    <c:dispBlanksAs val="gap"/>
    <c:showDLblsOverMax val="0"/>
  </c:chart>
  <c:txPr>
    <a:bodyPr/>
    <a:lstStyle/>
    <a:p>
      <a:pPr>
        <a:defRPr sz="2000">
          <a:solidFill>
            <a:srgbClr val="FFFFFF"/>
          </a:solidFill>
          <a:latin typeface="Readex Pro"/>
        </a:defRPr>
      </a:pPr>
      <a:endParaRPr lang="ar-EG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482" name="Google Shape;48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496" name="Google Shape;496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524" name="Google Shape;524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أربعة أنواع من الأخطاء تظهر في اقتباسات النماذج اللغوية.</a:t>
            </a:r>
          </a:p>
        </p:txBody>
      </p:sp>
      <p:sp>
        <p:nvSpPr>
          <p:cNvPr id="534" name="Google Shape;534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3" name="Google Shape;553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الهدف: نظام يحكم بالمصدر، ولا يخمّن، ويحيل الشك إلى إنسان.</a:t>
            </a:r>
          </a:p>
        </p:txBody>
      </p:sp>
      <p:sp>
        <p:nvSpPr>
          <p:cNvPr id="554" name="Google Shape;554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6" name="Google Shape;706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حارس التأسيس: كل تصحيح يجب أن يكون جزءًا حرفيًّا من السجل المستشهد به.</a:t>
            </a:r>
          </a:p>
        </p:txBody>
      </p:sp>
      <p:sp>
        <p:nvSpPr>
          <p:cNvPr id="707" name="Google Shape;707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5" name="Google Shape;855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856" name="Google Shape;856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4" name="Google Shape;814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المعالجة كلها قواعد صريحة تعمل داخل المتصفح عبر Pyodide.</a:t>
            </a:r>
          </a:p>
        </p:txBody>
      </p:sp>
      <p:sp>
        <p:nvSpPr>
          <p:cNvPr id="815" name="Google Shape;815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568" name="Google Shape;568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9" name="Google Shape;829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830" name="Google Shape;830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9" name="Google Shape;839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840" name="Google Shape;840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" name="Google Shape;598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الأرقام من evaluate.py واختبار الإجهاد؛ العيّنة ضُبطت عليها العتبات.</a:t>
            </a:r>
          </a:p>
        </p:txBody>
      </p:sp>
      <p:sp>
        <p:nvSpPr>
          <p:cNvPr id="599" name="Google Shape;599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4" name="Google Shape;634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635" name="Google Shape;635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fa608e30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8" name="Google Shape;738;g3fa608e3085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739" name="Google Shape;739;g3fa608e3085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3" name="Google Shape;623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624" name="Google Shape;624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7" name="Google Shape;647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648" name="Google Shape;648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9" name="Google Shape;789;p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790" name="Google Shape;790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8" name="Google Shape;878;p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879" name="Google Shape;879;p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5" name="Google Shape;725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726" name="Google Shape;726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684" name="Google Shape;684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1" name="Google Shape;911;p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912" name="Google Shape;912;p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غلاف المشروع">
  <p:cSld name="غلاف المشروع">
    <p:bg>
      <p:bgPr>
        <a:solidFill>
          <a:srgbClr val="12183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876872"/>
            <a:ext cx="6572250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8258" y="3190875"/>
            <a:ext cx="6701734" cy="61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4"/>
          <p:cNvSpPr txBox="1">
            <a:spLocks noGrp="1"/>
          </p:cNvSpPr>
          <p:nvPr>
            <p:ph type="title"/>
          </p:nvPr>
        </p:nvSpPr>
        <p:spPr>
          <a:xfrm>
            <a:off x="8096250" y="3524250"/>
            <a:ext cx="904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7" name="Google Shape;17;p34"/>
          <p:cNvSpPr txBox="1">
            <a:spLocks noGrp="1"/>
          </p:cNvSpPr>
          <p:nvPr>
            <p:ph type="body" idx="1"/>
          </p:nvPr>
        </p:nvSpPr>
        <p:spPr>
          <a:xfrm>
            <a:off x="8096250" y="5334000"/>
            <a:ext cx="9048750" cy="161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body" idx="2"/>
          </p:nvPr>
        </p:nvSpPr>
        <p:spPr>
          <a:xfrm>
            <a:off x="8953500" y="7762875"/>
            <a:ext cx="81915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3"/>
          </p:nvPr>
        </p:nvSpPr>
        <p:spPr>
          <a:xfrm>
            <a:off x="1066800" y="9391650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محتويات العرض">
  <p:cSld name="محتويات العرض">
    <p:bg>
      <p:bgPr>
        <a:solidFill>
          <a:srgbClr val="12183F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5" name="Google Shape;25;p3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5"/>
          <p:cNvSpPr txBox="1">
            <a:spLocks noGrp="1"/>
          </p:cNvSpPr>
          <p:nvPr>
            <p:ph type="body" idx="2"/>
          </p:nvPr>
        </p:nvSpPr>
        <p:spPr>
          <a:xfrm>
            <a:off x="12382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8" name="Google Shape;28;p35"/>
          <p:cNvSpPr txBox="1">
            <a:spLocks noGrp="1"/>
          </p:cNvSpPr>
          <p:nvPr>
            <p:ph type="body" idx="3"/>
          </p:nvPr>
        </p:nvSpPr>
        <p:spPr>
          <a:xfrm>
            <a:off x="12382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body" idx="4"/>
          </p:nvPr>
        </p:nvSpPr>
        <p:spPr>
          <a:xfrm>
            <a:off x="12382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body" idx="5"/>
          </p:nvPr>
        </p:nvSpPr>
        <p:spPr>
          <a:xfrm>
            <a:off x="7048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body" idx="6"/>
          </p:nvPr>
        </p:nvSpPr>
        <p:spPr>
          <a:xfrm>
            <a:off x="7048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body" idx="7"/>
          </p:nvPr>
        </p:nvSpPr>
        <p:spPr>
          <a:xfrm>
            <a:off x="7048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3" name="Google Shape;33;p35"/>
          <p:cNvSpPr txBox="1">
            <a:spLocks noGrp="1"/>
          </p:cNvSpPr>
          <p:nvPr>
            <p:ph type="body" idx="8"/>
          </p:nvPr>
        </p:nvSpPr>
        <p:spPr>
          <a:xfrm>
            <a:off x="1714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body" idx="9"/>
          </p:nvPr>
        </p:nvSpPr>
        <p:spPr>
          <a:xfrm>
            <a:off x="1714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5" name="Google Shape;35;p35"/>
          <p:cNvSpPr txBox="1">
            <a:spLocks noGrp="1"/>
          </p:cNvSpPr>
          <p:nvPr>
            <p:ph type="body" idx="13"/>
          </p:nvPr>
        </p:nvSpPr>
        <p:spPr>
          <a:xfrm>
            <a:off x="1714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6" name="Google Shape;36;p35"/>
          <p:cNvSpPr txBox="1">
            <a:spLocks noGrp="1"/>
          </p:cNvSpPr>
          <p:nvPr>
            <p:ph type="body" idx="14"/>
          </p:nvPr>
        </p:nvSpPr>
        <p:spPr>
          <a:xfrm>
            <a:off x="12382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body" idx="15"/>
          </p:nvPr>
        </p:nvSpPr>
        <p:spPr>
          <a:xfrm>
            <a:off x="12382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8" name="Google Shape;38;p35"/>
          <p:cNvSpPr txBox="1">
            <a:spLocks noGrp="1"/>
          </p:cNvSpPr>
          <p:nvPr>
            <p:ph type="body" idx="16"/>
          </p:nvPr>
        </p:nvSpPr>
        <p:spPr>
          <a:xfrm>
            <a:off x="12382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9" name="Google Shape;39;p35"/>
          <p:cNvSpPr txBox="1">
            <a:spLocks noGrp="1"/>
          </p:cNvSpPr>
          <p:nvPr>
            <p:ph type="body" idx="17"/>
          </p:nvPr>
        </p:nvSpPr>
        <p:spPr>
          <a:xfrm>
            <a:off x="7048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40" name="Google Shape;40;p35"/>
          <p:cNvSpPr txBox="1">
            <a:spLocks noGrp="1"/>
          </p:cNvSpPr>
          <p:nvPr>
            <p:ph type="body" idx="18"/>
          </p:nvPr>
        </p:nvSpPr>
        <p:spPr>
          <a:xfrm>
            <a:off x="7048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body" idx="19"/>
          </p:nvPr>
        </p:nvSpPr>
        <p:spPr>
          <a:xfrm>
            <a:off x="7048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body" idx="20"/>
          </p:nvPr>
        </p:nvSpPr>
        <p:spPr>
          <a:xfrm>
            <a:off x="1714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body" idx="21"/>
          </p:nvPr>
        </p:nvSpPr>
        <p:spPr>
          <a:xfrm>
            <a:off x="1714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body" idx="22"/>
          </p:nvPr>
        </p:nvSpPr>
        <p:spPr>
          <a:xfrm>
            <a:off x="1714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فاصل قسم">
  <p:cSld name="فاصل قسم">
    <p:bg>
      <p:bgPr>
        <a:solidFill>
          <a:srgbClr val="12183F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87391"/>
            <a:ext cx="4000500" cy="102551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6"/>
          <p:cNvSpPr txBox="1">
            <a:spLocks noGrp="1"/>
          </p:cNvSpPr>
          <p:nvPr>
            <p:ph type="body" idx="1"/>
          </p:nvPr>
        </p:nvSpPr>
        <p:spPr>
          <a:xfrm>
            <a:off x="13430250" y="3143250"/>
            <a:ext cx="36195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49" name="Google Shape;49;p36"/>
          <p:cNvSpPr txBox="1">
            <a:spLocks noGrp="1"/>
          </p:cNvSpPr>
          <p:nvPr>
            <p:ph type="title"/>
          </p:nvPr>
        </p:nvSpPr>
        <p:spPr>
          <a:xfrm>
            <a:off x="4953000" y="4810125"/>
            <a:ext cx="12096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50" name="Google Shape;50;p36"/>
          <p:cNvSpPr txBox="1">
            <a:spLocks noGrp="1"/>
          </p:cNvSpPr>
          <p:nvPr>
            <p:ph type="body" idx="2"/>
          </p:nvPr>
        </p:nvSpPr>
        <p:spPr>
          <a:xfrm>
            <a:off x="6667500" y="6572250"/>
            <a:ext cx="103822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أربع نقاط">
  <p:cSld name="أربع نقاط">
    <p:bg>
      <p:bgPr>
        <a:solidFill>
          <a:srgbClr val="12183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7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55" name="Google Shape;55;p37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56" name="Google Shape;56;p37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57" name="Google Shape;57;p3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58" name="Google Shape;58;p37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7"/>
          <p:cNvSpPr txBox="1">
            <a:spLocks noGrp="1"/>
          </p:cNvSpPr>
          <p:nvPr>
            <p:ph type="body" idx="3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body" idx="4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61" name="Google Shape;61;p37"/>
          <p:cNvSpPr txBox="1">
            <a:spLocks noGrp="1"/>
          </p:cNvSpPr>
          <p:nvPr>
            <p:ph type="body" idx="5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62" name="Google Shape;62;p37"/>
          <p:cNvSpPr txBox="1">
            <a:spLocks noGrp="1"/>
          </p:cNvSpPr>
          <p:nvPr>
            <p:ph type="body" idx="6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63" name="Google Shape;63;p37"/>
          <p:cNvSpPr txBox="1">
            <a:spLocks noGrp="1"/>
          </p:cNvSpPr>
          <p:nvPr>
            <p:ph type="body" idx="7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64" name="Google Shape;64;p37"/>
          <p:cNvSpPr txBox="1">
            <a:spLocks noGrp="1"/>
          </p:cNvSpPr>
          <p:nvPr>
            <p:ph type="body" idx="8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65" name="Google Shape;65;p37"/>
          <p:cNvSpPr txBox="1">
            <a:spLocks noGrp="1"/>
          </p:cNvSpPr>
          <p:nvPr>
            <p:ph type="body" idx="9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66" name="Google Shape;66;p37"/>
          <p:cNvSpPr txBox="1">
            <a:spLocks noGrp="1"/>
          </p:cNvSpPr>
          <p:nvPr>
            <p:ph type="body" idx="13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نص رئيسي">
  <p:cSld name="نص رئيسي">
    <p:bg>
      <p:bgPr>
        <a:solidFill>
          <a:srgbClr val="12183F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8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71" name="Google Shape;71;p38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72" name="Google Shape;72;p3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73" name="Google Shape;73;p38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8"/>
          <p:cNvSpPr txBox="1">
            <a:spLocks noGrp="1"/>
          </p:cNvSpPr>
          <p:nvPr>
            <p:ph type="body" idx="2"/>
          </p:nvPr>
        </p:nvSpPr>
        <p:spPr>
          <a:xfrm>
            <a:off x="6191250" y="4000500"/>
            <a:ext cx="1095375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3"/>
          </p:nvPr>
        </p:nvSpPr>
        <p:spPr>
          <a:xfrm>
            <a:off x="6191250" y="7239000"/>
            <a:ext cx="10953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body" idx="4"/>
          </p:nvPr>
        </p:nvSpPr>
        <p:spPr>
          <a:xfrm>
            <a:off x="6191250" y="8001000"/>
            <a:ext cx="10953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نص وصورة عريضة">
  <p:cSld name="نص وصورة عريضة">
    <p:bg>
      <p:bgPr>
        <a:solidFill>
          <a:srgbClr val="12183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9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82" name="Google Shape;82;p3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83" name="Google Shape;83;p39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9"/>
          <p:cNvSpPr>
            <a:spLocks noGrp="1"/>
          </p:cNvSpPr>
          <p:nvPr>
            <p:ph type="pic" idx="2"/>
          </p:nvPr>
        </p:nvSpPr>
        <p:spPr>
          <a:xfrm>
            <a:off x="1428750" y="4048125"/>
            <a:ext cx="8382000" cy="4714875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39"/>
          <p:cNvSpPr txBox="1">
            <a:spLocks noGrp="1"/>
          </p:cNvSpPr>
          <p:nvPr>
            <p:ph type="body" idx="3"/>
          </p:nvPr>
        </p:nvSpPr>
        <p:spPr>
          <a:xfrm>
            <a:off x="10763250" y="409575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86" name="Google Shape;86;p39"/>
          <p:cNvSpPr txBox="1">
            <a:spLocks noGrp="1"/>
          </p:cNvSpPr>
          <p:nvPr>
            <p:ph type="body" idx="4"/>
          </p:nvPr>
        </p:nvSpPr>
        <p:spPr>
          <a:xfrm>
            <a:off x="10763250" y="480060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body" idx="5"/>
          </p:nvPr>
        </p:nvSpPr>
        <p:spPr>
          <a:xfrm>
            <a:off x="10763250" y="666750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body" idx="6"/>
          </p:nvPr>
        </p:nvSpPr>
        <p:spPr>
          <a:xfrm>
            <a:off x="10763250" y="737235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نص وصورة مربعة">
  <p:cSld name="نص وصورة مربعة">
    <p:bg>
      <p:bgPr>
        <a:solidFill>
          <a:srgbClr val="12183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0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93" name="Google Shape;93;p40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94" name="Google Shape;94;p4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0"/>
          <p:cNvSpPr>
            <a:spLocks noGrp="1"/>
          </p:cNvSpPr>
          <p:nvPr>
            <p:ph type="pic" idx="2"/>
          </p:nvPr>
        </p:nvSpPr>
        <p:spPr>
          <a:xfrm>
            <a:off x="2190750" y="3476625"/>
            <a:ext cx="5715000" cy="571500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40"/>
          <p:cNvSpPr txBox="1">
            <a:spLocks noGrp="1"/>
          </p:cNvSpPr>
          <p:nvPr>
            <p:ph type="body" idx="3"/>
          </p:nvPr>
        </p:nvSpPr>
        <p:spPr>
          <a:xfrm>
            <a:off x="10001250" y="3905250"/>
            <a:ext cx="71437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body" idx="4"/>
          </p:nvPr>
        </p:nvSpPr>
        <p:spPr>
          <a:xfrm>
            <a:off x="10001250" y="5191125"/>
            <a:ext cx="7143750" cy="242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body" idx="5"/>
          </p:nvPr>
        </p:nvSpPr>
        <p:spPr>
          <a:xfrm>
            <a:off x="10001250" y="8048625"/>
            <a:ext cx="71437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مؤشرات">
  <p:cSld name="مؤشرات">
    <p:bg>
      <p:bgPr>
        <a:solidFill>
          <a:srgbClr val="12183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1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06" name="Google Shape;106;p4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07" name="Google Shape;107;p41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>
            <a:spLocks noGrp="1"/>
          </p:cNvSpPr>
          <p:nvPr>
            <p:ph type="body" idx="3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09" name="Google Shape;109;p41"/>
          <p:cNvSpPr txBox="1">
            <a:spLocks noGrp="1"/>
          </p:cNvSpPr>
          <p:nvPr>
            <p:ph type="body" idx="4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0" name="Google Shape;110;p41"/>
          <p:cNvSpPr txBox="1">
            <a:spLocks noGrp="1"/>
          </p:cNvSpPr>
          <p:nvPr>
            <p:ph type="body" idx="5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1" name="Google Shape;111;p41"/>
          <p:cNvSpPr txBox="1">
            <a:spLocks noGrp="1"/>
          </p:cNvSpPr>
          <p:nvPr>
            <p:ph type="body" idx="6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2" name="Google Shape;112;p41"/>
          <p:cNvSpPr txBox="1">
            <a:spLocks noGrp="1"/>
          </p:cNvSpPr>
          <p:nvPr>
            <p:ph type="body" idx="7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3" name="Google Shape;113;p41"/>
          <p:cNvSpPr txBox="1">
            <a:spLocks noGrp="1"/>
          </p:cNvSpPr>
          <p:nvPr>
            <p:ph type="body" idx="8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4" name="Google Shape;114;p41"/>
          <p:cNvSpPr txBox="1">
            <a:spLocks noGrp="1"/>
          </p:cNvSpPr>
          <p:nvPr>
            <p:ph type="body" idx="9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5" name="Google Shape;115;p41"/>
          <p:cNvSpPr txBox="1">
            <a:spLocks noGrp="1"/>
          </p:cNvSpPr>
          <p:nvPr>
            <p:ph type="body" idx="13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6" name="Google Shape;116;p41"/>
          <p:cNvSpPr txBox="1">
            <a:spLocks noGrp="1"/>
          </p:cNvSpPr>
          <p:nvPr>
            <p:ph type="body" idx="14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7" name="Google Shape;117;p41"/>
          <p:cNvSpPr txBox="1">
            <a:spLocks noGrp="1"/>
          </p:cNvSpPr>
          <p:nvPr>
            <p:ph type="body" idx="15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8" name="Google Shape;118;p41"/>
          <p:cNvSpPr txBox="1">
            <a:spLocks noGrp="1"/>
          </p:cNvSpPr>
          <p:nvPr>
            <p:ph type="body" idx="16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9" name="Google Shape;119;p41"/>
          <p:cNvSpPr txBox="1">
            <a:spLocks noGrp="1"/>
          </p:cNvSpPr>
          <p:nvPr>
            <p:ph type="body" idx="17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20" name="Google Shape;120;p41"/>
          <p:cNvSpPr txBox="1">
            <a:spLocks noGrp="1"/>
          </p:cNvSpPr>
          <p:nvPr>
            <p:ph type="body" idx="18"/>
          </p:nvPr>
        </p:nvSpPr>
        <p:spPr>
          <a:xfrm>
            <a:off x="1714500" y="8763000"/>
            <a:ext cx="15430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رسالة رئيسية">
  <p:cSld name="رسالة رئيسية">
    <p:bg>
      <p:bgPr>
        <a:solidFill>
          <a:srgbClr val="F2F4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873" y="685800"/>
            <a:ext cx="399435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25" name="Google Shape;125;p42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2"/>
          <p:cNvSpPr txBox="1">
            <a:spLocks noGrp="1"/>
          </p:cNvSpPr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27" name="Google Shape;127;p42"/>
          <p:cNvSpPr txBox="1">
            <a:spLocks noGrp="1"/>
          </p:cNvSpPr>
          <p:nvPr>
            <p:ph type="body" idx="1"/>
          </p:nvPr>
        </p:nvSpPr>
        <p:spPr>
          <a:xfrm>
            <a:off x="3333750" y="6905625"/>
            <a:ext cx="116205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28" name="Google Shape;128;p42"/>
          <p:cNvSpPr txBox="1">
            <a:spLocks noGrp="1"/>
          </p:cNvSpPr>
          <p:nvPr>
            <p:ph type="body" idx="2"/>
          </p:nvPr>
        </p:nvSpPr>
        <p:spPr>
          <a:xfrm>
            <a:off x="3333750" y="8239125"/>
            <a:ext cx="116205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جدول داكن">
  <p:cSld name="جدول داكن">
    <p:bg>
      <p:bgPr>
        <a:solidFill>
          <a:srgbClr val="12183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3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33" name="Google Shape;133;p43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34" name="Google Shape;134;p43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35" name="Google Shape;135;p4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36" name="Google Shape;136;p43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3"/>
          <p:cNvSpPr txBox="1">
            <a:spLocks noGrp="1"/>
          </p:cNvSpPr>
          <p:nvPr>
            <p:ph type="body" idx="3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38" name="Google Shape;138;p43"/>
          <p:cNvSpPr>
            <a:spLocks noGrp="1"/>
          </p:cNvSpPr>
          <p:nvPr>
            <p:ph type="tbl" idx="4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0" tIns="45700" rIns="254000" bIns="45700" anchor="ctr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خط زمني">
  <p:cSld name="خط زمني">
    <p:bg>
      <p:bgPr>
        <a:solidFill>
          <a:srgbClr val="12183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4"/>
          <p:cNvSpPr/>
          <p:nvPr/>
        </p:nvSpPr>
        <p:spPr>
          <a:xfrm>
            <a:off x="14287500" y="4667250"/>
            <a:ext cx="2857500" cy="47625"/>
          </a:xfrm>
          <a:prstGeom prst="rect">
            <a:avLst/>
          </a:prstGeom>
          <a:solidFill>
            <a:srgbClr val="6150EA"/>
          </a:solidFill>
          <a:ln w="11425" cap="flat" cmpd="sng">
            <a:solidFill>
              <a:srgbClr val="6150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4"/>
          <p:cNvSpPr/>
          <p:nvPr/>
        </p:nvSpPr>
        <p:spPr>
          <a:xfrm>
            <a:off x="11144250" y="4667250"/>
            <a:ext cx="2857500" cy="47625"/>
          </a:xfrm>
          <a:prstGeom prst="rect">
            <a:avLst/>
          </a:prstGeom>
          <a:solidFill>
            <a:srgbClr val="6150EA"/>
          </a:solidFill>
          <a:ln w="11425" cap="flat" cmpd="sng">
            <a:solidFill>
              <a:srgbClr val="6150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4"/>
          <p:cNvSpPr/>
          <p:nvPr/>
        </p:nvSpPr>
        <p:spPr>
          <a:xfrm>
            <a:off x="8001000" y="4667250"/>
            <a:ext cx="2857500" cy="47625"/>
          </a:xfrm>
          <a:prstGeom prst="rect">
            <a:avLst/>
          </a:prstGeom>
          <a:solidFill>
            <a:srgbClr val="6150EA"/>
          </a:solidFill>
          <a:ln w="11425" cap="flat" cmpd="sng">
            <a:solidFill>
              <a:srgbClr val="6150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4"/>
          <p:cNvSpPr/>
          <p:nvPr/>
        </p:nvSpPr>
        <p:spPr>
          <a:xfrm>
            <a:off x="4857750" y="4667250"/>
            <a:ext cx="2857500" cy="47625"/>
          </a:xfrm>
          <a:prstGeom prst="rect">
            <a:avLst/>
          </a:prstGeom>
          <a:solidFill>
            <a:srgbClr val="6150EA"/>
          </a:solidFill>
          <a:ln w="11425" cap="flat" cmpd="sng">
            <a:solidFill>
              <a:srgbClr val="6150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4"/>
          <p:cNvSpPr/>
          <p:nvPr/>
        </p:nvSpPr>
        <p:spPr>
          <a:xfrm>
            <a:off x="1714500" y="4667250"/>
            <a:ext cx="2857500" cy="47625"/>
          </a:xfrm>
          <a:prstGeom prst="rect">
            <a:avLst/>
          </a:prstGeom>
          <a:solidFill>
            <a:srgbClr val="6150EA"/>
          </a:solidFill>
          <a:ln w="11425" cap="flat" cmpd="sng">
            <a:solidFill>
              <a:srgbClr val="6150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4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48" name="Google Shape;148;p44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49" name="Google Shape;149;p44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50" name="Google Shape;150;p4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51" name="Google Shape;151;p44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4"/>
          <p:cNvSpPr txBox="1">
            <a:spLocks noGrp="1"/>
          </p:cNvSpPr>
          <p:nvPr>
            <p:ph type="body" idx="3"/>
          </p:nvPr>
        </p:nvSpPr>
        <p:spPr>
          <a:xfrm>
            <a:off x="14287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53" name="Google Shape;153;p44"/>
          <p:cNvSpPr txBox="1">
            <a:spLocks noGrp="1"/>
          </p:cNvSpPr>
          <p:nvPr>
            <p:ph type="body" idx="4"/>
          </p:nvPr>
        </p:nvSpPr>
        <p:spPr>
          <a:xfrm>
            <a:off x="14287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54" name="Google Shape;154;p44"/>
          <p:cNvSpPr txBox="1">
            <a:spLocks noGrp="1"/>
          </p:cNvSpPr>
          <p:nvPr>
            <p:ph type="body" idx="5"/>
          </p:nvPr>
        </p:nvSpPr>
        <p:spPr>
          <a:xfrm>
            <a:off x="14287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55" name="Google Shape;155;p44"/>
          <p:cNvSpPr txBox="1">
            <a:spLocks noGrp="1"/>
          </p:cNvSpPr>
          <p:nvPr>
            <p:ph type="body" idx="6"/>
          </p:nvPr>
        </p:nvSpPr>
        <p:spPr>
          <a:xfrm>
            <a:off x="14287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56" name="Google Shape;156;p44"/>
          <p:cNvSpPr txBox="1">
            <a:spLocks noGrp="1"/>
          </p:cNvSpPr>
          <p:nvPr>
            <p:ph type="body" idx="7"/>
          </p:nvPr>
        </p:nvSpPr>
        <p:spPr>
          <a:xfrm>
            <a:off x="111442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57" name="Google Shape;157;p44"/>
          <p:cNvSpPr txBox="1">
            <a:spLocks noGrp="1"/>
          </p:cNvSpPr>
          <p:nvPr>
            <p:ph type="body" idx="8"/>
          </p:nvPr>
        </p:nvSpPr>
        <p:spPr>
          <a:xfrm>
            <a:off x="111442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58" name="Google Shape;158;p44"/>
          <p:cNvSpPr txBox="1">
            <a:spLocks noGrp="1"/>
          </p:cNvSpPr>
          <p:nvPr>
            <p:ph type="body" idx="9"/>
          </p:nvPr>
        </p:nvSpPr>
        <p:spPr>
          <a:xfrm>
            <a:off x="111442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59" name="Google Shape;159;p44"/>
          <p:cNvSpPr txBox="1">
            <a:spLocks noGrp="1"/>
          </p:cNvSpPr>
          <p:nvPr>
            <p:ph type="body" idx="13"/>
          </p:nvPr>
        </p:nvSpPr>
        <p:spPr>
          <a:xfrm>
            <a:off x="111442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0" name="Google Shape;160;p44"/>
          <p:cNvSpPr txBox="1">
            <a:spLocks noGrp="1"/>
          </p:cNvSpPr>
          <p:nvPr>
            <p:ph type="body" idx="14"/>
          </p:nvPr>
        </p:nvSpPr>
        <p:spPr>
          <a:xfrm>
            <a:off x="80010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1" name="Google Shape;161;p44"/>
          <p:cNvSpPr txBox="1">
            <a:spLocks noGrp="1"/>
          </p:cNvSpPr>
          <p:nvPr>
            <p:ph type="body" idx="15"/>
          </p:nvPr>
        </p:nvSpPr>
        <p:spPr>
          <a:xfrm>
            <a:off x="80010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2" name="Google Shape;162;p44"/>
          <p:cNvSpPr txBox="1">
            <a:spLocks noGrp="1"/>
          </p:cNvSpPr>
          <p:nvPr>
            <p:ph type="body" idx="16"/>
          </p:nvPr>
        </p:nvSpPr>
        <p:spPr>
          <a:xfrm>
            <a:off x="80010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3" name="Google Shape;163;p44"/>
          <p:cNvSpPr txBox="1">
            <a:spLocks noGrp="1"/>
          </p:cNvSpPr>
          <p:nvPr>
            <p:ph type="body" idx="17"/>
          </p:nvPr>
        </p:nvSpPr>
        <p:spPr>
          <a:xfrm>
            <a:off x="80010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4" name="Google Shape;164;p44"/>
          <p:cNvSpPr txBox="1">
            <a:spLocks noGrp="1"/>
          </p:cNvSpPr>
          <p:nvPr>
            <p:ph type="body" idx="18"/>
          </p:nvPr>
        </p:nvSpPr>
        <p:spPr>
          <a:xfrm>
            <a:off x="48577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5" name="Google Shape;165;p44"/>
          <p:cNvSpPr txBox="1">
            <a:spLocks noGrp="1"/>
          </p:cNvSpPr>
          <p:nvPr>
            <p:ph type="body" idx="19"/>
          </p:nvPr>
        </p:nvSpPr>
        <p:spPr>
          <a:xfrm>
            <a:off x="48577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6" name="Google Shape;166;p44"/>
          <p:cNvSpPr txBox="1">
            <a:spLocks noGrp="1"/>
          </p:cNvSpPr>
          <p:nvPr>
            <p:ph type="body" idx="20"/>
          </p:nvPr>
        </p:nvSpPr>
        <p:spPr>
          <a:xfrm>
            <a:off x="48577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7" name="Google Shape;167;p44"/>
          <p:cNvSpPr txBox="1">
            <a:spLocks noGrp="1"/>
          </p:cNvSpPr>
          <p:nvPr>
            <p:ph type="body" idx="21"/>
          </p:nvPr>
        </p:nvSpPr>
        <p:spPr>
          <a:xfrm>
            <a:off x="48577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8" name="Google Shape;168;p44"/>
          <p:cNvSpPr txBox="1">
            <a:spLocks noGrp="1"/>
          </p:cNvSpPr>
          <p:nvPr>
            <p:ph type="body" idx="22"/>
          </p:nvPr>
        </p:nvSpPr>
        <p:spPr>
          <a:xfrm>
            <a:off x="1714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9" name="Google Shape;169;p44"/>
          <p:cNvSpPr txBox="1">
            <a:spLocks noGrp="1"/>
          </p:cNvSpPr>
          <p:nvPr>
            <p:ph type="body" idx="23"/>
          </p:nvPr>
        </p:nvSpPr>
        <p:spPr>
          <a:xfrm>
            <a:off x="1714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70" name="Google Shape;170;p44"/>
          <p:cNvSpPr txBox="1">
            <a:spLocks noGrp="1"/>
          </p:cNvSpPr>
          <p:nvPr>
            <p:ph type="body" idx="24"/>
          </p:nvPr>
        </p:nvSpPr>
        <p:spPr>
          <a:xfrm>
            <a:off x="1714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71" name="Google Shape;171;p44"/>
          <p:cNvSpPr txBox="1">
            <a:spLocks noGrp="1"/>
          </p:cNvSpPr>
          <p:nvPr>
            <p:ph type="body" idx="25"/>
          </p:nvPr>
        </p:nvSpPr>
        <p:spPr>
          <a:xfrm>
            <a:off x="1714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فريق العمل">
  <p:cSld name="فريق العمل">
    <p:bg>
      <p:bgPr>
        <a:solidFill>
          <a:srgbClr val="12183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5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76" name="Google Shape;176;p45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77" name="Google Shape;177;p45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78" name="Google Shape;178;p4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79" name="Google Shape;179;p45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5"/>
          <p:cNvSpPr>
            <a:spLocks noGrp="1"/>
          </p:cNvSpPr>
          <p:nvPr>
            <p:ph type="pic" idx="3"/>
          </p:nvPr>
        </p:nvSpPr>
        <p:spPr>
          <a:xfrm>
            <a:off x="14192250" y="3857625"/>
            <a:ext cx="2571750" cy="2571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45"/>
          <p:cNvSpPr txBox="1">
            <a:spLocks noGrp="1"/>
          </p:cNvSpPr>
          <p:nvPr>
            <p:ph type="body" idx="4"/>
          </p:nvPr>
        </p:nvSpPr>
        <p:spPr>
          <a:xfrm>
            <a:off x="13716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82" name="Google Shape;182;p45"/>
          <p:cNvSpPr txBox="1">
            <a:spLocks noGrp="1"/>
          </p:cNvSpPr>
          <p:nvPr>
            <p:ph type="body" idx="5"/>
          </p:nvPr>
        </p:nvSpPr>
        <p:spPr>
          <a:xfrm>
            <a:off x="13716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83" name="Google Shape;183;p45"/>
          <p:cNvSpPr>
            <a:spLocks noGrp="1"/>
          </p:cNvSpPr>
          <p:nvPr>
            <p:ph type="pic" idx="6"/>
          </p:nvPr>
        </p:nvSpPr>
        <p:spPr>
          <a:xfrm>
            <a:off x="10191750" y="3857625"/>
            <a:ext cx="2571750" cy="2571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45"/>
          <p:cNvSpPr txBox="1">
            <a:spLocks noGrp="1"/>
          </p:cNvSpPr>
          <p:nvPr>
            <p:ph type="body" idx="7"/>
          </p:nvPr>
        </p:nvSpPr>
        <p:spPr>
          <a:xfrm>
            <a:off x="9715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85" name="Google Shape;185;p45"/>
          <p:cNvSpPr txBox="1">
            <a:spLocks noGrp="1"/>
          </p:cNvSpPr>
          <p:nvPr>
            <p:ph type="body" idx="8"/>
          </p:nvPr>
        </p:nvSpPr>
        <p:spPr>
          <a:xfrm>
            <a:off x="9715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86" name="Google Shape;186;p45"/>
          <p:cNvSpPr>
            <a:spLocks noGrp="1"/>
          </p:cNvSpPr>
          <p:nvPr>
            <p:ph type="pic" idx="9"/>
          </p:nvPr>
        </p:nvSpPr>
        <p:spPr>
          <a:xfrm>
            <a:off x="6191250" y="3857625"/>
            <a:ext cx="2571750" cy="2571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45"/>
          <p:cNvSpPr txBox="1">
            <a:spLocks noGrp="1"/>
          </p:cNvSpPr>
          <p:nvPr>
            <p:ph type="body" idx="13"/>
          </p:nvPr>
        </p:nvSpPr>
        <p:spPr>
          <a:xfrm>
            <a:off x="5715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88" name="Google Shape;188;p45"/>
          <p:cNvSpPr txBox="1">
            <a:spLocks noGrp="1"/>
          </p:cNvSpPr>
          <p:nvPr>
            <p:ph type="body" idx="14"/>
          </p:nvPr>
        </p:nvSpPr>
        <p:spPr>
          <a:xfrm>
            <a:off x="5715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89" name="Google Shape;189;p45"/>
          <p:cNvSpPr>
            <a:spLocks noGrp="1"/>
          </p:cNvSpPr>
          <p:nvPr>
            <p:ph type="pic" idx="15"/>
          </p:nvPr>
        </p:nvSpPr>
        <p:spPr>
          <a:xfrm>
            <a:off x="2190750" y="3857625"/>
            <a:ext cx="2571750" cy="2571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45"/>
          <p:cNvSpPr txBox="1">
            <a:spLocks noGrp="1"/>
          </p:cNvSpPr>
          <p:nvPr>
            <p:ph type="body" idx="16"/>
          </p:nvPr>
        </p:nvSpPr>
        <p:spPr>
          <a:xfrm>
            <a:off x="1714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91" name="Google Shape;191;p45"/>
          <p:cNvSpPr txBox="1">
            <a:spLocks noGrp="1"/>
          </p:cNvSpPr>
          <p:nvPr>
            <p:ph type="body" idx="17"/>
          </p:nvPr>
        </p:nvSpPr>
        <p:spPr>
          <a:xfrm>
            <a:off x="1714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أربع نقاط فاتحة">
  <p:cSld name="أربع نقاط فاتحة">
    <p:bg>
      <p:bgPr>
        <a:solidFill>
          <a:srgbClr val="F2F4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6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96" name="Google Shape;196;p46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97" name="Google Shape;197;p46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98" name="Google Shape;198;p4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99" name="Google Shape;199;p46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6"/>
          <p:cNvSpPr txBox="1">
            <a:spLocks noGrp="1"/>
          </p:cNvSpPr>
          <p:nvPr>
            <p:ph type="body" idx="3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01" name="Google Shape;201;p46"/>
          <p:cNvSpPr txBox="1">
            <a:spLocks noGrp="1"/>
          </p:cNvSpPr>
          <p:nvPr>
            <p:ph type="body" idx="4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02" name="Google Shape;202;p46"/>
          <p:cNvSpPr txBox="1">
            <a:spLocks noGrp="1"/>
          </p:cNvSpPr>
          <p:nvPr>
            <p:ph type="body" idx="5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03" name="Google Shape;203;p46"/>
          <p:cNvSpPr txBox="1">
            <a:spLocks noGrp="1"/>
          </p:cNvSpPr>
          <p:nvPr>
            <p:ph type="body" idx="6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04" name="Google Shape;204;p46"/>
          <p:cNvSpPr txBox="1">
            <a:spLocks noGrp="1"/>
          </p:cNvSpPr>
          <p:nvPr>
            <p:ph type="body" idx="7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05" name="Google Shape;205;p46"/>
          <p:cNvSpPr txBox="1">
            <a:spLocks noGrp="1"/>
          </p:cNvSpPr>
          <p:nvPr>
            <p:ph type="body" idx="8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06" name="Google Shape;206;p46"/>
          <p:cNvSpPr txBox="1">
            <a:spLocks noGrp="1"/>
          </p:cNvSpPr>
          <p:nvPr>
            <p:ph type="body" idx="9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07" name="Google Shape;207;p46"/>
          <p:cNvSpPr txBox="1">
            <a:spLocks noGrp="1"/>
          </p:cNvSpPr>
          <p:nvPr>
            <p:ph type="body" idx="13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جدول فاتح">
  <p:cSld name="جدول فاتح">
    <p:bg>
      <p:bgPr>
        <a:solidFill>
          <a:srgbClr val="F2F4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7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12" name="Google Shape;212;p47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13" name="Google Shape;213;p47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14" name="Google Shape;214;p4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15" name="Google Shape;215;p47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7"/>
          <p:cNvSpPr txBox="1">
            <a:spLocks noGrp="1"/>
          </p:cNvSpPr>
          <p:nvPr>
            <p:ph type="body" idx="3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17" name="Google Shape;217;p47"/>
          <p:cNvSpPr>
            <a:spLocks noGrp="1"/>
          </p:cNvSpPr>
          <p:nvPr>
            <p:ph type="tbl" idx="4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0" tIns="45700" rIns="254000" bIns="45700" anchor="ctr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مقارنة بالأعمدة">
  <p:cSld name="مقارنة بالأعمدة">
    <p:bg>
      <p:bgPr>
        <a:solidFill>
          <a:srgbClr val="12183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8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22" name="Google Shape;222;p48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23" name="Google Shape;223;p48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24" name="Google Shape;224;p4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25" name="Google Shape;225;p48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8"/>
          <p:cNvSpPr txBox="1">
            <a:spLocks noGrp="1"/>
          </p:cNvSpPr>
          <p:nvPr>
            <p:ph type="body" idx="3"/>
          </p:nvPr>
        </p:nvSpPr>
        <p:spPr>
          <a:xfrm>
            <a:off x="2095500" y="8905875"/>
            <a:ext cx="14192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27" name="Google Shape;227;p48"/>
          <p:cNvSpPr>
            <a:spLocks noGrp="1"/>
          </p:cNvSpPr>
          <p:nvPr>
            <p:ph type="chart" idx="4"/>
          </p:nvPr>
        </p:nvSpPr>
        <p:spPr>
          <a:xfrm>
            <a:off x="2095500" y="3905250"/>
            <a:ext cx="1419225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0" tIns="45700" rIns="254000" bIns="45700" anchor="ctr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توزيع نسبي">
  <p:cSld name="توزيع نسبي">
    <p:bg>
      <p:bgPr>
        <a:solidFill>
          <a:srgbClr val="12183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32" name="Google Shape;232;p49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33" name="Google Shape;233;p49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34" name="Google Shape;234;p4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35" name="Google Shape;235;p49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9"/>
          <p:cNvSpPr txBox="1">
            <a:spLocks noGrp="1"/>
          </p:cNvSpPr>
          <p:nvPr>
            <p:ph type="body" idx="3"/>
          </p:nvPr>
        </p:nvSpPr>
        <p:spPr>
          <a:xfrm>
            <a:off x="1714500" y="890587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37" name="Google Shape;237;p49"/>
          <p:cNvSpPr>
            <a:spLocks noGrp="1"/>
          </p:cNvSpPr>
          <p:nvPr>
            <p:ph type="chart" idx="4"/>
          </p:nvPr>
        </p:nvSpPr>
        <p:spPr>
          <a:xfrm>
            <a:off x="2095500" y="3619500"/>
            <a:ext cx="14097000" cy="538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0" tIns="45700" rIns="254000" bIns="45700" anchor="ctr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آلية العمل">
  <p:cSld name="آلية العمل">
    <p:bg>
      <p:bgPr>
        <a:solidFill>
          <a:srgbClr val="12183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0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42" name="Google Shape;242;p50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43" name="Google Shape;243;p50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44" name="Google Shape;244;p5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45" name="Google Shape;245;p50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0"/>
          <p:cNvSpPr txBox="1">
            <a:spLocks noGrp="1"/>
          </p:cNvSpPr>
          <p:nvPr>
            <p:ph type="body" idx="3"/>
          </p:nvPr>
        </p:nvSpPr>
        <p:spPr>
          <a:xfrm>
            <a:off x="13716000" y="4333875"/>
            <a:ext cx="3429000" cy="3714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323D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6700" tIns="238125" rIns="266700" bIns="238125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47" name="Google Shape;247;p50"/>
          <p:cNvSpPr txBox="1">
            <a:spLocks noGrp="1"/>
          </p:cNvSpPr>
          <p:nvPr>
            <p:ph type="body" idx="4"/>
          </p:nvPr>
        </p:nvSpPr>
        <p:spPr>
          <a:xfrm>
            <a:off x="9715500" y="4333875"/>
            <a:ext cx="3429000" cy="3714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323D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6700" tIns="238125" rIns="266700" bIns="238125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48" name="Google Shape;248;p50"/>
          <p:cNvSpPr txBox="1">
            <a:spLocks noGrp="1"/>
          </p:cNvSpPr>
          <p:nvPr>
            <p:ph type="body" idx="5"/>
          </p:nvPr>
        </p:nvSpPr>
        <p:spPr>
          <a:xfrm>
            <a:off x="5715000" y="4333875"/>
            <a:ext cx="3429000" cy="3714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323D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6700" tIns="238125" rIns="266700" bIns="238125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49" name="Google Shape;249;p50"/>
          <p:cNvSpPr txBox="1">
            <a:spLocks noGrp="1"/>
          </p:cNvSpPr>
          <p:nvPr>
            <p:ph type="body" idx="6"/>
          </p:nvPr>
        </p:nvSpPr>
        <p:spPr>
          <a:xfrm>
            <a:off x="1714500" y="4333875"/>
            <a:ext cx="3429000" cy="3714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323D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6700" tIns="238125" rIns="266700" bIns="238125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صورة كبيرة">
  <p:cSld name="صورة كبيرة">
    <p:bg>
      <p:bgPr>
        <a:solidFill>
          <a:srgbClr val="12183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53" name="Google Shape;253;p51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1"/>
          <p:cNvSpPr>
            <a:spLocks noGrp="1"/>
          </p:cNvSpPr>
          <p:nvPr>
            <p:ph type="pic" idx="2"/>
          </p:nvPr>
        </p:nvSpPr>
        <p:spPr>
          <a:xfrm>
            <a:off x="1047750" y="666750"/>
            <a:ext cx="16192500" cy="69532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51"/>
          <p:cNvSpPr txBox="1">
            <a:spLocks noGrp="1"/>
          </p:cNvSpPr>
          <p:nvPr>
            <p:ph type="title"/>
          </p:nvPr>
        </p:nvSpPr>
        <p:spPr>
          <a:xfrm>
            <a:off x="2190750" y="7962900"/>
            <a:ext cx="147637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56" name="Google Shape;256;p51"/>
          <p:cNvSpPr txBox="1">
            <a:spLocks noGrp="1"/>
          </p:cNvSpPr>
          <p:nvPr>
            <p:ph type="body" idx="1"/>
          </p:nvPr>
        </p:nvSpPr>
        <p:spPr>
          <a:xfrm>
            <a:off x="2190750" y="8896350"/>
            <a:ext cx="147637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معرض الصور">
  <p:cSld name="معرض الصور">
    <p:bg>
      <p:bgPr>
        <a:solidFill>
          <a:srgbClr val="12183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2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61" name="Google Shape;261;p52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62" name="Google Shape;262;p5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3" name="Google Shape;263;p52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2"/>
          <p:cNvSpPr>
            <a:spLocks noGrp="1"/>
          </p:cNvSpPr>
          <p:nvPr>
            <p:ph type="pic" idx="2"/>
          </p:nvPr>
        </p:nvSpPr>
        <p:spPr>
          <a:xfrm>
            <a:off x="12382500" y="3714750"/>
            <a:ext cx="4762500" cy="42862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52"/>
          <p:cNvSpPr txBox="1">
            <a:spLocks noGrp="1"/>
          </p:cNvSpPr>
          <p:nvPr>
            <p:ph type="body" idx="3"/>
          </p:nvPr>
        </p:nvSpPr>
        <p:spPr>
          <a:xfrm>
            <a:off x="12382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66" name="Google Shape;266;p52"/>
          <p:cNvSpPr>
            <a:spLocks noGrp="1"/>
          </p:cNvSpPr>
          <p:nvPr>
            <p:ph type="pic" idx="4"/>
          </p:nvPr>
        </p:nvSpPr>
        <p:spPr>
          <a:xfrm>
            <a:off x="7048500" y="3714750"/>
            <a:ext cx="4762500" cy="42862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52"/>
          <p:cNvSpPr txBox="1">
            <a:spLocks noGrp="1"/>
          </p:cNvSpPr>
          <p:nvPr>
            <p:ph type="body" idx="5"/>
          </p:nvPr>
        </p:nvSpPr>
        <p:spPr>
          <a:xfrm>
            <a:off x="7048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68" name="Google Shape;268;p52"/>
          <p:cNvSpPr>
            <a:spLocks noGrp="1"/>
          </p:cNvSpPr>
          <p:nvPr>
            <p:ph type="pic" idx="6"/>
          </p:nvPr>
        </p:nvSpPr>
        <p:spPr>
          <a:xfrm>
            <a:off x="1714500" y="3714750"/>
            <a:ext cx="4762500" cy="42862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52"/>
          <p:cNvSpPr txBox="1">
            <a:spLocks noGrp="1"/>
          </p:cNvSpPr>
          <p:nvPr>
            <p:ph type="body" idx="7"/>
          </p:nvPr>
        </p:nvSpPr>
        <p:spPr>
          <a:xfrm>
            <a:off x="1714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أيقونات الهوية">
  <p:cSld name="أيقونات الهوية">
    <p:bg>
      <p:bgPr>
        <a:solidFill>
          <a:srgbClr val="12183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3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74" name="Google Shape;274;p53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75" name="Google Shape;275;p53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76" name="Google Shape;276;p5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77" name="Google Shape;277;p53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3"/>
          <p:cNvSpPr txBox="1">
            <a:spLocks noGrp="1"/>
          </p:cNvSpPr>
          <p:nvPr>
            <p:ph type="body" idx="3"/>
          </p:nvPr>
        </p:nvSpPr>
        <p:spPr>
          <a:xfrm>
            <a:off x="13716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79" name="Google Shape;279;p53"/>
          <p:cNvSpPr txBox="1">
            <a:spLocks noGrp="1"/>
          </p:cNvSpPr>
          <p:nvPr>
            <p:ph type="body" idx="4"/>
          </p:nvPr>
        </p:nvSpPr>
        <p:spPr>
          <a:xfrm>
            <a:off x="13716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80" name="Google Shape;280;p53"/>
          <p:cNvSpPr txBox="1">
            <a:spLocks noGrp="1"/>
          </p:cNvSpPr>
          <p:nvPr>
            <p:ph type="body" idx="5"/>
          </p:nvPr>
        </p:nvSpPr>
        <p:spPr>
          <a:xfrm>
            <a:off x="9715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81" name="Google Shape;281;p53"/>
          <p:cNvSpPr txBox="1">
            <a:spLocks noGrp="1"/>
          </p:cNvSpPr>
          <p:nvPr>
            <p:ph type="body" idx="6"/>
          </p:nvPr>
        </p:nvSpPr>
        <p:spPr>
          <a:xfrm>
            <a:off x="9715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82" name="Google Shape;282;p53"/>
          <p:cNvSpPr txBox="1">
            <a:spLocks noGrp="1"/>
          </p:cNvSpPr>
          <p:nvPr>
            <p:ph type="body" idx="7"/>
          </p:nvPr>
        </p:nvSpPr>
        <p:spPr>
          <a:xfrm>
            <a:off x="5715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83" name="Google Shape;283;p53"/>
          <p:cNvSpPr txBox="1">
            <a:spLocks noGrp="1"/>
          </p:cNvSpPr>
          <p:nvPr>
            <p:ph type="body" idx="8"/>
          </p:nvPr>
        </p:nvSpPr>
        <p:spPr>
          <a:xfrm>
            <a:off x="5715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84" name="Google Shape;284;p53"/>
          <p:cNvSpPr txBox="1">
            <a:spLocks noGrp="1"/>
          </p:cNvSpPr>
          <p:nvPr>
            <p:ph type="body" idx="9"/>
          </p:nvPr>
        </p:nvSpPr>
        <p:spPr>
          <a:xfrm>
            <a:off x="1714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85" name="Google Shape;285;p53"/>
          <p:cNvSpPr txBox="1">
            <a:spLocks noGrp="1"/>
          </p:cNvSpPr>
          <p:nvPr>
            <p:ph type="body" idx="13"/>
          </p:nvPr>
        </p:nvSpPr>
        <p:spPr>
          <a:xfrm>
            <a:off x="1714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مقارنة خيارين">
  <p:cSld name="مقارنة خيارين">
    <p:bg>
      <p:bgPr>
        <a:solidFill>
          <a:srgbClr val="12183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4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0" name="Google Shape;290;p54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1" name="Google Shape;291;p54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2" name="Google Shape;292;p5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93" name="Google Shape;293;p54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 txBox="1">
            <a:spLocks noGrp="1"/>
          </p:cNvSpPr>
          <p:nvPr>
            <p:ph type="body" idx="3"/>
          </p:nvPr>
        </p:nvSpPr>
        <p:spPr>
          <a:xfrm>
            <a:off x="1000125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5" name="Google Shape;295;p54"/>
          <p:cNvSpPr txBox="1">
            <a:spLocks noGrp="1"/>
          </p:cNvSpPr>
          <p:nvPr>
            <p:ph type="body" idx="4"/>
          </p:nvPr>
        </p:nvSpPr>
        <p:spPr>
          <a:xfrm>
            <a:off x="1000125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6" name="Google Shape;296;p54"/>
          <p:cNvSpPr txBox="1">
            <a:spLocks noGrp="1"/>
          </p:cNvSpPr>
          <p:nvPr>
            <p:ph type="body" idx="5"/>
          </p:nvPr>
        </p:nvSpPr>
        <p:spPr>
          <a:xfrm>
            <a:off x="171450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7" name="Google Shape;297;p54"/>
          <p:cNvSpPr txBox="1">
            <a:spLocks noGrp="1"/>
          </p:cNvSpPr>
          <p:nvPr>
            <p:ph type="body" idx="6"/>
          </p:nvPr>
        </p:nvSpPr>
        <p:spPr>
          <a:xfrm>
            <a:off x="171450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8" name="Google Shape;298;p54"/>
          <p:cNvSpPr txBox="1">
            <a:spLocks noGrp="1"/>
          </p:cNvSpPr>
          <p:nvPr>
            <p:ph type="body" idx="7"/>
          </p:nvPr>
        </p:nvSpPr>
        <p:spPr>
          <a:xfrm>
            <a:off x="1000125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9" name="Google Shape;299;p54"/>
          <p:cNvSpPr txBox="1">
            <a:spLocks noGrp="1"/>
          </p:cNvSpPr>
          <p:nvPr>
            <p:ph type="body" idx="8"/>
          </p:nvPr>
        </p:nvSpPr>
        <p:spPr>
          <a:xfrm>
            <a:off x="171450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فارغة داكنة">
  <p:cSld name="فارغة داكنة">
    <p:bg>
      <p:bgPr>
        <a:solidFill>
          <a:srgbClr val="12183F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722542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4" name="Google Shape;304;p55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فارغة فاتحة">
  <p:cSld name="فارغة فاتحة">
    <p:bg>
      <p:bgPr>
        <a:solidFill>
          <a:srgbClr val="F2F4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5010" y="685800"/>
            <a:ext cx="3072581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9" name="Google Shape;309;p56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ختام العرض">
  <p:cSld name="ختام العرض">
    <p:bg>
      <p:bgPr>
        <a:solidFill>
          <a:srgbClr val="12183F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0" y="1336151"/>
            <a:ext cx="6667500" cy="1709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9485" y="8524875"/>
            <a:ext cx="3045029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57"/>
          <p:cNvPicPr preferRelativeResize="0"/>
          <p:nvPr/>
        </p:nvPicPr>
        <p:blipFill rotWithShape="1">
          <a:blip r:embed="rId5">
            <a:alphaModFix/>
          </a:blip>
          <a:srcRect l="4300" t="16000" r="69700" b="16000"/>
          <a:stretch/>
        </p:blipFill>
        <p:spPr>
          <a:xfrm>
            <a:off x="4857750" y="8629650"/>
            <a:ext cx="38100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7"/>
          <p:cNvSpPr txBox="1">
            <a:spLocks noGrp="1"/>
          </p:cNvSpPr>
          <p:nvPr>
            <p:ph type="title"/>
          </p:nvPr>
        </p:nvSpPr>
        <p:spPr>
          <a:xfrm>
            <a:off x="3810000" y="4048125"/>
            <a:ext cx="106680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16" name="Google Shape;316;p57"/>
          <p:cNvSpPr txBox="1">
            <a:spLocks noGrp="1"/>
          </p:cNvSpPr>
          <p:nvPr>
            <p:ph type="body" idx="1"/>
          </p:nvPr>
        </p:nvSpPr>
        <p:spPr>
          <a:xfrm>
            <a:off x="3810000" y="5905500"/>
            <a:ext cx="106680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17" name="Google Shape;317;p57"/>
          <p:cNvSpPr txBox="1">
            <a:spLocks noGrp="1"/>
          </p:cNvSpPr>
          <p:nvPr>
            <p:ph type="body" idx="2"/>
          </p:nvPr>
        </p:nvSpPr>
        <p:spPr>
          <a:xfrm>
            <a:off x="3810000" y="7000875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5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8" title="الصورة الرئيسية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75" y="1103475"/>
            <a:ext cx="9312476" cy="860312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"/>
          <p:cNvSpPr txBox="1">
            <a:spLocks noGrp="1"/>
          </p:cNvSpPr>
          <p:nvPr>
            <p:ph type="title"/>
          </p:nvPr>
        </p:nvSpPr>
        <p:spPr>
          <a:xfrm>
            <a:off x="7791450" y="3524250"/>
            <a:ext cx="90489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0"/>
              <a:buNone/>
            </a:pPr>
            <a:r>
              <a:rPr lang="ar-SA" sz="645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Amanah AI</a:t>
            </a:r>
            <a:endParaRPr/>
          </a:p>
        </p:txBody>
      </p:sp>
      <p:sp>
        <p:nvSpPr>
          <p:cNvPr id="487" name="Google Shape;487;p8"/>
          <p:cNvSpPr txBox="1">
            <a:spLocks noGrp="1"/>
          </p:cNvSpPr>
          <p:nvPr>
            <p:ph type="body" idx="1"/>
          </p:nvPr>
        </p:nvSpPr>
        <p:spPr>
          <a:xfrm>
            <a:off x="7791450" y="5334000"/>
            <a:ext cx="9048900" cy="16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ar-SA" sz="33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يتحقق من الآيات والأحاديث في أي نص، </a:t>
            </a:r>
            <a:endParaRPr lang="ar-EG" sz="3300" b="0" dirty="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ar-SA" sz="33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ويصحّحها من المصدر أو يحيلها للمراجعة البشرية</a:t>
            </a:r>
            <a:endParaRPr dirty="0"/>
          </a:p>
        </p:txBody>
      </p:sp>
      <p:sp>
        <p:nvSpPr>
          <p:cNvPr id="488" name="Google Shape;488;p8"/>
          <p:cNvSpPr/>
          <p:nvPr/>
        </p:nvSpPr>
        <p:spPr>
          <a:xfrm>
            <a:off x="1143000" y="8843963"/>
            <a:ext cx="16002000" cy="9600"/>
          </a:xfrm>
          <a:prstGeom prst="rect">
            <a:avLst/>
          </a:prstGeom>
          <a:solidFill>
            <a:srgbClr val="FFFFFF">
              <a:alpha val="12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8"/>
          <p:cNvSpPr/>
          <p:nvPr/>
        </p:nvSpPr>
        <p:spPr>
          <a:xfrm>
            <a:off x="14472130" y="9120188"/>
            <a:ext cx="2358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فريق Amanah AI</a:t>
            </a:r>
            <a:endParaRPr sz="1950" i="0" u="none" strike="noStrike" cap="non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1397000" y="9120188"/>
            <a:ext cx="27657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6 أكتوبر 2026</a:t>
            </a:r>
            <a:endParaRPr sz="1950" i="0" u="none" strike="noStrike" cap="non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pic>
        <p:nvPicPr>
          <p:cNvPr id="491" name="Google Shape;491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8250" y="691134"/>
            <a:ext cx="6572252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9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Amanah AI</a:t>
            </a:r>
            <a:endParaRPr/>
          </a:p>
        </p:txBody>
      </p:sp>
      <p:sp>
        <p:nvSpPr>
          <p:cNvPr id="501" name="Google Shape;501;p9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محتويات العرض</a:t>
            </a:r>
            <a:endParaRPr/>
          </a:p>
        </p:txBody>
      </p:sp>
      <p:sp>
        <p:nvSpPr>
          <p:cNvPr id="502" name="Google Shape;502;p9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2</a:t>
            </a:fld>
            <a:endParaRPr/>
          </a:p>
        </p:txBody>
      </p:sp>
      <p:sp>
        <p:nvSpPr>
          <p:cNvPr id="503" name="Google Shape;503;p9"/>
          <p:cNvSpPr txBox="1">
            <a:spLocks noGrp="1"/>
          </p:cNvSpPr>
          <p:nvPr>
            <p:ph type="body" idx="2"/>
          </p:nvPr>
        </p:nvSpPr>
        <p:spPr>
          <a:xfrm>
            <a:off x="12077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/>
          </a:p>
        </p:txBody>
      </p:sp>
      <p:sp>
        <p:nvSpPr>
          <p:cNvPr id="504" name="Google Shape;504;p9"/>
          <p:cNvSpPr txBox="1">
            <a:spLocks noGrp="1"/>
          </p:cNvSpPr>
          <p:nvPr>
            <p:ph type="body" idx="3"/>
          </p:nvPr>
        </p:nvSpPr>
        <p:spPr>
          <a:xfrm>
            <a:off x="12077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المشكلة والهدف</a:t>
            </a:r>
            <a:endParaRPr/>
          </a:p>
        </p:txBody>
      </p:sp>
      <p:sp>
        <p:nvSpPr>
          <p:cNvPr id="505" name="Google Shape;505;p9"/>
          <p:cNvSpPr txBox="1">
            <a:spLocks noGrp="1"/>
          </p:cNvSpPr>
          <p:nvPr>
            <p:ph type="body" idx="4"/>
          </p:nvPr>
        </p:nvSpPr>
        <p:spPr>
          <a:xfrm>
            <a:off x="12077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هلوسة الاقتباسات الدينية</a:t>
            </a:r>
            <a:endParaRPr/>
          </a:p>
        </p:txBody>
      </p:sp>
      <p:sp>
        <p:nvSpPr>
          <p:cNvPr id="506" name="Google Shape;506;p9"/>
          <p:cNvSpPr txBox="1">
            <a:spLocks noGrp="1"/>
          </p:cNvSpPr>
          <p:nvPr>
            <p:ph type="body" idx="5"/>
          </p:nvPr>
        </p:nvSpPr>
        <p:spPr>
          <a:xfrm>
            <a:off x="6743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/>
          </a:p>
        </p:txBody>
      </p:sp>
      <p:sp>
        <p:nvSpPr>
          <p:cNvPr id="507" name="Google Shape;507;p9"/>
          <p:cNvSpPr txBox="1">
            <a:spLocks noGrp="1"/>
          </p:cNvSpPr>
          <p:nvPr>
            <p:ph type="body" idx="6"/>
          </p:nvPr>
        </p:nvSpPr>
        <p:spPr>
          <a:xfrm>
            <a:off x="6743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الحل التقني</a:t>
            </a:r>
            <a:endParaRPr/>
          </a:p>
        </p:txBody>
      </p:sp>
      <p:sp>
        <p:nvSpPr>
          <p:cNvPr id="508" name="Google Shape;508;p9"/>
          <p:cNvSpPr txBox="1">
            <a:spLocks noGrp="1"/>
          </p:cNvSpPr>
          <p:nvPr>
            <p:ph type="body" idx="7"/>
          </p:nvPr>
        </p:nvSpPr>
        <p:spPr>
          <a:xfrm>
            <a:off x="6743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المصدر هو الحَكَم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09" name="Google Shape;509;p9"/>
          <p:cNvSpPr txBox="1">
            <a:spLocks noGrp="1"/>
          </p:cNvSpPr>
          <p:nvPr>
            <p:ph type="body" idx="8"/>
          </p:nvPr>
        </p:nvSpPr>
        <p:spPr>
          <a:xfrm>
            <a:off x="1409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body" idx="9"/>
          </p:nvPr>
        </p:nvSpPr>
        <p:spPr>
          <a:xfrm>
            <a:off x="1409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آلية العمل</a:t>
            </a:r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body" idx="13"/>
          </p:nvPr>
        </p:nvSpPr>
        <p:spPr>
          <a:xfrm>
            <a:off x="1409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من النص إلى القرار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2" name="Google Shape;512;p9"/>
          <p:cNvSpPr txBox="1">
            <a:spLocks noGrp="1"/>
          </p:cNvSpPr>
          <p:nvPr>
            <p:ph type="body" idx="14"/>
          </p:nvPr>
        </p:nvSpPr>
        <p:spPr>
          <a:xfrm>
            <a:off x="12077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/>
          </a:p>
        </p:txBody>
      </p:sp>
      <p:sp>
        <p:nvSpPr>
          <p:cNvPr id="513" name="Google Shape;513;p9"/>
          <p:cNvSpPr txBox="1">
            <a:spLocks noGrp="1"/>
          </p:cNvSpPr>
          <p:nvPr>
            <p:ph type="body" idx="15"/>
          </p:nvPr>
        </p:nvSpPr>
        <p:spPr>
          <a:xfrm>
            <a:off x="12077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المؤشرات والأثر</a:t>
            </a:r>
            <a:endParaRPr/>
          </a:p>
        </p:txBody>
      </p:sp>
      <p:sp>
        <p:nvSpPr>
          <p:cNvPr id="514" name="Google Shape;514;p9"/>
          <p:cNvSpPr txBox="1">
            <a:spLocks noGrp="1"/>
          </p:cNvSpPr>
          <p:nvPr>
            <p:ph type="body" idx="16"/>
          </p:nvPr>
        </p:nvSpPr>
        <p:spPr>
          <a:xfrm>
            <a:off x="12077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نتائج مقاسة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5" name="Google Shape;515;p9"/>
          <p:cNvSpPr txBox="1">
            <a:spLocks noGrp="1"/>
          </p:cNvSpPr>
          <p:nvPr>
            <p:ph type="body" idx="17"/>
          </p:nvPr>
        </p:nvSpPr>
        <p:spPr>
          <a:xfrm>
            <a:off x="6743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/>
          </a:p>
        </p:txBody>
      </p:sp>
      <p:sp>
        <p:nvSpPr>
          <p:cNvPr id="516" name="Google Shape;516;p9"/>
          <p:cNvSpPr txBox="1">
            <a:spLocks noGrp="1"/>
          </p:cNvSpPr>
          <p:nvPr>
            <p:ph type="body" idx="18"/>
          </p:nvPr>
        </p:nvSpPr>
        <p:spPr>
          <a:xfrm>
            <a:off x="6743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الاستدامة والتشغيل</a:t>
            </a:r>
            <a:endParaRPr/>
          </a:p>
        </p:txBody>
      </p:sp>
      <p:sp>
        <p:nvSpPr>
          <p:cNvPr id="517" name="Google Shape;517;p9"/>
          <p:cNvSpPr txBox="1">
            <a:spLocks noGrp="1"/>
          </p:cNvSpPr>
          <p:nvPr>
            <p:ph type="body" idx="19"/>
          </p:nvPr>
        </p:nvSpPr>
        <p:spPr>
          <a:xfrm>
            <a:off x="6743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تكلفة حالية صفرية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8" name="Google Shape;518;p9"/>
          <p:cNvSpPr txBox="1">
            <a:spLocks noGrp="1"/>
          </p:cNvSpPr>
          <p:nvPr>
            <p:ph type="body" idx="20"/>
          </p:nvPr>
        </p:nvSpPr>
        <p:spPr>
          <a:xfrm>
            <a:off x="1409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06</a:t>
            </a:r>
            <a:endParaRPr/>
          </a:p>
        </p:txBody>
      </p:sp>
      <p:sp>
        <p:nvSpPr>
          <p:cNvPr id="519" name="Google Shape;519;p9"/>
          <p:cNvSpPr txBox="1">
            <a:spLocks noGrp="1"/>
          </p:cNvSpPr>
          <p:nvPr>
            <p:ph type="body" idx="21"/>
          </p:nvPr>
        </p:nvSpPr>
        <p:spPr>
          <a:xfrm>
            <a:off x="1409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فريق العمل والدعم</a:t>
            </a:r>
            <a:endParaRPr/>
          </a:p>
        </p:txBody>
      </p:sp>
      <p:sp>
        <p:nvSpPr>
          <p:cNvPr id="520" name="Google Shape;520;p9"/>
          <p:cNvSpPr txBox="1">
            <a:spLocks noGrp="1"/>
          </p:cNvSpPr>
          <p:nvPr>
            <p:ph type="body" idx="22"/>
          </p:nvPr>
        </p:nvSpPr>
        <p:spPr>
          <a:xfrm>
            <a:off x="1409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الفريق وخطط التوسع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10" title="خلفية هكثون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0"/>
          <p:cNvSpPr txBox="1">
            <a:spLocks noGrp="1"/>
          </p:cNvSpPr>
          <p:nvPr>
            <p:ph type="body" idx="1"/>
          </p:nvPr>
        </p:nvSpPr>
        <p:spPr>
          <a:xfrm>
            <a:off x="13125450" y="3143250"/>
            <a:ext cx="36195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</a:pPr>
            <a:r>
              <a:rPr lang="ar-SA" sz="84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/>
          </a:p>
        </p:txBody>
      </p:sp>
      <p:sp>
        <p:nvSpPr>
          <p:cNvPr id="528" name="Google Shape;528;p10"/>
          <p:cNvSpPr txBox="1">
            <a:spLocks noGrp="1"/>
          </p:cNvSpPr>
          <p:nvPr>
            <p:ph type="title"/>
          </p:nvPr>
        </p:nvSpPr>
        <p:spPr>
          <a:xfrm>
            <a:off x="9179000" y="4810125"/>
            <a:ext cx="7566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ar-SA" sz="60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المشكلة والهدف</a:t>
            </a:r>
            <a:endParaRPr/>
          </a:p>
        </p:txBody>
      </p:sp>
      <p:sp>
        <p:nvSpPr>
          <p:cNvPr id="529" name="Google Shape;529;p10"/>
          <p:cNvSpPr txBox="1">
            <a:spLocks noGrp="1"/>
          </p:cNvSpPr>
          <p:nvPr>
            <p:ph type="body" idx="2"/>
          </p:nvPr>
        </p:nvSpPr>
        <p:spPr>
          <a:xfrm>
            <a:off x="9729275" y="6572250"/>
            <a:ext cx="70155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النماذج اللغوية تقتبس القرآن والحديث بطلاقة، وأحيانًا بخطأ لا يلاحظه القارئ.</a:t>
            </a:r>
            <a:endParaRPr/>
          </a:p>
        </p:txBody>
      </p:sp>
      <p:pic>
        <p:nvPicPr>
          <p:cNvPr id="530" name="Google Shape;53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1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المشكلة والهدف</a:t>
            </a:r>
            <a:endParaRPr/>
          </a:p>
        </p:txBody>
      </p:sp>
      <p:sp>
        <p:nvSpPr>
          <p:cNvPr id="538" name="Google Shape;538;p11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لماذا نحتاج التحقق من الاقتباسات؟</a:t>
            </a:r>
            <a:endParaRPr/>
          </a:p>
        </p:txBody>
      </p:sp>
      <p:sp>
        <p:nvSpPr>
          <p:cNvPr id="539" name="Google Shape;539;p11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في المحتوى الديني الخطأ الواثق أسوأ من غياب الإجابة</a:t>
            </a:r>
            <a:endParaRPr/>
          </a:p>
        </p:txBody>
      </p:sp>
      <p:sp>
        <p:nvSpPr>
          <p:cNvPr id="540" name="Google Shape;540;p11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4</a:t>
            </a:fld>
            <a:endParaRPr/>
          </a:p>
        </p:txBody>
      </p:sp>
      <p:sp>
        <p:nvSpPr>
          <p:cNvPr id="541" name="Google Shape;541;p11"/>
          <p:cNvSpPr txBox="1">
            <a:spLocks noGrp="1"/>
          </p:cNvSpPr>
          <p:nvPr>
            <p:ph type="body" idx="3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كلمة مبدَّلة</a:t>
            </a:r>
            <a:endParaRPr/>
          </a:p>
        </p:txBody>
      </p:sp>
      <p:sp>
        <p:nvSpPr>
          <p:cNvPr id="542" name="Google Shape;542;p11"/>
          <p:cNvSpPr txBox="1">
            <a:spLocks noGrp="1"/>
          </p:cNvSpPr>
          <p:nvPr>
            <p:ph type="body" idx="4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تتغير الآية بكلمة واحدة، مثل «ثم استقم» بدل «فاستقم».</a:t>
            </a:r>
            <a:endParaRPr/>
          </a:p>
        </p:txBody>
      </p:sp>
      <p:sp>
        <p:nvSpPr>
          <p:cNvPr id="543" name="Google Shape;543;p11"/>
          <p:cNvSpPr txBox="1">
            <a:spLocks noGrp="1"/>
          </p:cNvSpPr>
          <p:nvPr>
            <p:ph type="body" idx="5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دمج وتلفيق</a:t>
            </a:r>
            <a:endParaRPr/>
          </a:p>
        </p:txBody>
      </p:sp>
      <p:sp>
        <p:nvSpPr>
          <p:cNvPr id="544" name="Google Shape;544;p11"/>
          <p:cNvSpPr txBox="1">
            <a:spLocks noGrp="1"/>
          </p:cNvSpPr>
          <p:nvPr>
            <p:ph type="body" idx="6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آيتان أو حديثان يُدمجان في نص واحد يبدو سليمًا.</a:t>
            </a:r>
            <a:endParaRPr/>
          </a:p>
        </p:txBody>
      </p:sp>
      <p:sp>
        <p:nvSpPr>
          <p:cNvPr id="545" name="Google Shape;545;p11"/>
          <p:cNvSpPr txBox="1">
            <a:spLocks noGrp="1"/>
          </p:cNvSpPr>
          <p:nvPr>
            <p:ph type="body" idx="7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حديث مختلق</a:t>
            </a:r>
            <a:endParaRPr/>
          </a:p>
        </p:txBody>
      </p:sp>
      <p:sp>
        <p:nvSpPr>
          <p:cNvPr id="546" name="Google Shape;546;p11"/>
          <p:cNvSpPr txBox="1">
            <a:spLocks noGrp="1"/>
          </p:cNvSpPr>
          <p:nvPr>
            <p:ph type="body" idx="8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نص منسوب للنبي ﷺ لا أصل له في الكتب الستة.</a:t>
            </a:r>
            <a:endParaRPr/>
          </a:p>
        </p:txBody>
      </p:sp>
      <p:sp>
        <p:nvSpPr>
          <p:cNvPr id="547" name="Google Shape;547;p11"/>
          <p:cNvSpPr txBox="1">
            <a:spLocks noGrp="1"/>
          </p:cNvSpPr>
          <p:nvPr>
            <p:ph type="body" idx="9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قائل خاطئ</a:t>
            </a:r>
            <a:endParaRPr/>
          </a:p>
        </p:txBody>
      </p:sp>
      <p:sp>
        <p:nvSpPr>
          <p:cNvPr id="548" name="Google Shape;548;p11"/>
          <p:cNvSpPr txBox="1">
            <a:spLocks noGrp="1"/>
          </p:cNvSpPr>
          <p:nvPr>
            <p:ph type="body" idx="13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آية تُنسب للنبي ﷺ، أو حديث يُنسب إلى الله تعالى.</a:t>
            </a: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76962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50" name="Google Shape;55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2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58" name="Google Shape;55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2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المشكلة والهدف</a:t>
            </a:r>
            <a:endParaRPr/>
          </a:p>
        </p:txBody>
      </p:sp>
      <p:sp>
        <p:nvSpPr>
          <p:cNvPr id="560" name="Google Shape;560;p12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هدف المشروع</a:t>
            </a:r>
            <a:endParaRPr/>
          </a:p>
        </p:txBody>
      </p:sp>
      <p:sp>
        <p:nvSpPr>
          <p:cNvPr id="561" name="Google Shape;561;p12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5</a:t>
            </a:fld>
            <a:endParaRPr/>
          </a:p>
        </p:txBody>
      </p:sp>
      <p:sp>
        <p:nvSpPr>
          <p:cNvPr id="562" name="Google Shape;562;p12"/>
          <p:cNvSpPr txBox="1">
            <a:spLocks noGrp="1"/>
          </p:cNvSpPr>
          <p:nvPr>
            <p:ph type="body" idx="2"/>
          </p:nvPr>
        </p:nvSpPr>
        <p:spPr>
          <a:xfrm>
            <a:off x="5886450" y="3604500"/>
            <a:ext cx="10953900" cy="22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25"/>
              <a:buNone/>
            </a:pPr>
            <a:r>
              <a:rPr lang="ar-SA" sz="3225">
                <a:solidFill>
                  <a:srgbClr val="F2F4FF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نكتشف كل آية وحديث في النص، ونطابقه كلمةً بكلمة مع نص المصدر، ثم نحكم: موثّق، أو غير مطابق مع التصحيح من المصدر، أو يحتاج مراجعة بشرية. نريد نظامًا يقول «هذا خطأ» أو «هذا نص المصدر» أو «لست متأكدًا فليحكم إنسان»، ولا يخترع شيئًا.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63" name="Google Shape;563;p12"/>
          <p:cNvSpPr txBox="1">
            <a:spLocks noGrp="1"/>
          </p:cNvSpPr>
          <p:nvPr>
            <p:ph type="body" idx="3"/>
          </p:nvPr>
        </p:nvSpPr>
        <p:spPr>
          <a:xfrm>
            <a:off x="5886450" y="7239000"/>
            <a:ext cx="109539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الامتناع قبل التخمين</a:t>
            </a:r>
            <a:endParaRPr/>
          </a:p>
        </p:txBody>
      </p:sp>
      <p:sp>
        <p:nvSpPr>
          <p:cNvPr id="564" name="Google Shape;564;p12"/>
          <p:cNvSpPr txBox="1">
            <a:spLocks noGrp="1"/>
          </p:cNvSpPr>
          <p:nvPr>
            <p:ph type="body" idx="4"/>
          </p:nvPr>
        </p:nvSpPr>
        <p:spPr>
          <a:xfrm>
            <a:off x="5886450" y="8001000"/>
            <a:ext cx="10953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لا يُصحَّح الحديث آليًّا، وأي كلمة زائدة أو ناقصة فيه تُحال إلى المراجعة البشرية.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10" title="خلفية هكثون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0"/>
          <p:cNvSpPr txBox="1">
            <a:spLocks noGrp="1"/>
          </p:cNvSpPr>
          <p:nvPr>
            <p:ph type="body" idx="1"/>
          </p:nvPr>
        </p:nvSpPr>
        <p:spPr>
          <a:xfrm>
            <a:off x="13125450" y="3143250"/>
            <a:ext cx="36195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</a:pPr>
            <a:r>
              <a:rPr lang="ar-SA" sz="84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/>
          </a:p>
        </p:txBody>
      </p:sp>
      <p:sp>
        <p:nvSpPr>
          <p:cNvPr id="528" name="Google Shape;528;p10"/>
          <p:cNvSpPr txBox="1">
            <a:spLocks noGrp="1"/>
          </p:cNvSpPr>
          <p:nvPr>
            <p:ph type="title"/>
          </p:nvPr>
        </p:nvSpPr>
        <p:spPr>
          <a:xfrm>
            <a:off x="9179000" y="4810125"/>
            <a:ext cx="7566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ar-SA" sz="60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الحل التقني</a:t>
            </a:r>
            <a:endParaRPr/>
          </a:p>
        </p:txBody>
      </p:sp>
      <p:sp>
        <p:nvSpPr>
          <p:cNvPr id="529" name="Google Shape;529;p10"/>
          <p:cNvSpPr txBox="1">
            <a:spLocks noGrp="1"/>
          </p:cNvSpPr>
          <p:nvPr>
            <p:ph type="body" idx="2"/>
          </p:nvPr>
        </p:nvSpPr>
        <p:spPr>
          <a:xfrm>
            <a:off x="9729275" y="6572250"/>
            <a:ext cx="70155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محرك استرجاع ومحاذاة تكون فيه المصادر هي السلطة الوحيدة في الحكم.</a:t>
            </a:r>
            <a:endParaRPr/>
          </a:p>
        </p:txBody>
      </p:sp>
      <p:pic>
        <p:nvPicPr>
          <p:cNvPr id="530" name="Google Shape;53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0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20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الحل التقني</a:t>
            </a:r>
            <a:endParaRPr/>
          </a:p>
        </p:txBody>
      </p:sp>
      <p:sp>
        <p:nvSpPr>
          <p:cNvPr id="711" name="Google Shape;711;p20"/>
          <p:cNvSpPr txBox="1">
            <a:spLocks noGrp="1"/>
          </p:cNvSpPr>
          <p:nvPr>
            <p:ph type="title"/>
          </p:nvPr>
        </p:nvSpPr>
        <p:spPr>
          <a:xfrm>
            <a:off x="6637950" y="1809750"/>
            <a:ext cx="102024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كيف نضمن عدم الهلوسة؟</a:t>
            </a:r>
            <a:endParaRPr/>
          </a:p>
        </p:txBody>
      </p:sp>
      <p:sp>
        <p:nvSpPr>
          <p:cNvPr id="712" name="Google Shape;712;p20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المصدر هو الحَكَم، والنموذج اللغوي لا سلطة له على الصحة</a:t>
            </a:r>
            <a:endParaRPr/>
          </a:p>
        </p:txBody>
      </p:sp>
      <p:sp>
        <p:nvSpPr>
          <p:cNvPr id="713" name="Google Shape;713;p20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7</a:t>
            </a:fld>
            <a:endParaRPr/>
          </a:p>
        </p:txBody>
      </p:sp>
      <p:sp>
        <p:nvSpPr>
          <p:cNvPr id="714" name="Google Shape;714;p20"/>
          <p:cNvSpPr txBox="1">
            <a:spLocks noGrp="1"/>
          </p:cNvSpPr>
          <p:nvPr>
            <p:ph type="body" idx="3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تصحيح حرفي</a:t>
            </a:r>
            <a:endParaRPr/>
          </a:p>
        </p:txBody>
      </p:sp>
      <p:sp>
        <p:nvSpPr>
          <p:cNvPr id="715" name="Google Shape;715;p20"/>
          <p:cNvSpPr txBox="1">
            <a:spLocks noGrp="1"/>
          </p:cNvSpPr>
          <p:nvPr>
            <p:ph type="body" idx="4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التصحيح يُنسخ من نص المصدر ولا يُولَّد أبدًا.</a:t>
            </a:r>
            <a:endParaRPr/>
          </a:p>
        </p:txBody>
      </p:sp>
      <p:sp>
        <p:nvSpPr>
          <p:cNvPr id="716" name="Google Shape;716;p20"/>
          <p:cNvSpPr txBox="1">
            <a:spLocks noGrp="1"/>
          </p:cNvSpPr>
          <p:nvPr>
            <p:ph type="body" idx="5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حارس التأسيس</a:t>
            </a:r>
            <a:endParaRPr/>
          </a:p>
        </p:txBody>
      </p:sp>
      <p:sp>
        <p:nvSpPr>
          <p:cNvPr id="717" name="Google Shape;717;p20"/>
          <p:cNvSpPr txBox="1">
            <a:spLocks noGrp="1"/>
          </p:cNvSpPr>
          <p:nvPr>
            <p:ph type="body" idx="6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أي تصحيح ليس جزءًا من السجل المستشهد به يُحذف وتُحال الحالة للبشر.</a:t>
            </a:r>
            <a:endParaRPr/>
          </a:p>
        </p:txBody>
      </p:sp>
      <p:sp>
        <p:nvSpPr>
          <p:cNvPr id="718" name="Google Shape;718;p20"/>
          <p:cNvSpPr txBox="1">
            <a:spLocks noGrp="1"/>
          </p:cNvSpPr>
          <p:nvPr>
            <p:ph type="body" idx="7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حديث صارم</a:t>
            </a:r>
            <a:endParaRPr/>
          </a:p>
        </p:txBody>
      </p:sp>
      <p:sp>
        <p:nvSpPr>
          <p:cNvPr id="719" name="Google Shape;719;p20"/>
          <p:cNvSpPr txBox="1">
            <a:spLocks noGrp="1"/>
          </p:cNvSpPr>
          <p:nvPr>
            <p:ph type="body" idx="8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لا يُوثَّق الحديث إلا عند تطابق كلماته كلها.</a:t>
            </a:r>
            <a:endParaRPr/>
          </a:p>
        </p:txBody>
      </p:sp>
      <p:sp>
        <p:nvSpPr>
          <p:cNvPr id="720" name="Google Shape;720;p20"/>
          <p:cNvSpPr txBox="1">
            <a:spLocks noGrp="1"/>
          </p:cNvSpPr>
          <p:nvPr>
            <p:ph type="body" idx="9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اقتباس قصير</a:t>
            </a:r>
            <a:endParaRPr/>
          </a:p>
        </p:txBody>
      </p:sp>
      <p:sp>
        <p:nvSpPr>
          <p:cNvPr id="721" name="Google Shape;721;p20"/>
          <p:cNvSpPr txBox="1">
            <a:spLocks noGrp="1"/>
          </p:cNvSpPr>
          <p:nvPr>
            <p:ph type="body" idx="13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ما دون ثلاث كلمات يذهب إلى المراجعة البشرية.</a:t>
            </a:r>
            <a:endParaRPr/>
          </a:p>
        </p:txBody>
      </p:sp>
      <p:pic>
        <p:nvPicPr>
          <p:cNvPr id="722" name="Google Shape;722;p20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27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27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الحل التقني</a:t>
            </a:r>
            <a:endParaRPr/>
          </a:p>
        </p:txBody>
      </p:sp>
      <p:sp>
        <p:nvSpPr>
          <p:cNvPr id="861" name="Google Shape;861;p27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عناصر الحل</a:t>
            </a:r>
            <a:endParaRPr/>
          </a:p>
        </p:txBody>
      </p:sp>
      <p:sp>
        <p:nvSpPr>
          <p:cNvPr id="862" name="Google Shape;862;p27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بنية خفيفة ومنخفضة التكلفة</a:t>
            </a:r>
            <a:endParaRPr/>
          </a:p>
        </p:txBody>
      </p:sp>
      <p:sp>
        <p:nvSpPr>
          <p:cNvPr id="863" name="Google Shape;863;p27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8</a:t>
            </a:fld>
            <a:endParaRPr/>
          </a:p>
        </p:txBody>
      </p:sp>
      <p:pic>
        <p:nvPicPr>
          <p:cNvPr id="864" name="Google Shape;864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58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27"/>
          <p:cNvSpPr txBox="1">
            <a:spLocks noGrp="1"/>
          </p:cNvSpPr>
          <p:nvPr>
            <p:ph type="body" idx="3"/>
          </p:nvPr>
        </p:nvSpPr>
        <p:spPr>
          <a:xfrm>
            <a:off x="13411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كشف ذكي</a:t>
            </a:r>
            <a:endParaRPr/>
          </a:p>
        </p:txBody>
      </p:sp>
      <p:sp>
        <p:nvSpPr>
          <p:cNvPr id="866" name="Google Shape;866;p27"/>
          <p:cNvSpPr txBox="1">
            <a:spLocks noGrp="1"/>
          </p:cNvSpPr>
          <p:nvPr>
            <p:ph type="body" idx="4"/>
          </p:nvPr>
        </p:nvSpPr>
        <p:spPr>
          <a:xfrm>
            <a:off x="13411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يجد الاقتباس بعلامات تنصيص</a:t>
            </a:r>
            <a:endParaRPr/>
          </a:p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أو بدونها من المدوّنة</a:t>
            </a:r>
            <a:endParaRPr/>
          </a:p>
        </p:txBody>
      </p:sp>
      <p:pic>
        <p:nvPicPr>
          <p:cNvPr id="867" name="Google Shape;867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58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27"/>
          <p:cNvSpPr txBox="1">
            <a:spLocks noGrp="1"/>
          </p:cNvSpPr>
          <p:nvPr>
            <p:ph type="body" idx="5"/>
          </p:nvPr>
        </p:nvSpPr>
        <p:spPr>
          <a:xfrm>
            <a:off x="9410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مصادر موثّقة</a:t>
            </a:r>
            <a:endParaRPr/>
          </a:p>
        </p:txBody>
      </p:sp>
      <p:sp>
        <p:nvSpPr>
          <p:cNvPr id="869" name="Google Shape;869;p27"/>
          <p:cNvSpPr txBox="1">
            <a:spLocks noGrp="1"/>
          </p:cNvSpPr>
          <p:nvPr>
            <p:ph type="body" idx="6"/>
          </p:nvPr>
        </p:nvSpPr>
        <p:spPr>
          <a:xfrm>
            <a:off x="9410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6,236 آية و34,994 حديثًا</a:t>
            </a:r>
            <a:endParaRPr/>
          </a:p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الكتب الستة</a:t>
            </a:r>
            <a:endParaRPr/>
          </a:p>
        </p:txBody>
      </p:sp>
      <p:pic>
        <p:nvPicPr>
          <p:cNvPr id="870" name="Google Shape;870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57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27"/>
          <p:cNvSpPr txBox="1">
            <a:spLocks noGrp="1"/>
          </p:cNvSpPr>
          <p:nvPr>
            <p:ph type="body" idx="7"/>
          </p:nvPr>
        </p:nvSpPr>
        <p:spPr>
          <a:xfrm>
            <a:off x="5410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مراجعة بشرية</a:t>
            </a:r>
            <a:endParaRPr/>
          </a:p>
        </p:txBody>
      </p:sp>
      <p:sp>
        <p:nvSpPr>
          <p:cNvPr id="872" name="Google Shape;872;p27"/>
          <p:cNvSpPr txBox="1">
            <a:spLocks noGrp="1"/>
          </p:cNvSpPr>
          <p:nvPr>
            <p:ph type="body" idx="8"/>
          </p:nvPr>
        </p:nvSpPr>
        <p:spPr>
          <a:xfrm>
            <a:off x="5410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حالات الشك تُحال لإنسان</a:t>
            </a:r>
            <a:endParaRPr/>
          </a:p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مع بيان السبب</a:t>
            </a:r>
            <a:endParaRPr/>
          </a:p>
        </p:txBody>
      </p:sp>
      <p:pic>
        <p:nvPicPr>
          <p:cNvPr id="873" name="Google Shape;873;p2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57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7"/>
          <p:cNvSpPr txBox="1">
            <a:spLocks noGrp="1"/>
          </p:cNvSpPr>
          <p:nvPr>
            <p:ph type="body" idx="9"/>
          </p:nvPr>
        </p:nvSpPr>
        <p:spPr>
          <a:xfrm>
            <a:off x="1409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محاذاة دقيقة</a:t>
            </a:r>
            <a:endParaRPr/>
          </a:p>
        </p:txBody>
      </p:sp>
      <p:sp>
        <p:nvSpPr>
          <p:cNvPr id="875" name="Google Shape;875;p27"/>
          <p:cNvSpPr txBox="1">
            <a:spLocks noGrp="1"/>
          </p:cNvSpPr>
          <p:nvPr>
            <p:ph type="body" idx="13"/>
          </p:nvPr>
        </p:nvSpPr>
        <p:spPr>
          <a:xfrm>
            <a:off x="1409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كلمةً بكلمة، والتصحيح</a:t>
            </a:r>
            <a:endParaRPr/>
          </a:p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منسوخ من المصدر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10" title="خلفية هكثون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0"/>
          <p:cNvSpPr txBox="1">
            <a:spLocks noGrp="1"/>
          </p:cNvSpPr>
          <p:nvPr>
            <p:ph type="body" idx="1"/>
          </p:nvPr>
        </p:nvSpPr>
        <p:spPr>
          <a:xfrm>
            <a:off x="13125450" y="3143250"/>
            <a:ext cx="36195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</a:pPr>
            <a:r>
              <a:rPr lang="ar-SA" sz="84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/>
          </a:p>
        </p:txBody>
      </p:sp>
      <p:sp>
        <p:nvSpPr>
          <p:cNvPr id="528" name="Google Shape;528;p10"/>
          <p:cNvSpPr txBox="1">
            <a:spLocks noGrp="1"/>
          </p:cNvSpPr>
          <p:nvPr>
            <p:ph type="title"/>
          </p:nvPr>
        </p:nvSpPr>
        <p:spPr>
          <a:xfrm>
            <a:off x="9179000" y="4810125"/>
            <a:ext cx="7566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ar-SA" sz="60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آلية العمل</a:t>
            </a:r>
            <a:endParaRPr/>
          </a:p>
        </p:txBody>
      </p:sp>
      <p:sp>
        <p:nvSpPr>
          <p:cNvPr id="529" name="Google Shape;529;p10"/>
          <p:cNvSpPr txBox="1">
            <a:spLocks noGrp="1"/>
          </p:cNvSpPr>
          <p:nvPr>
            <p:ph type="body" idx="2"/>
          </p:nvPr>
        </p:nvSpPr>
        <p:spPr>
          <a:xfrm>
            <a:off x="9729275" y="6572250"/>
            <a:ext cx="70155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النص أو السؤال إلى قرار موثّق، مع الدليل والتصحيح.</a:t>
            </a:r>
            <a:endParaRPr/>
          </a:p>
        </p:txBody>
      </p:sp>
      <p:pic>
        <p:nvPicPr>
          <p:cNvPr id="530" name="Google Shape;53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24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4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آلية العمل</a:t>
            </a:r>
            <a:endParaRPr/>
          </a:p>
        </p:txBody>
      </p:sp>
      <p:sp>
        <p:nvSpPr>
          <p:cNvPr id="819" name="Google Shape;819;p24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آلية عمل الحل</a:t>
            </a:r>
            <a:endParaRPr/>
          </a:p>
        </p:txBody>
      </p:sp>
      <p:sp>
        <p:nvSpPr>
          <p:cNvPr id="820" name="Google Shape;820;p24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المدخلات إلى الأثر، كلها داخل متصفحك</a:t>
            </a:r>
            <a:endParaRPr/>
          </a:p>
        </p:txBody>
      </p:sp>
      <p:sp>
        <p:nvSpPr>
          <p:cNvPr id="821" name="Google Shape;821;p24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10</a:t>
            </a:fld>
            <a:endParaRPr/>
          </a:p>
        </p:txBody>
      </p:sp>
      <p:sp>
        <p:nvSpPr>
          <p:cNvPr id="822" name="Google Shape;822;p24"/>
          <p:cNvSpPr/>
          <p:nvPr/>
        </p:nvSpPr>
        <p:spPr>
          <a:xfrm>
            <a:off x="13716000" y="4333800"/>
            <a:ext cx="3429000" cy="3714900"/>
          </a:xfrm>
          <a:prstGeom prst="roundRect">
            <a:avLst>
              <a:gd name="adj" fmla="val 8059"/>
            </a:avLst>
          </a:prstGeom>
          <a:solidFill>
            <a:srgbClr val="FFFFFF">
              <a:alpha val="3920"/>
            </a:srgbClr>
          </a:solidFill>
          <a:ln w="8175" cap="flat" cmpd="sng">
            <a:solidFill>
              <a:srgbClr val="2EF2C2">
                <a:alpha val="1216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00" tIns="78400" rIns="78400" bIns="78400" anchor="ctr" anchorCtr="0">
            <a:noAutofit/>
          </a:bodyPr>
          <a:lstStyle/>
          <a:p>
            <a:pPr marL="0" marR="23867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6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2300"/>
              </a:spcBef>
              <a:spcAft>
                <a:spcPts val="0"/>
              </a:spcAft>
              <a:buNone/>
            </a:pPr>
            <a:r>
              <a:rPr lang="ar-SA" sz="27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المدخلات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سؤال أو نص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المستخدم أو من إجابة نموذج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1"/>
          </a:p>
        </p:txBody>
      </p:sp>
      <p:sp>
        <p:nvSpPr>
          <p:cNvPr id="823" name="Google Shape;823;p24"/>
          <p:cNvSpPr/>
          <p:nvPr/>
        </p:nvSpPr>
        <p:spPr>
          <a:xfrm>
            <a:off x="9715500" y="4333800"/>
            <a:ext cx="3429000" cy="3714900"/>
          </a:xfrm>
          <a:prstGeom prst="roundRect">
            <a:avLst>
              <a:gd name="adj" fmla="val 8059"/>
            </a:avLst>
          </a:prstGeom>
          <a:solidFill>
            <a:srgbClr val="FFFFFF">
              <a:alpha val="3920"/>
            </a:srgbClr>
          </a:solidFill>
          <a:ln w="8175" cap="flat" cmpd="sng">
            <a:solidFill>
              <a:srgbClr val="2EF2C2">
                <a:alpha val="1216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00" tIns="78400" rIns="78400" bIns="78400" anchor="ctr" anchorCtr="0">
            <a:noAutofit/>
          </a:bodyPr>
          <a:lstStyle/>
          <a:p>
            <a:pPr marL="0" marR="223307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6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2300"/>
              </a:spcBef>
              <a:spcAft>
                <a:spcPts val="0"/>
              </a:spcAft>
              <a:buNone/>
            </a:pPr>
            <a:r>
              <a:rPr lang="ar-SA" sz="27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المعالجة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كشف ← استرجاع ← محاذاة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ثم قرار وحارس تأسيس</a:t>
            </a:r>
            <a:endParaRPr sz="3600" b="1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5715000" y="4333800"/>
            <a:ext cx="3429000" cy="3714900"/>
          </a:xfrm>
          <a:prstGeom prst="roundRect">
            <a:avLst>
              <a:gd name="adj" fmla="val 8059"/>
            </a:avLst>
          </a:prstGeom>
          <a:solidFill>
            <a:srgbClr val="FFFFFF">
              <a:alpha val="3920"/>
            </a:srgbClr>
          </a:solidFill>
          <a:ln w="8175" cap="flat" cmpd="sng">
            <a:solidFill>
              <a:srgbClr val="2EF2C2">
                <a:alpha val="1216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00" tIns="78400" rIns="78400" bIns="78400" anchor="ctr" anchorCtr="0">
            <a:noAutofit/>
          </a:bodyPr>
          <a:lstStyle/>
          <a:p>
            <a:pPr marL="0" marR="238125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6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2300"/>
              </a:spcBef>
              <a:spcAft>
                <a:spcPts val="0"/>
              </a:spcAft>
              <a:buNone/>
            </a:pPr>
            <a:r>
              <a:rPr lang="ar-SA" sz="27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المخرجات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ثلاثة قرارات مع الدليل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موثّق · غير مطابق · مراجعة</a:t>
            </a:r>
            <a:endParaRPr sz="3600" b="1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1714500" y="4333800"/>
            <a:ext cx="3429000" cy="3714900"/>
          </a:xfrm>
          <a:prstGeom prst="roundRect">
            <a:avLst>
              <a:gd name="adj" fmla="val 8059"/>
            </a:avLst>
          </a:prstGeom>
          <a:solidFill>
            <a:srgbClr val="FFFFFF">
              <a:alpha val="3920"/>
            </a:srgbClr>
          </a:solidFill>
          <a:ln w="8175" cap="flat" cmpd="sng">
            <a:solidFill>
              <a:srgbClr val="2EF2C2">
                <a:alpha val="1216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00" tIns="78400" rIns="78400" bIns="78400" anchor="ctr" anchorCtr="0">
            <a:noAutofit/>
          </a:bodyPr>
          <a:lstStyle/>
          <a:p>
            <a:pPr marL="0" marR="223307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6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2300"/>
              </a:spcBef>
              <a:spcAft>
                <a:spcPts val="0"/>
              </a:spcAft>
              <a:buNone/>
            </a:pPr>
            <a:r>
              <a:rPr lang="ar-SA" sz="27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الأثر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ثقة أعلى وتدقيق أسرع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تُقاس بدقة الحكم 93.12%</a:t>
            </a:r>
            <a:endParaRPr sz="3600" b="1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pic>
        <p:nvPicPr>
          <p:cNvPr id="826" name="Google Shape;826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3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72" name="Google Shape;57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3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آلية العمل</a:t>
            </a:r>
            <a:endParaRPr/>
          </a:p>
        </p:txBody>
      </p:sp>
      <p:sp>
        <p:nvSpPr>
          <p:cNvPr id="574" name="Google Shape;574;p13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تصحيح آية من نص المصدر</a:t>
            </a:r>
            <a:endParaRPr/>
          </a:p>
        </p:txBody>
      </p:sp>
      <p:sp>
        <p:nvSpPr>
          <p:cNvPr id="575" name="Google Shape;575;p13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11</a:t>
            </a:fld>
            <a:endParaRPr/>
          </a:p>
        </p:txBody>
      </p:sp>
      <p:sp>
        <p:nvSpPr>
          <p:cNvPr id="577" name="Google Shape;577;p13"/>
          <p:cNvSpPr txBox="1">
            <a:spLocks noGrp="1"/>
          </p:cNvSpPr>
          <p:nvPr>
            <p:ph type="body" idx="3"/>
          </p:nvPr>
        </p:nvSpPr>
        <p:spPr>
          <a:xfrm>
            <a:off x="10458450" y="4095750"/>
            <a:ext cx="63819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ما الذي نراه؟</a:t>
            </a:r>
            <a:endParaRPr/>
          </a:p>
        </p:txBody>
      </p:sp>
      <p:sp>
        <p:nvSpPr>
          <p:cNvPr id="578" name="Google Shape;578;p13"/>
          <p:cNvSpPr txBox="1">
            <a:spLocks noGrp="1"/>
          </p:cNvSpPr>
          <p:nvPr>
            <p:ph type="body" idx="4"/>
          </p:nvPr>
        </p:nvSpPr>
        <p:spPr>
          <a:xfrm>
            <a:off x="10458450" y="4800600"/>
            <a:ext cx="6381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آية اقتُبست بكلمة مخالفة: يبرز النظام الفرق ويعرض نص سورة الأحزاب 10 كما في المصدر.</a:t>
            </a:r>
            <a:endParaRPr/>
          </a:p>
        </p:txBody>
      </p:sp>
      <p:sp>
        <p:nvSpPr>
          <p:cNvPr id="579" name="Google Shape;579;p13"/>
          <p:cNvSpPr txBox="1">
            <a:spLocks noGrp="1"/>
          </p:cNvSpPr>
          <p:nvPr>
            <p:ph type="body" idx="5"/>
          </p:nvPr>
        </p:nvSpPr>
        <p:spPr>
          <a:xfrm>
            <a:off x="10458450" y="6667500"/>
            <a:ext cx="63819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ما الذي يهم المستخدم؟</a:t>
            </a:r>
            <a:endParaRPr/>
          </a:p>
        </p:txBody>
      </p:sp>
      <p:sp>
        <p:nvSpPr>
          <p:cNvPr id="580" name="Google Shape;580;p13"/>
          <p:cNvSpPr txBox="1">
            <a:spLocks noGrp="1"/>
          </p:cNvSpPr>
          <p:nvPr>
            <p:ph type="body" idx="6"/>
          </p:nvPr>
        </p:nvSpPr>
        <p:spPr>
          <a:xfrm>
            <a:off x="10458450" y="7372350"/>
            <a:ext cx="6381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يرى موضع الخطأ بعينه، ويأخذ النص الصحيح بنقرة نسخ، دون أن يخترع النظام شيئًا.</a:t>
            </a:r>
            <a:endParaRPr/>
          </a:p>
        </p:txBody>
      </p:sp>
      <p:pic>
        <p:nvPicPr>
          <p:cNvPr id="581" name="لقطة: تصحيح آية" descr="c_aya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0" y="4048125"/>
            <a:ext cx="8382000" cy="4705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25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25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12</a:t>
            </a:fld>
            <a:endParaRPr/>
          </a:p>
        </p:txBody>
      </p:sp>
      <p:sp>
        <p:nvSpPr>
          <p:cNvPr id="835" name="Google Shape;835;p25"/>
          <p:cNvSpPr txBox="1">
            <a:spLocks noGrp="1"/>
          </p:cNvSpPr>
          <p:nvPr>
            <p:ph type="title"/>
          </p:nvPr>
        </p:nvSpPr>
        <p:spPr>
          <a:xfrm>
            <a:off x="2038350" y="7962900"/>
            <a:ext cx="147639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حديث مختلق يُوسَم «غير مطابق» دون اقتراح أي بديل</a:t>
            </a:r>
            <a:endParaRPr/>
          </a:p>
        </p:txBody>
      </p:sp>
      <p:sp>
        <p:nvSpPr>
          <p:cNvPr id="836" name="Google Shape;836;p25"/>
          <p:cNvSpPr txBox="1">
            <a:spLocks noGrp="1"/>
          </p:cNvSpPr>
          <p:nvPr>
            <p:ph type="body" idx="1"/>
          </p:nvPr>
        </p:nvSpPr>
        <p:spPr>
          <a:xfrm>
            <a:off x="1990725" y="8824913"/>
            <a:ext cx="147639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ar-SA" sz="210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النسخة المنشورة: «غزوة الشفع والوتر» لا أصل لها في المراجع المضمّنة، فلم يُقترح نص بديل.</a:t>
            </a:r>
            <a:endParaRPr/>
          </a:p>
        </p:txBody>
      </p:sp>
      <p:pic>
        <p:nvPicPr>
          <p:cNvPr id="837" name="لقطة: حديث مختلق" descr="c_hadi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666750"/>
            <a:ext cx="16192500" cy="6953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Google Shape;842;p26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26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آلية العمل</a:t>
            </a:r>
            <a:endParaRPr/>
          </a:p>
        </p:txBody>
      </p:sp>
      <p:sp>
        <p:nvSpPr>
          <p:cNvPr id="844" name="Google Shape;844;p26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معرض الواجهات</a:t>
            </a:r>
            <a:endParaRPr/>
          </a:p>
        </p:txBody>
      </p:sp>
      <p:sp>
        <p:nvSpPr>
          <p:cNvPr id="845" name="Google Shape;845;p26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13</a:t>
            </a:fld>
            <a:endParaRPr/>
          </a:p>
        </p:txBody>
      </p:sp>
      <p:sp>
        <p:nvSpPr>
          <p:cNvPr id="847" name="Google Shape;847;p26"/>
          <p:cNvSpPr txBox="1">
            <a:spLocks noGrp="1"/>
          </p:cNvSpPr>
          <p:nvPr>
            <p:ph type="body" idx="3"/>
          </p:nvPr>
        </p:nvSpPr>
        <p:spPr>
          <a:xfrm>
            <a:off x="12115800" y="7820025"/>
            <a:ext cx="47625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«اسأل ثم تحقّق»: سؤال وإجابة النموذج وعدّاد القرارات</a:t>
            </a:r>
            <a:endParaRPr/>
          </a:p>
        </p:txBody>
      </p:sp>
      <p:sp>
        <p:nvSpPr>
          <p:cNvPr id="848" name="Google Shape;848;p26"/>
          <p:cNvSpPr txBox="1">
            <a:spLocks noGrp="1"/>
          </p:cNvSpPr>
          <p:nvPr>
            <p:ph type="body" idx="5"/>
          </p:nvPr>
        </p:nvSpPr>
        <p:spPr>
          <a:xfrm>
            <a:off x="6762750" y="7820025"/>
            <a:ext cx="47625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«تحقّق مباشر»: نص ملصوق مع إبراز الاقتباسات</a:t>
            </a:r>
            <a:endParaRPr/>
          </a:p>
        </p:txBody>
      </p:sp>
      <p:sp>
        <p:nvSpPr>
          <p:cNvPr id="849" name="Google Shape;849;p26"/>
          <p:cNvSpPr txBox="1">
            <a:spLocks noGrp="1"/>
          </p:cNvSpPr>
          <p:nvPr>
            <p:ph type="body" idx="7"/>
          </p:nvPr>
        </p:nvSpPr>
        <p:spPr>
          <a:xfrm>
            <a:off x="1409700" y="7820025"/>
            <a:ext cx="47625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النسخة المصحّحة: نسخ بنقرة وتنبيه للحالة الملتبسة</a:t>
            </a:r>
            <a:endParaRPr/>
          </a:p>
        </p:txBody>
      </p:sp>
      <p:pic>
        <p:nvPicPr>
          <p:cNvPr id="850" name="Google Shape;850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لقطة: ask" descr="c_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2450" y="4000500"/>
            <a:ext cx="4953000" cy="3533775"/>
          </a:xfrm>
          <a:prstGeom prst="rect">
            <a:avLst/>
          </a:prstGeom>
        </p:spPr>
      </p:pic>
      <p:pic>
        <p:nvPicPr>
          <p:cNvPr id="854" name="لقطة: direct" descr="c_dir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450" y="4000500"/>
            <a:ext cx="4953000" cy="3533775"/>
          </a:xfrm>
          <a:prstGeom prst="rect">
            <a:avLst/>
          </a:prstGeom>
        </p:spPr>
      </p:pic>
      <p:pic>
        <p:nvPicPr>
          <p:cNvPr id="855" name="لقطة: copy" descr="c_cop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4450" y="4000500"/>
            <a:ext cx="4953000" cy="35337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10" title="خلفية هكثون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0"/>
          <p:cNvSpPr txBox="1">
            <a:spLocks noGrp="1"/>
          </p:cNvSpPr>
          <p:nvPr>
            <p:ph type="body" idx="1"/>
          </p:nvPr>
        </p:nvSpPr>
        <p:spPr>
          <a:xfrm>
            <a:off x="13125450" y="3143250"/>
            <a:ext cx="36195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</a:pPr>
            <a:r>
              <a:rPr lang="ar-SA" sz="84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/>
          </a:p>
        </p:txBody>
      </p:sp>
      <p:sp>
        <p:nvSpPr>
          <p:cNvPr id="528" name="Google Shape;528;p10"/>
          <p:cNvSpPr txBox="1">
            <a:spLocks noGrp="1"/>
          </p:cNvSpPr>
          <p:nvPr>
            <p:ph type="title"/>
          </p:nvPr>
        </p:nvSpPr>
        <p:spPr>
          <a:xfrm>
            <a:off x="9179000" y="4810125"/>
            <a:ext cx="7566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ar-SA" sz="60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المؤشرات والأثر</a:t>
            </a:r>
            <a:endParaRPr/>
          </a:p>
        </p:txBody>
      </p:sp>
      <p:sp>
        <p:nvSpPr>
          <p:cNvPr id="529" name="Google Shape;529;p10"/>
          <p:cNvSpPr txBox="1">
            <a:spLocks noGrp="1"/>
          </p:cNvSpPr>
          <p:nvPr>
            <p:ph type="body" idx="2"/>
          </p:nvPr>
        </p:nvSpPr>
        <p:spPr>
          <a:xfrm>
            <a:off x="9729275" y="6572250"/>
            <a:ext cx="70155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نتائج مقاسة على بيانات IslamicEval 2025 واختبار إجهاد تركيبي.</a:t>
            </a:r>
            <a:endParaRPr/>
          </a:p>
        </p:txBody>
      </p:sp>
      <p:pic>
        <p:nvPicPr>
          <p:cNvPr id="530" name="Google Shape;53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15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603" name="Google Shape;60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5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المؤشرات والأثر</a:t>
            </a:r>
            <a:endParaRPr/>
          </a:p>
        </p:txBody>
      </p:sp>
      <p:sp>
        <p:nvSpPr>
          <p:cNvPr id="605" name="Google Shape;605;p15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الأثر والمؤشرات</a:t>
            </a:r>
            <a:endParaRPr/>
          </a:p>
        </p:txBody>
      </p:sp>
      <p:sp>
        <p:nvSpPr>
          <p:cNvPr id="606" name="Google Shape;606;p15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عيّنة التطوير الرسمية من IslamicEval 2025 (150 ردًّا) واختبار إجهاد تركيبي</a:t>
            </a:r>
            <a:endParaRPr/>
          </a:p>
        </p:txBody>
      </p:sp>
      <p:sp>
        <p:nvSpPr>
          <p:cNvPr id="607" name="Google Shape;607;p15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15</a:t>
            </a:fld>
            <a:endParaRPr/>
          </a:p>
        </p:txBody>
      </p:sp>
      <p:sp>
        <p:nvSpPr>
          <p:cNvPr id="608" name="Google Shape;608;p15"/>
          <p:cNvSpPr txBox="1">
            <a:spLocks noGrp="1"/>
          </p:cNvSpPr>
          <p:nvPr>
            <p:ph type="body" idx="3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lang="ar-SA" sz="54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93.12%</a:t>
            </a:r>
            <a:endParaRPr/>
          </a:p>
        </p:txBody>
      </p:sp>
      <p:sp>
        <p:nvSpPr>
          <p:cNvPr id="609" name="Google Shape;609;p15"/>
          <p:cNvSpPr txBox="1">
            <a:spLocks noGrp="1"/>
          </p:cNvSpPr>
          <p:nvPr>
            <p:ph type="body" idx="4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دقة الحكم (صحيح / خطأ)</a:t>
            </a:r>
            <a:endParaRPr/>
          </a:p>
        </p:txBody>
      </p:sp>
      <p:sp>
        <p:nvSpPr>
          <p:cNvPr id="610" name="Google Shape;610;p15"/>
          <p:cNvSpPr txBox="1">
            <a:spLocks noGrp="1"/>
          </p:cNvSpPr>
          <p:nvPr>
            <p:ph type="body" idx="5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lang="ar-SA" sz="2025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المهمة 1B · 247 مقطعًا</a:t>
            </a:r>
            <a:endParaRPr/>
          </a:p>
        </p:txBody>
      </p:sp>
      <p:sp>
        <p:nvSpPr>
          <p:cNvPr id="611" name="Google Shape;611;p15"/>
          <p:cNvSpPr txBox="1">
            <a:spLocks noGrp="1"/>
          </p:cNvSpPr>
          <p:nvPr>
            <p:ph type="body" idx="6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lang="ar-SA" sz="54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5/100</a:t>
            </a:r>
            <a:endParaRPr/>
          </a:p>
        </p:txBody>
      </p:sp>
      <p:sp>
        <p:nvSpPr>
          <p:cNvPr id="612" name="Google Shape;612;p15"/>
          <p:cNvSpPr txBox="1">
            <a:spLocks noGrp="1"/>
          </p:cNvSpPr>
          <p:nvPr>
            <p:ph type="body" idx="7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أخطاء قُبلت موثّقةً بالغلط</a:t>
            </a:r>
            <a:endParaRPr/>
          </a:p>
        </p:txBody>
      </p:sp>
      <p:sp>
        <p:nvSpPr>
          <p:cNvPr id="613" name="Google Shape;613;p15"/>
          <p:cNvSpPr txBox="1">
            <a:spLocks noGrp="1"/>
          </p:cNvSpPr>
          <p:nvPr>
            <p:ph type="body" idx="8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lang="ar-SA" sz="2025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اقتباسات خاطئة</a:t>
            </a:r>
            <a:endParaRPr/>
          </a:p>
        </p:txBody>
      </p:sp>
      <p:sp>
        <p:nvSpPr>
          <p:cNvPr id="614" name="Google Shape;614;p15"/>
          <p:cNvSpPr txBox="1">
            <a:spLocks noGrp="1"/>
          </p:cNvSpPr>
          <p:nvPr>
            <p:ph type="body" idx="9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lang="ar-SA" sz="54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</a:t>
            </a:r>
            <a:endParaRPr/>
          </a:p>
        </p:txBody>
      </p:sp>
      <p:sp>
        <p:nvSpPr>
          <p:cNvPr id="615" name="Google Shape;615;p15"/>
          <p:cNvSpPr txBox="1">
            <a:spLocks noGrp="1"/>
          </p:cNvSpPr>
          <p:nvPr>
            <p:ph type="body" idx="13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نص مختلق أو مدمج وُسم موثّقًا</a:t>
            </a:r>
            <a:endParaRPr/>
          </a:p>
        </p:txBody>
      </p:sp>
      <p:sp>
        <p:nvSpPr>
          <p:cNvPr id="616" name="Google Shape;616;p15"/>
          <p:cNvSpPr txBox="1">
            <a:spLocks noGrp="1"/>
          </p:cNvSpPr>
          <p:nvPr>
            <p:ph type="body" idx="14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lang="ar-SA" sz="2025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اختبار الإجهاد · 60 حالة لكل نوع</a:t>
            </a:r>
            <a:endParaRPr/>
          </a:p>
        </p:txBody>
      </p:sp>
      <p:sp>
        <p:nvSpPr>
          <p:cNvPr id="617" name="Google Shape;617;p15"/>
          <p:cNvSpPr txBox="1">
            <a:spLocks noGrp="1"/>
          </p:cNvSpPr>
          <p:nvPr>
            <p:ph type="body" idx="15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lang="ar-SA" sz="54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41,230</a:t>
            </a:r>
            <a:endParaRPr/>
          </a:p>
        </p:txBody>
      </p:sp>
      <p:sp>
        <p:nvSpPr>
          <p:cNvPr id="618" name="Google Shape;618;p15"/>
          <p:cNvSpPr txBox="1">
            <a:spLocks noGrp="1"/>
          </p:cNvSpPr>
          <p:nvPr>
            <p:ph type="body" idx="16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سجلًّا مرجعيًّا مضمّنًا</a:t>
            </a:r>
            <a:endParaRPr/>
          </a:p>
        </p:txBody>
      </p:sp>
      <p:sp>
        <p:nvSpPr>
          <p:cNvPr id="619" name="Google Shape;619;p15"/>
          <p:cNvSpPr txBox="1">
            <a:spLocks noGrp="1"/>
          </p:cNvSpPr>
          <p:nvPr>
            <p:ph type="body" idx="17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lang="ar-SA" sz="2025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6,236 آية + 34,994 حديثًا</a:t>
            </a:r>
            <a:endParaRPr/>
          </a:p>
        </p:txBody>
      </p:sp>
      <p:sp>
        <p:nvSpPr>
          <p:cNvPr id="620" name="Google Shape;620;p15"/>
          <p:cNvSpPr txBox="1">
            <a:spLocks noGrp="1"/>
          </p:cNvSpPr>
          <p:nvPr>
            <p:ph type="body" idx="18"/>
          </p:nvPr>
        </p:nvSpPr>
        <p:spPr>
          <a:xfrm>
            <a:off x="8381075" y="8763000"/>
            <a:ext cx="84591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المصدر: evaluate.py واختبار الإجهاد، 6 أكتوبر 2026 · عيّنة ضُبطت عليها العتبات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7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المؤشرات والأثر</a:t>
            </a:r>
            <a:endParaRPr/>
          </a:p>
        </p:txBody>
      </p:sp>
      <p:sp>
        <p:nvSpPr>
          <p:cNvPr id="640" name="Google Shape;640;p17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النتائج مقابل خط الأساس</a:t>
            </a:r>
            <a:endParaRPr/>
          </a:p>
        </p:txBody>
      </p:sp>
      <p:sp>
        <p:nvSpPr>
          <p:cNvPr id="641" name="Google Shape;641;p17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نتائج المهام الثلاث على عيّنة التطوير الرسمية</a:t>
            </a:r>
            <a:endParaRPr/>
          </a:p>
        </p:txBody>
      </p:sp>
      <p:sp>
        <p:nvSpPr>
          <p:cNvPr id="642" name="Google Shape;642;p17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16</a:t>
            </a:fld>
            <a:endParaRPr/>
          </a:p>
        </p:txBody>
      </p:sp>
      <p:graphicFrame>
        <p:nvGraphicFramePr>
          <p:cNvPr id="643" name="Google Shape;643;p17"/>
          <p:cNvGraphicFramePr/>
          <p:nvPr/>
        </p:nvGraphicFramePr>
        <p:xfrm>
          <a:off x="1314450" y="3905250"/>
          <a:ext cx="15430500" cy="4476750"/>
        </p:xfrm>
        <a:graphic>
          <a:graphicData uri="http://schemas.openxmlformats.org/drawingml/2006/table">
            <a:tbl>
              <a:tblPr>
                <a:noFill/>
                <a:tableStyleId>{B8ED9858-D163-4338-9E88-1F424354888F}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1" u="none" strike="noStrike" cap="non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Amanah AI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1" u="none" strike="noStrike" cap="non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خط الأساس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1" u="none" strike="noStrike" cap="non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المقياس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1" u="none" strike="noStrike" cap="non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المهمة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7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0.8274 (قواعد فقط 0.8379)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—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F1 على مستوى الحرف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1A الكشف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93.12%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59.5%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دقة الحكم · 247 مقطعًا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1B التحقق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74.30%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62.0%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دقة التصحيح · 179 مقطعًا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1C التصحيح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100%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—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استدعاء المقاطع المسنودة بالمدوّنة (76)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اقتباس بلا علامات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4" name="Google Shape;644;p17"/>
          <p:cNvSpPr txBox="1">
            <a:spLocks noGrp="1"/>
          </p:cNvSpPr>
          <p:nvPr>
            <p:ph type="body" idx="3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الأرقام على بيانات ضُبطت عليها العتبات، فقد تكون أعلى من الأداء على بيانات مستقلة · خط الأساس: «صحيح دائمًا» (1B) و«لا مصدر» دائمًا (1C)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g3fa608e3085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g3fa608e3085_0_0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المؤشرات والأثر</a:t>
            </a:r>
            <a:endParaRPr/>
          </a:p>
        </p:txBody>
      </p:sp>
      <p:sp>
        <p:nvSpPr>
          <p:cNvPr id="743" name="Google Shape;743;g3fa608e3085_0_0"/>
          <p:cNvSpPr txBox="1">
            <a:spLocks noGrp="1"/>
          </p:cNvSpPr>
          <p:nvPr>
            <p:ph type="title"/>
          </p:nvPr>
        </p:nvSpPr>
        <p:spPr>
          <a:xfrm>
            <a:off x="1409700" y="15811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دقة النظام مقابل خط الأساس</a:t>
            </a:r>
            <a:endParaRPr/>
          </a:p>
        </p:txBody>
      </p:sp>
      <p:sp>
        <p:nvSpPr>
          <p:cNvPr id="744" name="Google Shape;744;g3fa608e3085_0_0"/>
          <p:cNvSpPr txBox="1">
            <a:spLocks noGrp="1"/>
          </p:cNvSpPr>
          <p:nvPr>
            <p:ph type="body" idx="2"/>
          </p:nvPr>
        </p:nvSpPr>
        <p:spPr>
          <a:xfrm>
            <a:off x="1409700" y="23241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المهمتان 1B و1C على عيّنة التطوير الرسمية</a:t>
            </a:r>
            <a:endParaRPr/>
          </a:p>
        </p:txBody>
      </p:sp>
      <p:sp>
        <p:nvSpPr>
          <p:cNvPr id="745" name="Google Shape;745;g3fa608e3085_0_0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17</a:t>
            </a:fld>
            <a:endParaRPr/>
          </a:p>
        </p:txBody>
      </p:sp>
      <p:sp>
        <p:nvSpPr>
          <p:cNvPr id="746" name="Google Shape;746;g3fa608e3085_0_0"/>
          <p:cNvSpPr txBox="1">
            <a:spLocks noGrp="1"/>
          </p:cNvSpPr>
          <p:nvPr>
            <p:ph type="body" idx="3"/>
          </p:nvPr>
        </p:nvSpPr>
        <p:spPr>
          <a:xfrm>
            <a:off x="2095500" y="8905875"/>
            <a:ext cx="14192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النسبة المئوية % · المصدر: evaluate.py، عيّنة التطوير · 6 أكتوبر 2026</a:t>
            </a:r>
            <a:endParaRPr/>
          </a:p>
        </p:txBody>
      </p:sp>
      <p:pic>
        <p:nvPicPr>
          <p:cNvPr id="785" name="Google Shape;785;g3fa608e3085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86" name="مخطط الدقة"/>
          <p:cNvGraphicFramePr>
            <a:graphicFrameLocks noGrp="1"/>
          </p:cNvGraphicFramePr>
          <p:nvPr/>
        </p:nvGraphicFramePr>
        <p:xfrm>
          <a:off x="1714500" y="3524250"/>
          <a:ext cx="1485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F"/>
        </a:solidFill>
        <a:effectLst/>
      </p:bgPr>
    </p:bg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16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6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18</a:t>
            </a:fld>
            <a:endParaRPr/>
          </a:p>
        </p:txBody>
      </p:sp>
      <p:sp>
        <p:nvSpPr>
          <p:cNvPr id="628" name="Google Shape;628;p16"/>
          <p:cNvSpPr txBox="1">
            <a:spLocks noGrp="1"/>
          </p:cNvSpPr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50"/>
              <a:buNone/>
            </a:pPr>
            <a:r>
              <a:rPr lang="ar-SA" sz="5550" b="1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نظام لا يخترع ولا يخمّن</a:t>
            </a:r>
            <a:endParaRPr/>
          </a:p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50"/>
              <a:buNone/>
            </a:pPr>
            <a:r>
              <a:rPr lang="ar-SA" sz="5550" b="1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ويقول «لا أعلم» حين لا يكفي الدليل</a:t>
            </a:r>
            <a:endParaRPr/>
          </a:p>
        </p:txBody>
      </p:sp>
      <p:sp>
        <p:nvSpPr>
          <p:cNvPr id="629" name="Google Shape;629;p16"/>
          <p:cNvSpPr txBox="1">
            <a:spLocks noGrp="1"/>
          </p:cNvSpPr>
          <p:nvPr>
            <p:ph type="body" idx="1"/>
          </p:nvPr>
        </p:nvSpPr>
        <p:spPr>
          <a:xfrm>
            <a:off x="4202375" y="6905625"/>
            <a:ext cx="107520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الأمانة العلمية أولًا — Amanah AI</a:t>
            </a:r>
            <a:endParaRPr/>
          </a:p>
        </p:txBody>
      </p:sp>
      <p:pic>
        <p:nvPicPr>
          <p:cNvPr id="631" name="Google Shape;631;p16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10" title="خلفية هكثون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0"/>
          <p:cNvSpPr txBox="1">
            <a:spLocks noGrp="1"/>
          </p:cNvSpPr>
          <p:nvPr>
            <p:ph type="body" idx="1"/>
          </p:nvPr>
        </p:nvSpPr>
        <p:spPr>
          <a:xfrm>
            <a:off x="13125450" y="3143250"/>
            <a:ext cx="36195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</a:pPr>
            <a:r>
              <a:rPr lang="ar-SA" sz="84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/>
          </a:p>
        </p:txBody>
      </p:sp>
      <p:sp>
        <p:nvSpPr>
          <p:cNvPr id="528" name="Google Shape;528;p10"/>
          <p:cNvSpPr txBox="1">
            <a:spLocks noGrp="1"/>
          </p:cNvSpPr>
          <p:nvPr>
            <p:ph type="title"/>
          </p:nvPr>
        </p:nvSpPr>
        <p:spPr>
          <a:xfrm>
            <a:off x="9179000" y="4810125"/>
            <a:ext cx="7566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ar-SA" sz="60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الاستدامة والتشغيل</a:t>
            </a:r>
            <a:endParaRPr/>
          </a:p>
        </p:txBody>
      </p:sp>
      <p:sp>
        <p:nvSpPr>
          <p:cNvPr id="529" name="Google Shape;529;p10"/>
          <p:cNvSpPr txBox="1">
            <a:spLocks noGrp="1"/>
          </p:cNvSpPr>
          <p:nvPr>
            <p:ph type="body" idx="2"/>
          </p:nvPr>
        </p:nvSpPr>
        <p:spPr>
          <a:xfrm>
            <a:off x="9729275" y="6572250"/>
            <a:ext cx="70155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تشغيل بتكلفة حالية صفرية على بنية مجانية، وخطة لمراجعة المحتوى.</a:t>
            </a:r>
            <a:endParaRPr/>
          </a:p>
        </p:txBody>
      </p:sp>
      <p:pic>
        <p:nvPicPr>
          <p:cNvPr id="530" name="Google Shape;53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7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الاستدامة المالية والتشغيل</a:t>
            </a:r>
            <a:endParaRPr/>
          </a:p>
        </p:txBody>
      </p:sp>
      <p:sp>
        <p:nvSpPr>
          <p:cNvPr id="640" name="Google Shape;640;p17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حصر التكاليف وآليات التخفيض</a:t>
            </a:r>
            <a:endParaRPr/>
          </a:p>
        </p:txBody>
      </p:sp>
      <p:sp>
        <p:nvSpPr>
          <p:cNvPr id="641" name="Google Shape;641;p17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خطة واقعية لتغطية وتخفيض الاحتياجات التشغيلية للمشروع</a:t>
            </a:r>
            <a:endParaRPr/>
          </a:p>
        </p:txBody>
      </p:sp>
      <p:sp>
        <p:nvSpPr>
          <p:cNvPr id="642" name="Google Shape;642;p17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20</a:t>
            </a:fld>
            <a:endParaRPr/>
          </a:p>
        </p:txBody>
      </p:sp>
      <p:graphicFrame>
        <p:nvGraphicFramePr>
          <p:cNvPr id="643" name="Google Shape;643;p17"/>
          <p:cNvGraphicFramePr/>
          <p:nvPr/>
        </p:nvGraphicFramePr>
        <p:xfrm>
          <a:off x="1314450" y="3905250"/>
          <a:ext cx="15430500" cy="4476750"/>
        </p:xfrm>
        <a:graphic>
          <a:graphicData uri="http://schemas.openxmlformats.org/drawingml/2006/table">
            <a:tbl>
              <a:tblPr>
                <a:noFill/>
                <a:tableStyleId>{B8ED9858-D163-4338-9E88-1F424354888F}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1" u="none" strike="noStrike" cap="non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آلية التخفيض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1" u="none" strike="noStrike" cap="non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النوع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1" u="none" strike="noStrike" cap="non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الوصف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1" u="none" strike="noStrike" cap="non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البند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7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طبقة مجانية ثم توسّع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متطلب تشغيلي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موقع ثابت على Hugging Face Spaces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استضافة الموقع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نموذج مفتوح ومجاني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متطلب تقني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Cloudflare Workers AI لتوليد الإجابات فقط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وسيط الإجابة (API)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شراكات ومتطوعون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مراجعة دورية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تدقيق المصادر والأمثلة المحفوظة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مراجعة المحتوى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موارد الفريق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فريق التقنية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تحسين الأداء وإصلاح الأخطاء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الصيانة والتطوير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23D6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4" name="Google Shape;644;p17"/>
          <p:cNvSpPr txBox="1">
            <a:spLocks noGrp="1"/>
          </p:cNvSpPr>
          <p:nvPr>
            <p:ph type="body" idx="3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التحقق نفسه يعمل في متصفح المستخدم فلا تكلفة معالجة على الخادم · تقدير مبدئي، وحدود الطبقات المجانية قد تتغير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8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21</a:t>
            </a:fld>
            <a:endParaRPr/>
          </a:p>
        </p:txBody>
      </p:sp>
      <p:sp>
        <p:nvSpPr>
          <p:cNvPr id="652" name="Google Shape;652;p18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الاستدامة المالية والتشغيل</a:t>
            </a:r>
            <a:endParaRPr/>
          </a:p>
        </p:txBody>
      </p:sp>
      <p:sp>
        <p:nvSpPr>
          <p:cNvPr id="653" name="Google Shape;653;p18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خطة التنفيذ</a:t>
            </a:r>
            <a:endParaRPr/>
          </a:p>
        </p:txBody>
      </p:sp>
      <p:sp>
        <p:nvSpPr>
          <p:cNvPr id="654" name="Google Shape;654;p18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المرحلة الأولى: 6 أشهر</a:t>
            </a:r>
            <a:endParaRPr/>
          </a:p>
        </p:txBody>
      </p:sp>
      <p:sp>
        <p:nvSpPr>
          <p:cNvPr id="655" name="Google Shape;655;p18"/>
          <p:cNvSpPr txBox="1">
            <a:spLocks noGrp="1"/>
          </p:cNvSpPr>
          <p:nvPr>
            <p:ph type="body" idx="3"/>
          </p:nvPr>
        </p:nvSpPr>
        <p:spPr>
          <a:xfrm>
            <a:off x="13982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/>
          </a:p>
        </p:txBody>
      </p:sp>
      <p:sp>
        <p:nvSpPr>
          <p:cNvPr id="656" name="Google Shape;656;p18"/>
          <p:cNvSpPr txBox="1">
            <a:spLocks noGrp="1"/>
          </p:cNvSpPr>
          <p:nvPr>
            <p:ph type="body" idx="4"/>
          </p:nvPr>
        </p:nvSpPr>
        <p:spPr>
          <a:xfrm>
            <a:off x="139827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الإطلاق</a:t>
            </a:r>
            <a:endParaRPr/>
          </a:p>
        </p:txBody>
      </p:sp>
      <p:sp>
        <p:nvSpPr>
          <p:cNvPr id="657" name="Google Shape;657;p18"/>
          <p:cNvSpPr txBox="1">
            <a:spLocks noGrp="1"/>
          </p:cNvSpPr>
          <p:nvPr>
            <p:ph type="body" idx="5"/>
          </p:nvPr>
        </p:nvSpPr>
        <p:spPr>
          <a:xfrm>
            <a:off x="139827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الشهر 1</a:t>
            </a:r>
            <a:endParaRPr/>
          </a:p>
        </p:txBody>
      </p:sp>
      <p:sp>
        <p:nvSpPr>
          <p:cNvPr id="658" name="Google Shape;658;p18"/>
          <p:cNvSpPr txBox="1">
            <a:spLocks noGrp="1"/>
          </p:cNvSpPr>
          <p:nvPr>
            <p:ph type="body" idx="6"/>
          </p:nvPr>
        </p:nvSpPr>
        <p:spPr>
          <a:xfrm>
            <a:off x="139827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نسخة أولى وضبط التكاليف</a:t>
            </a:r>
            <a:endParaRPr/>
          </a:p>
        </p:txBody>
      </p:sp>
      <p:sp>
        <p:nvSpPr>
          <p:cNvPr id="659" name="Google Shape;659;p18"/>
          <p:cNvSpPr txBox="1">
            <a:spLocks noGrp="1"/>
          </p:cNvSpPr>
          <p:nvPr>
            <p:ph type="body" idx="7"/>
          </p:nvPr>
        </p:nvSpPr>
        <p:spPr>
          <a:xfrm>
            <a:off x="108394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/>
          </a:p>
        </p:txBody>
      </p:sp>
      <p:sp>
        <p:nvSpPr>
          <p:cNvPr id="660" name="Google Shape;660;p18"/>
          <p:cNvSpPr txBox="1">
            <a:spLocks noGrp="1"/>
          </p:cNvSpPr>
          <p:nvPr>
            <p:ph type="body" idx="8"/>
          </p:nvPr>
        </p:nvSpPr>
        <p:spPr>
          <a:xfrm>
            <a:off x="1083945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المراجعة الدورية</a:t>
            </a:r>
            <a:endParaRPr/>
          </a:p>
        </p:txBody>
      </p:sp>
      <p:sp>
        <p:nvSpPr>
          <p:cNvPr id="661" name="Google Shape;661;p18"/>
          <p:cNvSpPr txBox="1">
            <a:spLocks noGrp="1"/>
          </p:cNvSpPr>
          <p:nvPr>
            <p:ph type="body" idx="9"/>
          </p:nvPr>
        </p:nvSpPr>
        <p:spPr>
          <a:xfrm>
            <a:off x="108394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الشهر 2</a:t>
            </a:r>
            <a:endParaRPr/>
          </a:p>
        </p:txBody>
      </p:sp>
      <p:sp>
        <p:nvSpPr>
          <p:cNvPr id="662" name="Google Shape;662;p18"/>
          <p:cNvSpPr txBox="1">
            <a:spLocks noGrp="1"/>
          </p:cNvSpPr>
          <p:nvPr>
            <p:ph type="body" idx="13"/>
          </p:nvPr>
        </p:nvSpPr>
        <p:spPr>
          <a:xfrm>
            <a:off x="1083945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تحديث المصادر والفهارس</a:t>
            </a:r>
            <a:endParaRPr/>
          </a:p>
        </p:txBody>
      </p:sp>
      <p:sp>
        <p:nvSpPr>
          <p:cNvPr id="663" name="Google Shape;663;p18"/>
          <p:cNvSpPr txBox="1">
            <a:spLocks noGrp="1"/>
          </p:cNvSpPr>
          <p:nvPr>
            <p:ph type="body" idx="14"/>
          </p:nvPr>
        </p:nvSpPr>
        <p:spPr>
          <a:xfrm>
            <a:off x="76962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/>
          </a:p>
        </p:txBody>
      </p:sp>
      <p:sp>
        <p:nvSpPr>
          <p:cNvPr id="664" name="Google Shape;664;p18"/>
          <p:cNvSpPr txBox="1">
            <a:spLocks noGrp="1"/>
          </p:cNvSpPr>
          <p:nvPr>
            <p:ph type="body" idx="15"/>
          </p:nvPr>
        </p:nvSpPr>
        <p:spPr>
          <a:xfrm>
            <a:off x="76962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تحسين الكفاءة</a:t>
            </a:r>
            <a:endParaRPr/>
          </a:p>
        </p:txBody>
      </p:sp>
      <p:sp>
        <p:nvSpPr>
          <p:cNvPr id="665" name="Google Shape;665;p18"/>
          <p:cNvSpPr txBox="1">
            <a:spLocks noGrp="1"/>
          </p:cNvSpPr>
          <p:nvPr>
            <p:ph type="body" idx="16"/>
          </p:nvPr>
        </p:nvSpPr>
        <p:spPr>
          <a:xfrm>
            <a:off x="76962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الشهران 3–4</a:t>
            </a:r>
            <a:endParaRPr/>
          </a:p>
        </p:txBody>
      </p:sp>
      <p:sp>
        <p:nvSpPr>
          <p:cNvPr id="666" name="Google Shape;666;p18"/>
          <p:cNvSpPr txBox="1">
            <a:spLocks noGrp="1"/>
          </p:cNvSpPr>
          <p:nvPr>
            <p:ph type="body" idx="17"/>
          </p:nvPr>
        </p:nvSpPr>
        <p:spPr>
          <a:xfrm>
            <a:off x="76962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نماذج محلية لتقليل استهلاك API</a:t>
            </a:r>
            <a:endParaRPr/>
          </a:p>
        </p:txBody>
      </p:sp>
      <p:sp>
        <p:nvSpPr>
          <p:cNvPr id="667" name="Google Shape;667;p18"/>
          <p:cNvSpPr txBox="1">
            <a:spLocks noGrp="1"/>
          </p:cNvSpPr>
          <p:nvPr>
            <p:ph type="body" idx="18"/>
          </p:nvPr>
        </p:nvSpPr>
        <p:spPr>
          <a:xfrm>
            <a:off x="45529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/>
          </a:p>
        </p:txBody>
      </p:sp>
      <p:sp>
        <p:nvSpPr>
          <p:cNvPr id="668" name="Google Shape;668;p18"/>
          <p:cNvSpPr txBox="1">
            <a:spLocks noGrp="1"/>
          </p:cNvSpPr>
          <p:nvPr>
            <p:ph type="body" idx="19"/>
          </p:nvPr>
        </p:nvSpPr>
        <p:spPr>
          <a:xfrm>
            <a:off x="455295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الشراكات</a:t>
            </a:r>
            <a:endParaRPr/>
          </a:p>
        </p:txBody>
      </p:sp>
      <p:sp>
        <p:nvSpPr>
          <p:cNvPr id="669" name="Google Shape;669;p18"/>
          <p:cNvSpPr txBox="1">
            <a:spLocks noGrp="1"/>
          </p:cNvSpPr>
          <p:nvPr>
            <p:ph type="body" idx="20"/>
          </p:nvPr>
        </p:nvSpPr>
        <p:spPr>
          <a:xfrm>
            <a:off x="45529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الشهر 5</a:t>
            </a:r>
            <a:endParaRPr/>
          </a:p>
        </p:txBody>
      </p:sp>
      <p:sp>
        <p:nvSpPr>
          <p:cNvPr id="670" name="Google Shape;670;p18"/>
          <p:cNvSpPr txBox="1">
            <a:spLocks noGrp="1"/>
          </p:cNvSpPr>
          <p:nvPr>
            <p:ph type="body" idx="21"/>
          </p:nvPr>
        </p:nvSpPr>
        <p:spPr>
          <a:xfrm>
            <a:off x="455295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مؤسسات تهتم بالمحتوى الإسلامي</a:t>
            </a:r>
            <a:endParaRPr/>
          </a:p>
        </p:txBody>
      </p:sp>
      <p:sp>
        <p:nvSpPr>
          <p:cNvPr id="671" name="Google Shape;671;p18"/>
          <p:cNvSpPr txBox="1">
            <a:spLocks noGrp="1"/>
          </p:cNvSpPr>
          <p:nvPr>
            <p:ph type="body" idx="22"/>
          </p:nvPr>
        </p:nvSpPr>
        <p:spPr>
          <a:xfrm>
            <a:off x="1409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/>
          </a:p>
        </p:txBody>
      </p:sp>
      <p:sp>
        <p:nvSpPr>
          <p:cNvPr id="672" name="Google Shape;672;p18"/>
          <p:cNvSpPr txBox="1">
            <a:spLocks noGrp="1"/>
          </p:cNvSpPr>
          <p:nvPr>
            <p:ph type="body" idx="23"/>
          </p:nvPr>
        </p:nvSpPr>
        <p:spPr>
          <a:xfrm>
            <a:off x="14097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التوسع</a:t>
            </a:r>
            <a:endParaRPr/>
          </a:p>
        </p:txBody>
      </p:sp>
      <p:sp>
        <p:nvSpPr>
          <p:cNvPr id="673" name="Google Shape;673;p18"/>
          <p:cNvSpPr txBox="1">
            <a:spLocks noGrp="1"/>
          </p:cNvSpPr>
          <p:nvPr>
            <p:ph type="body" idx="24"/>
          </p:nvPr>
        </p:nvSpPr>
        <p:spPr>
          <a:xfrm>
            <a:off x="14097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الشهر 6</a:t>
            </a:r>
            <a:endParaRPr/>
          </a:p>
        </p:txBody>
      </p:sp>
      <p:sp>
        <p:nvSpPr>
          <p:cNvPr id="674" name="Google Shape;674;p18"/>
          <p:cNvSpPr txBox="1">
            <a:spLocks noGrp="1"/>
          </p:cNvSpPr>
          <p:nvPr>
            <p:ph type="body" idx="25"/>
          </p:nvPr>
        </p:nvSpPr>
        <p:spPr>
          <a:xfrm>
            <a:off x="14097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مصادر جديدة من ملاحظات المستخدمين</a:t>
            </a:r>
            <a:endParaRPr/>
          </a:p>
        </p:txBody>
      </p:sp>
      <p:cxnSp>
        <p:nvCxnSpPr>
          <p:cNvPr id="675" name="Google Shape;675;p18"/>
          <p:cNvCxnSpPr/>
          <p:nvPr/>
        </p:nvCxnSpPr>
        <p:spPr>
          <a:xfrm rot="10800000">
            <a:off x="13992300" y="4708975"/>
            <a:ext cx="2838300" cy="0"/>
          </a:xfrm>
          <a:prstGeom prst="straightConnector1">
            <a:avLst/>
          </a:prstGeom>
          <a:noFill/>
          <a:ln w="76200" cap="flat" cmpd="sng">
            <a:solidFill>
              <a:srgbClr val="6150E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76" name="Google Shape;67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7" name="Google Shape;677;p18"/>
          <p:cNvCxnSpPr/>
          <p:nvPr/>
        </p:nvCxnSpPr>
        <p:spPr>
          <a:xfrm rot="10800000">
            <a:off x="10830000" y="4708975"/>
            <a:ext cx="2838300" cy="0"/>
          </a:xfrm>
          <a:prstGeom prst="straightConnector1">
            <a:avLst/>
          </a:prstGeom>
          <a:noFill/>
          <a:ln w="76200" cap="flat" cmpd="sng">
            <a:solidFill>
              <a:srgbClr val="6150EA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8" name="Google Shape;678;p18"/>
          <p:cNvCxnSpPr/>
          <p:nvPr/>
        </p:nvCxnSpPr>
        <p:spPr>
          <a:xfrm rot="10800000">
            <a:off x="7667700" y="4708975"/>
            <a:ext cx="2838300" cy="0"/>
          </a:xfrm>
          <a:prstGeom prst="straightConnector1">
            <a:avLst/>
          </a:prstGeom>
          <a:noFill/>
          <a:ln w="76200" cap="flat" cmpd="sng">
            <a:solidFill>
              <a:srgbClr val="6150EA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9" name="Google Shape;679;p18"/>
          <p:cNvCxnSpPr/>
          <p:nvPr/>
        </p:nvCxnSpPr>
        <p:spPr>
          <a:xfrm rot="10800000">
            <a:off x="4505400" y="4708975"/>
            <a:ext cx="2838300" cy="0"/>
          </a:xfrm>
          <a:prstGeom prst="straightConnector1">
            <a:avLst/>
          </a:prstGeom>
          <a:noFill/>
          <a:ln w="76200" cap="flat" cmpd="sng">
            <a:solidFill>
              <a:srgbClr val="6150EA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0" name="Google Shape;680;p18"/>
          <p:cNvCxnSpPr/>
          <p:nvPr/>
        </p:nvCxnSpPr>
        <p:spPr>
          <a:xfrm rot="10800000">
            <a:off x="1343100" y="4708975"/>
            <a:ext cx="2838300" cy="0"/>
          </a:xfrm>
          <a:prstGeom prst="straightConnector1">
            <a:avLst/>
          </a:prstGeom>
          <a:noFill/>
          <a:ln w="76200" cap="flat" cmpd="sng">
            <a:solidFill>
              <a:srgbClr val="6150EA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Google Shape;79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23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الاستدامة المالية والتشغيل</a:t>
            </a:r>
            <a:endParaRPr/>
          </a:p>
        </p:txBody>
      </p:sp>
      <p:sp>
        <p:nvSpPr>
          <p:cNvPr id="794" name="Google Shape;794;p23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نسب تغطية التكاليف (مستهدفة)</a:t>
            </a:r>
            <a:endParaRPr/>
          </a:p>
        </p:txBody>
      </p:sp>
      <p:sp>
        <p:nvSpPr>
          <p:cNvPr id="795" name="Google Shape;795;p23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تقدير تخطيطي للمرحلة الأولى، وليس رقمًا مقيسًا</a:t>
            </a:r>
            <a:endParaRPr/>
          </a:p>
        </p:txBody>
      </p:sp>
      <p:sp>
        <p:nvSpPr>
          <p:cNvPr id="796" name="Google Shape;796;p23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22</a:t>
            </a:fld>
            <a:endParaRPr/>
          </a:p>
        </p:txBody>
      </p:sp>
      <p:sp>
        <p:nvSpPr>
          <p:cNvPr id="797" name="Google Shape;797;p23"/>
          <p:cNvSpPr txBox="1">
            <a:spLocks noGrp="1"/>
          </p:cNvSpPr>
          <p:nvPr>
            <p:ph type="body" idx="3"/>
          </p:nvPr>
        </p:nvSpPr>
        <p:spPr>
          <a:xfrm>
            <a:off x="1409700" y="890587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نسب مستهدفة من تقدير الفريق، ويجري التفاوض عليها مع الجهات المهتمة</a:t>
            </a:r>
            <a:endParaRPr/>
          </a:p>
        </p:txBody>
      </p:sp>
      <p:pic>
        <p:nvPicPr>
          <p:cNvPr id="811" name="Google Shape;81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12" name="مخطط نسب التغطية"/>
          <p:cNvGraphicFramePr>
            <a:graphicFrameLocks noGrp="1"/>
          </p:cNvGraphicFramePr>
          <p:nvPr/>
        </p:nvGraphicFramePr>
        <p:xfrm>
          <a:off x="2857500" y="3714750"/>
          <a:ext cx="12573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28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28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الاستدامة المالية والتشغيل</a:t>
            </a:r>
            <a:endParaRPr/>
          </a:p>
        </p:txBody>
      </p:sp>
      <p:sp>
        <p:nvSpPr>
          <p:cNvPr id="884" name="Google Shape;884;p28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نموذج تغطية التكاليف والاستمرارية</a:t>
            </a:r>
            <a:endParaRPr/>
          </a:p>
        </p:txBody>
      </p:sp>
      <p:sp>
        <p:nvSpPr>
          <p:cNvPr id="885" name="Google Shape;885;p28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مقارنة خيارات التمويل المتاحة</a:t>
            </a:r>
            <a:endParaRPr/>
          </a:p>
        </p:txBody>
      </p:sp>
      <p:sp>
        <p:nvSpPr>
          <p:cNvPr id="886" name="Google Shape;886;p28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23</a:t>
            </a:fld>
            <a:endParaRPr/>
          </a:p>
        </p:txBody>
      </p:sp>
      <p:sp>
        <p:nvSpPr>
          <p:cNvPr id="887" name="Google Shape;887;p28"/>
          <p:cNvSpPr txBox="1">
            <a:spLocks noGrp="1"/>
          </p:cNvSpPr>
          <p:nvPr>
            <p:ph type="body" idx="3"/>
          </p:nvPr>
        </p:nvSpPr>
        <p:spPr>
          <a:xfrm>
            <a:off x="9696450" y="3857625"/>
            <a:ext cx="71439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الشراكات والرعايات</a:t>
            </a:r>
            <a:endParaRPr/>
          </a:p>
        </p:txBody>
      </p:sp>
      <p:sp>
        <p:nvSpPr>
          <p:cNvPr id="888" name="Google Shape;888;p28"/>
          <p:cNvSpPr txBox="1">
            <a:spLocks noGrp="1"/>
          </p:cNvSpPr>
          <p:nvPr>
            <p:ph type="body" idx="4"/>
          </p:nvPr>
        </p:nvSpPr>
        <p:spPr>
          <a:xfrm>
            <a:off x="9696450" y="4562475"/>
            <a:ext cx="7143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تمويل من مؤسسات مهتمة بالمحتوى الإسلامي</a:t>
            </a:r>
            <a:endParaRPr/>
          </a:p>
        </p:txBody>
      </p:sp>
      <p:sp>
        <p:nvSpPr>
          <p:cNvPr id="889" name="Google Shape;889;p28"/>
          <p:cNvSpPr txBox="1">
            <a:spLocks noGrp="1"/>
          </p:cNvSpPr>
          <p:nvPr>
            <p:ph type="body" idx="5"/>
          </p:nvPr>
        </p:nvSpPr>
        <p:spPr>
          <a:xfrm>
            <a:off x="1409700" y="3857625"/>
            <a:ext cx="71439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التقنيات المفتوحة والموارد الذاتية</a:t>
            </a:r>
            <a:endParaRPr/>
          </a:p>
        </p:txBody>
      </p:sp>
      <p:sp>
        <p:nvSpPr>
          <p:cNvPr id="890" name="Google Shape;890;p28"/>
          <p:cNvSpPr txBox="1">
            <a:spLocks noGrp="1"/>
          </p:cNvSpPr>
          <p:nvPr>
            <p:ph type="body" idx="6"/>
          </p:nvPr>
        </p:nvSpPr>
        <p:spPr>
          <a:xfrm>
            <a:off x="1409700" y="4562475"/>
            <a:ext cx="7143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أدنى تكلفة دون تمويل خارجي كبير</a:t>
            </a:r>
            <a:endParaRPr/>
          </a:p>
        </p:txBody>
      </p:sp>
      <p:sp>
        <p:nvSpPr>
          <p:cNvPr id="891" name="Google Shape;891;p28"/>
          <p:cNvSpPr txBox="1">
            <a:spLocks noGrp="1"/>
          </p:cNvSpPr>
          <p:nvPr>
            <p:ph type="body" idx="7"/>
          </p:nvPr>
        </p:nvSpPr>
        <p:spPr>
          <a:xfrm>
            <a:off x="9696450" y="5905500"/>
            <a:ext cx="7143900" cy="29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b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الميزة: تغطية الاستضافة والنماذج عبر الرعاة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endParaRPr sz="2550" b="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b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القيد: إبرام شراكات استراتيجية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endParaRPr sz="2550" b="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b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يناسب: مرحلة الإطلاق والتوسع</a:t>
            </a:r>
            <a:endParaRPr/>
          </a:p>
        </p:txBody>
      </p:sp>
      <p:sp>
        <p:nvSpPr>
          <p:cNvPr id="892" name="Google Shape;892;p28"/>
          <p:cNvSpPr txBox="1">
            <a:spLocks noGrp="1"/>
          </p:cNvSpPr>
          <p:nvPr>
            <p:ph type="body" idx="8"/>
          </p:nvPr>
        </p:nvSpPr>
        <p:spPr>
          <a:xfrm>
            <a:off x="1409700" y="5905500"/>
            <a:ext cx="7143900" cy="29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b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الميزة: تكلفة حالية صفرية على بنية مجانية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endParaRPr sz="2550" b="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b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القيد: حدود الطبقات المجانية وجهد الفريق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endParaRPr sz="2550" b="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b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يناسب: المرحلة الأولى والتجريبية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21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21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21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24</a:t>
            </a:fld>
            <a:endParaRPr/>
          </a:p>
        </p:txBody>
      </p:sp>
      <p:graphicFrame>
        <p:nvGraphicFramePr>
          <p:cNvPr id="731" name="Google Shape;731;p21"/>
          <p:cNvGraphicFramePr/>
          <p:nvPr/>
        </p:nvGraphicFramePr>
        <p:xfrm>
          <a:off x="1714500" y="3905250"/>
          <a:ext cx="15430500" cy="4476750"/>
        </p:xfrm>
        <a:graphic>
          <a:graphicData uri="http://schemas.openxmlformats.org/drawingml/2006/table">
            <a:tbl>
              <a:tblPr>
                <a:noFill/>
                <a:tableStyleId>{B8ED9858-D163-4338-9E88-1F424354888F}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1" u="none" strike="noStrike" cap="non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الموعد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1" u="none" strike="noStrike" cap="non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المسؤول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1" u="none" strike="noStrike" cap="non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التفاصيل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1" u="none" strike="noStrike" cap="non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البند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مع كل تحديث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مسؤول المحتوى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تدقيق مخرجات النظام على الأمثلة المحفوظة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مراجعة النصوص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شهريًّا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الفريق التقني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إضافة مصادر وإعادة بناء الفهارس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تحديث قاعدة البيانات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أسبوعيًّا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مسؤول التقنية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متابعة حصص الطبقات المجانية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مراقبة التكاليف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نهاية كل مرحلة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الفريق كاملًا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تقييم الدقة بـ evaluate.py واختبار الإجهاد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ar-SA" sz="2250" b="0" u="none" strike="noStrike" cap="non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تقييم الأداء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9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2" name="Google Shape;732;p21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استمرارية المحتوى</a:t>
            </a:r>
            <a:endParaRPr/>
          </a:p>
        </p:txBody>
      </p:sp>
      <p:sp>
        <p:nvSpPr>
          <p:cNvPr id="733" name="Google Shape;733;p21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جدولة مراجعة وتحديث البيانات</a:t>
            </a:r>
            <a:endParaRPr/>
          </a:p>
        </p:txBody>
      </p:sp>
      <p:sp>
        <p:nvSpPr>
          <p:cNvPr id="734" name="Google Shape;734;p21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خريطة توزيع المهام والمسؤوليات لمراجعة وتأمين المحتوى</a:t>
            </a:r>
            <a:endParaRPr/>
          </a:p>
        </p:txBody>
      </p:sp>
      <p:sp>
        <p:nvSpPr>
          <p:cNvPr id="735" name="Google Shape;735;p21"/>
          <p:cNvSpPr txBox="1">
            <a:spLocks noGrp="1"/>
          </p:cNvSpPr>
          <p:nvPr>
            <p:ph type="body" idx="3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الأدوار موزّعة على أعضاء الفريق الحاليين، ويمكن إسناد مراجعة المحتوى لمختصين شرعيين لاحقًا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10" title="خلفية هكثون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0"/>
          <p:cNvSpPr txBox="1">
            <a:spLocks noGrp="1"/>
          </p:cNvSpPr>
          <p:nvPr>
            <p:ph type="body" idx="1"/>
          </p:nvPr>
        </p:nvSpPr>
        <p:spPr>
          <a:xfrm>
            <a:off x="13125450" y="3143250"/>
            <a:ext cx="36195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</a:pPr>
            <a:r>
              <a:rPr lang="ar-SA" sz="84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06</a:t>
            </a:r>
            <a:endParaRPr/>
          </a:p>
        </p:txBody>
      </p:sp>
      <p:sp>
        <p:nvSpPr>
          <p:cNvPr id="528" name="Google Shape;528;p10"/>
          <p:cNvSpPr txBox="1">
            <a:spLocks noGrp="1"/>
          </p:cNvSpPr>
          <p:nvPr>
            <p:ph type="title"/>
          </p:nvPr>
        </p:nvSpPr>
        <p:spPr>
          <a:xfrm>
            <a:off x="9179000" y="4810125"/>
            <a:ext cx="7566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ar-SA" sz="60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فريق العمل والدعم</a:t>
            </a:r>
            <a:endParaRPr/>
          </a:p>
        </p:txBody>
      </p:sp>
      <p:sp>
        <p:nvSpPr>
          <p:cNvPr id="529" name="Google Shape;529;p10"/>
          <p:cNvSpPr txBox="1">
            <a:spLocks noGrp="1"/>
          </p:cNvSpPr>
          <p:nvPr>
            <p:ph type="body" idx="2"/>
          </p:nvPr>
        </p:nvSpPr>
        <p:spPr>
          <a:xfrm>
            <a:off x="9729275" y="6572250"/>
            <a:ext cx="70155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فريق Amanah AI وخطط التوسع.</a:t>
            </a:r>
            <a:endParaRPr/>
          </a:p>
        </p:txBody>
      </p:sp>
      <p:pic>
        <p:nvPicPr>
          <p:cNvPr id="530" name="Google Shape;53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9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فريق العمل والدعم</a:t>
            </a:r>
            <a:endParaRPr/>
          </a:p>
        </p:txBody>
      </p:sp>
      <p:sp>
        <p:nvSpPr>
          <p:cNvPr id="689" name="Google Shape;689;p19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فريق العمل</a:t>
            </a:r>
            <a:endParaRPr/>
          </a:p>
        </p:txBody>
      </p:sp>
      <p:sp>
        <p:nvSpPr>
          <p:cNvPr id="690" name="Google Shape;690;p19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فريق Amanah AI</a:t>
            </a:r>
            <a:endParaRPr/>
          </a:p>
        </p:txBody>
      </p:sp>
      <p:sp>
        <p:nvSpPr>
          <p:cNvPr id="691" name="Google Shape;691;p19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26</a:t>
            </a:fld>
            <a:endParaRPr/>
          </a:p>
        </p:txBody>
      </p:sp>
      <p:sp>
        <p:nvSpPr>
          <p:cNvPr id="693" name="Google Shape;693;p19"/>
          <p:cNvSpPr txBox="1">
            <a:spLocks noGrp="1"/>
          </p:cNvSpPr>
          <p:nvPr>
            <p:ph type="body" idx="4"/>
          </p:nvPr>
        </p:nvSpPr>
        <p:spPr>
          <a:xfrm>
            <a:off x="11144250" y="5619750"/>
            <a:ext cx="42862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غادة رجب علي محمود</a:t>
            </a:r>
            <a:endParaRPr/>
          </a:p>
        </p:txBody>
      </p:sp>
      <p:sp>
        <p:nvSpPr>
          <p:cNvPr id="694" name="Google Shape;694;p19"/>
          <p:cNvSpPr txBox="1">
            <a:spLocks noGrp="1"/>
          </p:cNvSpPr>
          <p:nvPr>
            <p:ph type="body" idx="5"/>
          </p:nvPr>
        </p:nvSpPr>
        <p:spPr>
          <a:xfrm>
            <a:off x="11144250" y="6477000"/>
            <a:ext cx="42862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ar-SA" sz="21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قائدة الفريق · مطوّرة ذكاء اصطناعي وواجهة المستخدم</a:t>
            </a:r>
            <a:endParaRPr/>
          </a:p>
        </p:txBody>
      </p:sp>
      <p:sp>
        <p:nvSpPr>
          <p:cNvPr id="696" name="Google Shape;696;p19"/>
          <p:cNvSpPr txBox="1">
            <a:spLocks noGrp="1"/>
          </p:cNvSpPr>
          <p:nvPr>
            <p:ph type="body" idx="7"/>
          </p:nvPr>
        </p:nvSpPr>
        <p:spPr>
          <a:xfrm>
            <a:off x="1409700" y="5619750"/>
            <a:ext cx="828848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ممدوح فاروق فرغلي</a:t>
            </a:r>
            <a:endParaRPr dirty="0"/>
          </a:p>
        </p:txBody>
      </p:sp>
      <p:sp>
        <p:nvSpPr>
          <p:cNvPr id="697" name="Google Shape;697;p19"/>
          <p:cNvSpPr txBox="1">
            <a:spLocks noGrp="1"/>
          </p:cNvSpPr>
          <p:nvPr>
            <p:ph type="body" idx="8"/>
          </p:nvPr>
        </p:nvSpPr>
        <p:spPr>
          <a:xfrm>
            <a:off x="3141518" y="6477000"/>
            <a:ext cx="4436918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ar-SA" sz="21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مطوّر ذكاء اصطناعي</a:t>
            </a:r>
            <a:endParaRPr dirty="0"/>
          </a:p>
        </p:txBody>
      </p:sp>
      <p:sp>
        <p:nvSpPr>
          <p:cNvPr id="698" name="شارة العضو غ"/>
          <p:cNvSpPr/>
          <p:nvPr/>
        </p:nvSpPr>
        <p:spPr>
          <a:xfrm>
            <a:off x="12382500" y="3333750"/>
            <a:ext cx="1809750" cy="1809750"/>
          </a:xfrm>
          <a:prstGeom prst="ellipse">
            <a:avLst/>
          </a:prstGeom>
          <a:solidFill>
            <a:srgbClr val="1B2470"/>
          </a:solidFill>
          <a:ln w="38100">
            <a:solidFill>
              <a:srgbClr val="2EF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200" b="1" dirty="0">
              <a:solidFill>
                <a:srgbClr val="2EF2C0"/>
              </a:solidFill>
              <a:latin typeface="Readex Pro"/>
            </a:endParaRPr>
          </a:p>
        </p:txBody>
      </p:sp>
      <p:sp>
        <p:nvSpPr>
          <p:cNvPr id="699" name="شارة العضو م"/>
          <p:cNvSpPr/>
          <p:nvPr/>
        </p:nvSpPr>
        <p:spPr>
          <a:xfrm>
            <a:off x="4371975" y="3382732"/>
            <a:ext cx="1809750" cy="1809750"/>
          </a:xfrm>
          <a:prstGeom prst="ellipse">
            <a:avLst/>
          </a:prstGeom>
          <a:solidFill>
            <a:srgbClr val="1B2470"/>
          </a:solidFill>
          <a:ln w="38100">
            <a:solidFill>
              <a:srgbClr val="2EF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EG" sz="7200" b="1" dirty="0">
              <a:solidFill>
                <a:srgbClr val="2EF2C0"/>
              </a:solidFill>
              <a:latin typeface="Readex Pr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31" title="خلفية هكثون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31"/>
          <p:cNvSpPr txBox="1">
            <a:spLocks noGrp="1"/>
          </p:cNvSpPr>
          <p:nvPr>
            <p:ph type="body" idx="1"/>
          </p:nvPr>
        </p:nvSpPr>
        <p:spPr>
          <a:xfrm>
            <a:off x="3810000" y="5676900"/>
            <a:ext cx="106680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Amanah AI · غادة رجب علي محمود · ممدوح فاروق فرغلي</a:t>
            </a:r>
            <a:endParaRPr/>
          </a:p>
        </p:txBody>
      </p:sp>
      <p:sp>
        <p:nvSpPr>
          <p:cNvPr id="916" name="Google Shape;916;p31"/>
          <p:cNvSpPr txBox="1">
            <a:spLocks noGrp="1"/>
          </p:cNvSpPr>
          <p:nvPr>
            <p:ph type="body" idx="2"/>
          </p:nvPr>
        </p:nvSpPr>
        <p:spPr>
          <a:xfrm>
            <a:off x="3810000" y="6653200"/>
            <a:ext cx="10668000" cy="102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ar-SA" sz="21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ghada-99-ragab-amanah-ai.static.hf.space</a:t>
            </a:r>
            <a:endParaRPr dirty="0"/>
          </a:p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ar-SA" sz="21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ghadaragabaliragabali@gmail.com · mamfarouk@aun.edu.eg</a:t>
            </a:r>
            <a:endParaRPr dirty="0"/>
          </a:p>
        </p:txBody>
      </p:sp>
      <p:sp>
        <p:nvSpPr>
          <p:cNvPr id="917" name="Google Shape;917;p31"/>
          <p:cNvSpPr txBox="1">
            <a:spLocks noGrp="1"/>
          </p:cNvSpPr>
          <p:nvPr>
            <p:ph type="title"/>
          </p:nvPr>
        </p:nvSpPr>
        <p:spPr>
          <a:xfrm>
            <a:off x="3810000" y="3819525"/>
            <a:ext cx="106680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ar-SA" sz="72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شكراً لكم</a:t>
            </a:r>
            <a:endParaRPr/>
          </a:p>
        </p:txBody>
      </p:sp>
      <p:pic>
        <p:nvPicPr>
          <p:cNvPr id="918" name="Google Shape;918;p31" title="شعار الهاكثون لايت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450" y="1277075"/>
            <a:ext cx="6546002" cy="16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237879" y="1460433"/>
            <a:ext cx="1891696" cy="119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31" title="شعار عام الذكاء الاصطناعي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6994" y="1261812"/>
            <a:ext cx="2908672" cy="170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31" title="شعار سدايا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0489" y="7716733"/>
            <a:ext cx="2292680" cy="13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31" title="شعار فيوتشر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79331" y="7929122"/>
            <a:ext cx="1570852" cy="92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31" title="شعار التحول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73933" y="7875719"/>
            <a:ext cx="1752806" cy="1028753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31"/>
          <p:cNvSpPr txBox="1"/>
          <p:nvPr/>
        </p:nvSpPr>
        <p:spPr>
          <a:xfrm>
            <a:off x="14046675" y="8254733"/>
            <a:ext cx="10620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شركاؤنا</a:t>
            </a:r>
            <a:r>
              <a:rPr lang="ar-SA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:</a:t>
            </a:r>
            <a:endParaRPr sz="18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cxnSp>
        <p:nvCxnSpPr>
          <p:cNvPr id="925" name="Google Shape;925;p31"/>
          <p:cNvCxnSpPr/>
          <p:nvPr/>
        </p:nvCxnSpPr>
        <p:spPr>
          <a:xfrm>
            <a:off x="7456246" y="8142400"/>
            <a:ext cx="0" cy="453600"/>
          </a:xfrm>
          <a:prstGeom prst="straightConnector1">
            <a:avLst/>
          </a:prstGeom>
          <a:noFill/>
          <a:ln w="9525" cap="flat" cmpd="sng">
            <a:solidFill>
              <a:srgbClr val="2EF2C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6" name="Google Shape;926;p31"/>
          <p:cNvCxnSpPr/>
          <p:nvPr/>
        </p:nvCxnSpPr>
        <p:spPr>
          <a:xfrm>
            <a:off x="5075007" y="8142400"/>
            <a:ext cx="0" cy="453600"/>
          </a:xfrm>
          <a:prstGeom prst="straightConnector1">
            <a:avLst/>
          </a:prstGeom>
          <a:noFill/>
          <a:ln w="9525" cap="flat" cmpd="sng">
            <a:solidFill>
              <a:srgbClr val="2EF2C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27" name="Google Shape;927;p31" title="شعار وزارة الاتصالات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602750" y="7979050"/>
            <a:ext cx="3035650" cy="847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8" name="Google Shape;928;p31"/>
          <p:cNvCxnSpPr/>
          <p:nvPr/>
        </p:nvCxnSpPr>
        <p:spPr>
          <a:xfrm>
            <a:off x="10366904" y="8142400"/>
            <a:ext cx="0" cy="453600"/>
          </a:xfrm>
          <a:prstGeom prst="straightConnector1">
            <a:avLst/>
          </a:prstGeom>
          <a:noFill/>
          <a:ln w="9525" cap="flat" cmpd="sng">
            <a:solidFill>
              <a:srgbClr val="2EF2C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1297</Words>
  <Application>Microsoft Office PowerPoint</Application>
  <PresentationFormat>Custom</PresentationFormat>
  <Paragraphs>296</Paragraphs>
  <Slides>27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Readex Pro Light</vt:lpstr>
      <vt:lpstr>Readex Pro</vt:lpstr>
      <vt:lpstr>Arial</vt:lpstr>
      <vt:lpstr>Office Theme</vt:lpstr>
      <vt:lpstr>Amanah AI</vt:lpstr>
      <vt:lpstr>محتويات العرض</vt:lpstr>
      <vt:lpstr>المشكلة والهدف</vt:lpstr>
      <vt:lpstr>لماذا نحتاج التحقق من الاقتباسات؟</vt:lpstr>
      <vt:lpstr>هدف المشروع</vt:lpstr>
      <vt:lpstr>الحل التقني</vt:lpstr>
      <vt:lpstr>كيف نضمن عدم الهلوسة؟</vt:lpstr>
      <vt:lpstr>عناصر الحل</vt:lpstr>
      <vt:lpstr>آلية العمل</vt:lpstr>
      <vt:lpstr>آلية عمل الحل</vt:lpstr>
      <vt:lpstr>تصحيح آية من نص المصدر</vt:lpstr>
      <vt:lpstr>حديث مختلق يُوسَم «غير مطابق» دون اقتراح أي بديل</vt:lpstr>
      <vt:lpstr>معرض الواجهات</vt:lpstr>
      <vt:lpstr>المؤشرات والأثر</vt:lpstr>
      <vt:lpstr>الأثر والمؤشرات</vt:lpstr>
      <vt:lpstr>النتائج مقابل خط الأساس</vt:lpstr>
      <vt:lpstr>دقة النظام مقابل خط الأساس</vt:lpstr>
      <vt:lpstr>نظام لا يخترع ولا يخمّن ويقول «لا أعلم» حين لا يكفي الدليل</vt:lpstr>
      <vt:lpstr>الاستدامة والتشغيل</vt:lpstr>
      <vt:lpstr>حصر التكاليف وآليات التخفيض</vt:lpstr>
      <vt:lpstr>خطة التنفيذ</vt:lpstr>
      <vt:lpstr>نسب تغطية التكاليف (مستهدفة)</vt:lpstr>
      <vt:lpstr>نموذج تغطية التكاليف والاستمرارية</vt:lpstr>
      <vt:lpstr>جدولة مراجعة وتحديث البيانات</vt:lpstr>
      <vt:lpstr>فريق العمل والدعم</vt:lpstr>
      <vt:lpstr>فريق العمل</vt:lpstr>
      <vt:lpstr>شكراً لكم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Ghada Ragab</cp:lastModifiedBy>
  <cp:revision>2</cp:revision>
  <dcterms:modified xsi:type="dcterms:W3CDTF">2026-10-06T09:17:04Z</dcterms:modified>
</cp:coreProperties>
</file>