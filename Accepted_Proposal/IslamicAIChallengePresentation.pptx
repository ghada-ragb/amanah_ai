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2" d="100"/>
          <a:sy n="82" d="100"/>
        </p:scale>
        <p:origin x="691"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ounded Rectangle 1"/>
          <p:cNvSpPr/>
          <p:nvPr/>
        </p:nvSpPr>
        <p:spPr>
          <a:xfrm>
            <a:off x="914400" y="914400"/>
            <a:ext cx="10362895" cy="50292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ctr"/>
          <a:lstStyle/>
          <a:p>
            <a:pPr algn="ctr" rtl="1">
              <a:spcAft>
                <a:spcPts val="2000"/>
              </a:spcAft>
              <a:defRPr sz="1800" b="1">
                <a:solidFill>
                  <a:srgbClr val="C58C27"/>
                </a:solidFill>
                <a:latin typeface="Amiri"/>
              </a:defRPr>
            </a:pPr>
            <a:r>
              <a:rPr dirty="0" err="1"/>
              <a:t>تحدي</a:t>
            </a:r>
            <a:r>
              <a:rPr dirty="0"/>
              <a:t> </a:t>
            </a:r>
            <a:r>
              <a:rPr dirty="0" err="1"/>
              <a:t>الذكاء</a:t>
            </a:r>
            <a:r>
              <a:rPr dirty="0"/>
              <a:t> </a:t>
            </a:r>
            <a:r>
              <a:rPr dirty="0" err="1"/>
              <a:t>الاصطناعي</a:t>
            </a:r>
            <a:r>
              <a:rPr dirty="0"/>
              <a:t> </a:t>
            </a:r>
            <a:r>
              <a:rPr dirty="0" err="1"/>
              <a:t>في</a:t>
            </a:r>
            <a:r>
              <a:rPr dirty="0"/>
              <a:t> </a:t>
            </a:r>
            <a:r>
              <a:rPr dirty="0" err="1"/>
              <a:t>خدمة</a:t>
            </a:r>
            <a:r>
              <a:rPr dirty="0"/>
              <a:t> </a:t>
            </a:r>
            <a:r>
              <a:rPr dirty="0" err="1"/>
              <a:t>المحتوى</a:t>
            </a:r>
            <a:r>
              <a:rPr dirty="0"/>
              <a:t> </a:t>
            </a:r>
            <a:r>
              <a:rPr dirty="0" err="1"/>
              <a:t>الإسلامي</a:t>
            </a:r>
            <a:r>
              <a:rPr dirty="0"/>
              <a:t> 2026</a:t>
            </a:r>
          </a:p>
          <a:p>
            <a:pPr algn="ctr" rtl="1">
              <a:spcAft>
                <a:spcPts val="2500"/>
              </a:spcAft>
              <a:defRPr sz="2800" b="1">
                <a:solidFill>
                  <a:srgbClr val="045239"/>
                </a:solidFill>
                <a:latin typeface="Amiri"/>
              </a:defRPr>
            </a:pPr>
            <a:r>
              <a:rPr dirty="0" err="1"/>
              <a:t>الكشف</a:t>
            </a:r>
            <a:r>
              <a:rPr dirty="0"/>
              <a:t> </a:t>
            </a:r>
            <a:r>
              <a:rPr dirty="0" err="1"/>
              <a:t>والتصحيح</a:t>
            </a:r>
            <a:r>
              <a:rPr dirty="0"/>
              <a:t> </a:t>
            </a:r>
            <a:r>
              <a:rPr dirty="0" err="1"/>
              <a:t>التلقائي</a:t>
            </a:r>
            <a:r>
              <a:rPr dirty="0"/>
              <a:t> </a:t>
            </a:r>
            <a:r>
              <a:rPr dirty="0" err="1"/>
              <a:t>للهلوسة</a:t>
            </a:r>
            <a:r>
              <a:rPr dirty="0"/>
              <a:t> </a:t>
            </a:r>
            <a:r>
              <a:rPr dirty="0" err="1"/>
              <a:t>في</a:t>
            </a:r>
            <a:r>
              <a:rPr dirty="0"/>
              <a:t> </a:t>
            </a:r>
            <a:r>
              <a:rPr dirty="0" err="1"/>
              <a:t>النصوص</a:t>
            </a:r>
            <a:r>
              <a:rPr dirty="0"/>
              <a:t> </a:t>
            </a:r>
            <a:r>
              <a:rPr dirty="0" err="1"/>
              <a:t>المُولَّدة</a:t>
            </a:r>
            <a:r>
              <a:rPr dirty="0"/>
              <a:t> </a:t>
            </a:r>
            <a:r>
              <a:rPr dirty="0" err="1"/>
              <a:t>بواسطة</a:t>
            </a:r>
            <a:r>
              <a:rPr dirty="0"/>
              <a:t> </a:t>
            </a:r>
            <a:r>
              <a:rPr dirty="0" err="1"/>
              <a:t>النماذج</a:t>
            </a:r>
            <a:r>
              <a:rPr dirty="0"/>
              <a:t> </a:t>
            </a:r>
            <a:r>
              <a:rPr dirty="0" err="1"/>
              <a:t>اللغوية</a:t>
            </a:r>
            <a:r>
              <a:rPr dirty="0"/>
              <a:t> </a:t>
            </a:r>
            <a:r>
              <a:rPr dirty="0" err="1"/>
              <a:t>الكبيرة</a:t>
            </a:r>
            <a:r>
              <a:rPr dirty="0"/>
              <a:t> </a:t>
            </a:r>
            <a:r>
              <a:rPr dirty="0" err="1"/>
              <a:t>والمتضمنة</a:t>
            </a:r>
            <a:r>
              <a:rPr dirty="0"/>
              <a:t> </a:t>
            </a:r>
            <a:r>
              <a:rPr dirty="0" err="1"/>
              <a:t>لآيات</a:t>
            </a:r>
            <a:r>
              <a:rPr dirty="0"/>
              <a:t> </a:t>
            </a:r>
            <a:r>
              <a:rPr dirty="0" err="1"/>
              <a:t>القرآن</a:t>
            </a:r>
            <a:r>
              <a:rPr dirty="0"/>
              <a:t> </a:t>
            </a:r>
            <a:r>
              <a:rPr dirty="0" err="1"/>
              <a:t>الكريم</a:t>
            </a:r>
            <a:r>
              <a:rPr dirty="0"/>
              <a:t> </a:t>
            </a:r>
            <a:r>
              <a:rPr dirty="0" err="1"/>
              <a:t>والأحاديث</a:t>
            </a:r>
            <a:r>
              <a:rPr dirty="0"/>
              <a:t> </a:t>
            </a:r>
            <a:r>
              <a:rPr dirty="0" err="1"/>
              <a:t>النبوية</a:t>
            </a:r>
            <a:r>
              <a:rPr dirty="0"/>
              <a:t> </a:t>
            </a:r>
          </a:p>
          <a:p>
            <a:pPr algn="ctr" rtl="1">
              <a:defRPr sz="1800" b="0">
                <a:solidFill>
                  <a:srgbClr val="475569"/>
                </a:solidFill>
                <a:latin typeface="Amiri"/>
              </a:defRPr>
            </a:pPr>
            <a:r>
              <a:rPr dirty="0" err="1"/>
              <a:t>مقترح</a:t>
            </a:r>
            <a:r>
              <a:rPr dirty="0"/>
              <a:t> </a:t>
            </a:r>
            <a:r>
              <a:rPr dirty="0" err="1"/>
              <a:t>مشروع</a:t>
            </a:r>
            <a:r>
              <a:rPr dirty="0"/>
              <a:t> </a:t>
            </a:r>
            <a:r>
              <a:rPr dirty="0" err="1"/>
              <a:t>متكامل</a:t>
            </a:r>
            <a:r>
              <a:rPr dirty="0"/>
              <a:t> </a:t>
            </a:r>
            <a:r>
              <a:rPr dirty="0" err="1"/>
              <a:t>ومبني</a:t>
            </a:r>
            <a:r>
              <a:rPr dirty="0"/>
              <a:t> </a:t>
            </a:r>
            <a:r>
              <a:rPr dirty="0" err="1"/>
              <a:t>على</a:t>
            </a:r>
            <a:r>
              <a:rPr dirty="0"/>
              <a:t> </a:t>
            </a:r>
            <a:r>
              <a:rPr dirty="0" err="1"/>
              <a:t>أساس</a:t>
            </a:r>
            <a:r>
              <a:rPr dirty="0"/>
              <a:t> </a:t>
            </a:r>
            <a:r>
              <a:rPr dirty="0" err="1"/>
              <a:t>بحثي</a:t>
            </a:r>
            <a:r>
              <a:rPr dirty="0"/>
              <a:t> </a:t>
            </a:r>
            <a:r>
              <a:rPr dirty="0" err="1"/>
              <a:t>موثق</a:t>
            </a:r>
            <a:r>
              <a:rPr dirty="0"/>
              <a:t>   |   </a:t>
            </a:r>
            <a:r>
              <a:rPr dirty="0" err="1"/>
              <a:t>نُعلّم</a:t>
            </a:r>
            <a:r>
              <a:rPr dirty="0"/>
              <a:t> </a:t>
            </a:r>
            <a:r>
              <a:rPr dirty="0" err="1"/>
              <a:t>الآلة</a:t>
            </a:r>
            <a:r>
              <a:rPr dirty="0"/>
              <a:t>.. </a:t>
            </a:r>
            <a:r>
              <a:rPr dirty="0" err="1"/>
              <a:t>لتخدم</a:t>
            </a:r>
            <a:r>
              <a:rPr dirty="0"/>
              <a:t> </a:t>
            </a:r>
            <a:r>
              <a:rPr dirty="0" err="1"/>
              <a:t>الرسالة</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lgn="r" rtl="1">
              <a:spcAft>
                <a:spcPts val="200"/>
              </a:spcAft>
              <a:defRPr sz="1300" b="1">
                <a:solidFill>
                  <a:srgbClr val="C58C27"/>
                </a:solidFill>
                <a:latin typeface="Amiri"/>
              </a:defRPr>
            </a:pPr>
            <a:r>
              <a:t>تحدي الذكاء الاصطناعي في خدمة المحتوى الإسلامي 2026</a:t>
            </a:r>
          </a:p>
          <a:p>
            <a:pPr algn="r" rtl="1">
              <a:defRPr sz="2400" b="1">
                <a:solidFill>
                  <a:srgbClr val="045239"/>
                </a:solidFill>
                <a:latin typeface="Amiri"/>
              </a:defRPr>
            </a:pPr>
            <a:r>
              <a:t>فكرة المشروع والهدف الأساسي</a:t>
            </a:r>
          </a:p>
        </p:txBody>
      </p:sp>
      <p:sp>
        <p:nvSpPr>
          <p:cNvPr id="3" name="Rounded Rectangle 2"/>
          <p:cNvSpPr/>
          <p:nvPr/>
        </p:nvSpPr>
        <p:spPr>
          <a:xfrm>
            <a:off x="6217920" y="1463040"/>
            <a:ext cx="521208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t"/>
          <a:lstStyle/>
          <a:p>
            <a:pPr algn="r" rtl="1">
              <a:spcAft>
                <a:spcPts val="1800"/>
              </a:spcAft>
              <a:defRPr sz="2200" b="1">
                <a:solidFill>
                  <a:srgbClr val="045239"/>
                </a:solidFill>
                <a:latin typeface="Amiri"/>
              </a:defRPr>
            </a:pPr>
            <a:r>
              <a:rPr dirty="0" err="1"/>
              <a:t>واقع</a:t>
            </a:r>
            <a:r>
              <a:rPr dirty="0"/>
              <a:t> </a:t>
            </a:r>
            <a:r>
              <a:rPr dirty="0" err="1"/>
              <a:t>النماذج</a:t>
            </a:r>
            <a:r>
              <a:rPr dirty="0"/>
              <a:t> </a:t>
            </a:r>
            <a:r>
              <a:rPr dirty="0" err="1"/>
              <a:t>اللغوية</a:t>
            </a:r>
            <a:r>
              <a:rPr dirty="0"/>
              <a:t> </a:t>
            </a:r>
            <a:r>
              <a:rPr dirty="0" err="1"/>
              <a:t>الحالية</a:t>
            </a:r>
            <a:endParaRPr dirty="0"/>
          </a:p>
          <a:p>
            <a:pPr algn="r" rtl="1">
              <a:spcAft>
                <a:spcPts val="1600"/>
              </a:spcAft>
              <a:defRPr sz="1600" b="0">
                <a:solidFill>
                  <a:srgbClr val="0F172A"/>
                </a:solidFill>
                <a:latin typeface="Amiri"/>
              </a:defRPr>
            </a:pPr>
            <a:r>
              <a:rPr dirty="0"/>
              <a:t>✦ </a:t>
            </a:r>
            <a:r>
              <a:rPr dirty="0" err="1"/>
              <a:t>النماذج</a:t>
            </a:r>
            <a:r>
              <a:rPr dirty="0"/>
              <a:t> </a:t>
            </a:r>
            <a:r>
              <a:rPr dirty="0" err="1"/>
              <a:t>اللغوية</a:t>
            </a:r>
            <a:r>
              <a:rPr dirty="0"/>
              <a:t> </a:t>
            </a:r>
            <a:r>
              <a:rPr dirty="0" err="1"/>
              <a:t>الكبيرة</a:t>
            </a:r>
            <a:r>
              <a:rPr dirty="0"/>
              <a:t> </a:t>
            </a:r>
            <a:r>
              <a:rPr dirty="0" err="1"/>
              <a:t>قادرة</a:t>
            </a:r>
            <a:r>
              <a:rPr dirty="0"/>
              <a:t> </a:t>
            </a:r>
            <a:r>
              <a:rPr dirty="0" err="1"/>
              <a:t>على</a:t>
            </a:r>
            <a:r>
              <a:rPr dirty="0"/>
              <a:t> </a:t>
            </a:r>
            <a:r>
              <a:rPr dirty="0" err="1"/>
              <a:t>إنتاج</a:t>
            </a:r>
            <a:r>
              <a:rPr dirty="0"/>
              <a:t> </a:t>
            </a:r>
            <a:r>
              <a:rPr dirty="0" err="1"/>
              <a:t>نصوص</a:t>
            </a:r>
            <a:r>
              <a:rPr dirty="0"/>
              <a:t> </a:t>
            </a:r>
            <a:r>
              <a:rPr dirty="0" err="1"/>
              <a:t>عربية</a:t>
            </a:r>
            <a:r>
              <a:rPr dirty="0"/>
              <a:t> </a:t>
            </a:r>
            <a:r>
              <a:rPr dirty="0" err="1"/>
              <a:t>متماسكة</a:t>
            </a:r>
            <a:r>
              <a:rPr dirty="0"/>
              <a:t> </a:t>
            </a:r>
            <a:r>
              <a:rPr dirty="0" err="1"/>
              <a:t>ومقنعة</a:t>
            </a:r>
            <a:r>
              <a:rPr dirty="0"/>
              <a:t> </a:t>
            </a:r>
            <a:r>
              <a:rPr dirty="0" err="1"/>
              <a:t>للغاية</a:t>
            </a:r>
            <a:r>
              <a:rPr dirty="0"/>
              <a:t> </a:t>
            </a:r>
            <a:r>
              <a:rPr dirty="0" err="1"/>
              <a:t>في</a:t>
            </a:r>
            <a:r>
              <a:rPr dirty="0"/>
              <a:t> </a:t>
            </a:r>
            <a:r>
              <a:rPr dirty="0" err="1"/>
              <a:t>مجالات</a:t>
            </a:r>
            <a:r>
              <a:rPr dirty="0"/>
              <a:t> </a:t>
            </a:r>
            <a:r>
              <a:rPr dirty="0" err="1"/>
              <a:t>متعددة</a:t>
            </a:r>
            <a:r>
              <a:rPr dirty="0"/>
              <a:t>.</a:t>
            </a:r>
          </a:p>
          <a:p>
            <a:pPr algn="r" rtl="1">
              <a:spcAft>
                <a:spcPts val="1600"/>
              </a:spcAft>
              <a:defRPr sz="1600" b="0">
                <a:solidFill>
                  <a:srgbClr val="0F172A"/>
                </a:solidFill>
                <a:latin typeface="Amiri"/>
              </a:defRPr>
            </a:pPr>
            <a:r>
              <a:rPr dirty="0"/>
              <a:t>✦ </a:t>
            </a:r>
            <a:r>
              <a:rPr dirty="0" err="1"/>
              <a:t>الطلاقة</a:t>
            </a:r>
            <a:r>
              <a:rPr dirty="0"/>
              <a:t> </a:t>
            </a:r>
            <a:r>
              <a:rPr dirty="0" err="1"/>
              <a:t>اللغوية</a:t>
            </a:r>
            <a:r>
              <a:rPr dirty="0"/>
              <a:t> </a:t>
            </a:r>
            <a:r>
              <a:rPr dirty="0" err="1"/>
              <a:t>للنموذج</a:t>
            </a:r>
            <a:r>
              <a:rPr dirty="0"/>
              <a:t> </a:t>
            </a:r>
            <a:r>
              <a:rPr dirty="0" err="1"/>
              <a:t>لا</a:t>
            </a:r>
            <a:r>
              <a:rPr dirty="0"/>
              <a:t> </a:t>
            </a:r>
            <a:r>
              <a:rPr dirty="0" err="1"/>
              <a:t>تضمن</a:t>
            </a:r>
            <a:r>
              <a:rPr dirty="0"/>
              <a:t> </a:t>
            </a:r>
            <a:r>
              <a:rPr dirty="0" err="1"/>
              <a:t>صحة</a:t>
            </a:r>
            <a:r>
              <a:rPr dirty="0"/>
              <a:t> </a:t>
            </a:r>
            <a:r>
              <a:rPr dirty="0" err="1"/>
              <a:t>الاقتباسات</a:t>
            </a:r>
            <a:r>
              <a:rPr dirty="0"/>
              <a:t> </a:t>
            </a:r>
            <a:r>
              <a:rPr dirty="0" err="1"/>
              <a:t>الدينية</a:t>
            </a:r>
            <a:r>
              <a:rPr dirty="0"/>
              <a:t> </a:t>
            </a:r>
            <a:r>
              <a:rPr dirty="0" err="1"/>
              <a:t>القرآن</a:t>
            </a:r>
            <a:r>
              <a:rPr dirty="0"/>
              <a:t> </a:t>
            </a:r>
            <a:r>
              <a:rPr dirty="0" err="1"/>
              <a:t>الكريم</a:t>
            </a:r>
            <a:r>
              <a:rPr dirty="0"/>
              <a:t> </a:t>
            </a:r>
            <a:r>
              <a:rPr dirty="0" err="1"/>
              <a:t>والحديث</a:t>
            </a:r>
            <a:r>
              <a:rPr dirty="0"/>
              <a:t> </a:t>
            </a:r>
            <a:r>
              <a:rPr dirty="0" err="1"/>
              <a:t>النبوي</a:t>
            </a:r>
            <a:r>
              <a:rPr dirty="0"/>
              <a:t>) </a:t>
            </a:r>
            <a:r>
              <a:rPr dirty="0" err="1"/>
              <a:t>الواردة</a:t>
            </a:r>
            <a:r>
              <a:rPr dirty="0"/>
              <a:t> </a:t>
            </a:r>
            <a:r>
              <a:rPr dirty="0" err="1"/>
              <a:t>داخل</a:t>
            </a:r>
            <a:r>
              <a:rPr dirty="0"/>
              <a:t> </a:t>
            </a:r>
            <a:r>
              <a:rPr dirty="0" err="1"/>
              <a:t>النص</a:t>
            </a:r>
            <a:r>
              <a:rPr lang="ar-EG" dirty="0"/>
              <a:t>).</a:t>
            </a:r>
            <a:endParaRPr dirty="0"/>
          </a:p>
          <a:p>
            <a:pPr algn="r" rtl="1">
              <a:spcAft>
                <a:spcPts val="1600"/>
              </a:spcAft>
              <a:defRPr sz="1600" b="0">
                <a:solidFill>
                  <a:srgbClr val="0F172A"/>
                </a:solidFill>
                <a:latin typeface="Amiri"/>
              </a:defRPr>
            </a:pPr>
            <a:r>
              <a:rPr dirty="0"/>
              <a:t>✦ </a:t>
            </a:r>
            <a:r>
              <a:rPr dirty="0" err="1"/>
              <a:t>قد</a:t>
            </a:r>
            <a:r>
              <a:rPr dirty="0"/>
              <a:t> </a:t>
            </a:r>
            <a:r>
              <a:rPr dirty="0" err="1"/>
              <a:t>ينتج</a:t>
            </a:r>
            <a:r>
              <a:rPr dirty="0"/>
              <a:t> </a:t>
            </a:r>
            <a:r>
              <a:rPr dirty="0" err="1"/>
              <a:t>النموذج</a:t>
            </a:r>
            <a:r>
              <a:rPr dirty="0"/>
              <a:t> </a:t>
            </a:r>
            <a:r>
              <a:rPr dirty="0" err="1"/>
              <a:t>نصًا</a:t>
            </a:r>
            <a:r>
              <a:rPr dirty="0"/>
              <a:t> </a:t>
            </a:r>
            <a:r>
              <a:rPr dirty="0" err="1"/>
              <a:t>يبدو</a:t>
            </a:r>
            <a:r>
              <a:rPr dirty="0"/>
              <a:t> </a:t>
            </a:r>
            <a:r>
              <a:rPr dirty="0" err="1"/>
              <a:t>موثوقًا</a:t>
            </a:r>
            <a:r>
              <a:rPr dirty="0"/>
              <a:t> </a:t>
            </a:r>
            <a:r>
              <a:rPr dirty="0" err="1"/>
              <a:t>بينما</a:t>
            </a:r>
            <a:r>
              <a:rPr dirty="0"/>
              <a:t> </a:t>
            </a:r>
            <a:r>
              <a:rPr dirty="0" err="1"/>
              <a:t>يتضمن</a:t>
            </a:r>
            <a:r>
              <a:rPr dirty="0"/>
              <a:t> </a:t>
            </a:r>
            <a:r>
              <a:rPr dirty="0" err="1"/>
              <a:t>آية</a:t>
            </a:r>
            <a:r>
              <a:rPr dirty="0"/>
              <a:t> </a:t>
            </a:r>
            <a:r>
              <a:rPr dirty="0" err="1"/>
              <a:t>أو</a:t>
            </a:r>
            <a:r>
              <a:rPr dirty="0"/>
              <a:t> </a:t>
            </a:r>
            <a:r>
              <a:rPr dirty="0" err="1"/>
              <a:t>حديثًا</a:t>
            </a:r>
            <a:r>
              <a:rPr dirty="0"/>
              <a:t> </a:t>
            </a:r>
            <a:r>
              <a:rPr dirty="0" err="1"/>
              <a:t>بصورة</a:t>
            </a:r>
            <a:r>
              <a:rPr dirty="0"/>
              <a:t> </a:t>
            </a:r>
            <a:r>
              <a:rPr dirty="0" err="1"/>
              <a:t>غير</a:t>
            </a:r>
            <a:r>
              <a:rPr dirty="0"/>
              <a:t> </a:t>
            </a:r>
            <a:r>
              <a:rPr dirty="0" err="1"/>
              <a:t>مطابقة</a:t>
            </a:r>
            <a:r>
              <a:rPr dirty="0"/>
              <a:t> </a:t>
            </a:r>
            <a:r>
              <a:rPr dirty="0" err="1"/>
              <a:t>للمصدر</a:t>
            </a:r>
            <a:r>
              <a:rPr dirty="0"/>
              <a:t> </a:t>
            </a:r>
            <a:r>
              <a:rPr lang="ar-EG" dirty="0"/>
              <a:t>(ح</a:t>
            </a:r>
            <a:r>
              <a:rPr dirty="0" err="1"/>
              <a:t>ذف</a:t>
            </a:r>
            <a:r>
              <a:rPr dirty="0"/>
              <a:t>، </a:t>
            </a:r>
            <a:r>
              <a:rPr dirty="0" err="1"/>
              <a:t>إضافة</a:t>
            </a:r>
            <a:r>
              <a:rPr dirty="0"/>
              <a:t>، </a:t>
            </a:r>
            <a:r>
              <a:rPr dirty="0" err="1"/>
              <a:t>أو</a:t>
            </a:r>
            <a:r>
              <a:rPr dirty="0"/>
              <a:t> </a:t>
            </a:r>
            <a:r>
              <a:rPr dirty="0" err="1"/>
              <a:t>استبدال</a:t>
            </a:r>
            <a:r>
              <a:rPr dirty="0"/>
              <a:t> </a:t>
            </a:r>
            <a:r>
              <a:rPr dirty="0" err="1"/>
              <a:t>كلمات</a:t>
            </a:r>
            <a:r>
              <a:rPr lang="ar-EG" dirty="0"/>
              <a:t>).</a:t>
            </a:r>
            <a:endParaRPr dirty="0"/>
          </a:p>
        </p:txBody>
      </p:sp>
      <p:sp>
        <p:nvSpPr>
          <p:cNvPr id="4" name="Rounded Rectangle 3"/>
          <p:cNvSpPr/>
          <p:nvPr/>
        </p:nvSpPr>
        <p:spPr>
          <a:xfrm>
            <a:off x="731520" y="1463040"/>
            <a:ext cx="521208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t"/>
          <a:lstStyle/>
          <a:p>
            <a:pPr algn="r" rtl="1">
              <a:spcAft>
                <a:spcPts val="1800"/>
              </a:spcAft>
              <a:defRPr sz="2200" b="1">
                <a:solidFill>
                  <a:srgbClr val="045239"/>
                </a:solidFill>
                <a:latin typeface="Amiri"/>
              </a:defRPr>
            </a:pPr>
            <a:r>
              <a:t>هدف مشروعنا والحل الذكي</a:t>
            </a:r>
          </a:p>
          <a:p>
            <a:pPr algn="r" rtl="1">
              <a:spcAft>
                <a:spcPts val="1200"/>
              </a:spcAft>
              <a:defRPr sz="1600" b="1">
                <a:solidFill>
                  <a:srgbClr val="0F172A"/>
                </a:solidFill>
                <a:latin typeface="Amiri"/>
              </a:defRPr>
            </a:pPr>
            <a:r>
              <a:t>بناء أداة ذكية تعمل كطبقة تحقق وتصحيح للحد من الهلوسة عبر مسار عمل موثق ومستمر:</a:t>
            </a:r>
          </a:p>
          <a:p>
            <a:pPr algn="r" rtl="1">
              <a:spcAft>
                <a:spcPts val="1200"/>
              </a:spcAft>
              <a:defRPr sz="1500" b="0">
                <a:solidFill>
                  <a:srgbClr val="0F172A"/>
                </a:solidFill>
                <a:latin typeface="Amiri"/>
              </a:defRPr>
            </a:pPr>
            <a:r>
              <a:t>✔ كشف الاقتباس: تحديد مواضع الآيات والأحاديث ونوعها داخل النص المُولَّد.</a:t>
            </a:r>
          </a:p>
          <a:p>
            <a:pPr algn="r" rtl="1">
              <a:spcAft>
                <a:spcPts val="1200"/>
              </a:spcAft>
              <a:defRPr sz="1500" b="0">
                <a:solidFill>
                  <a:srgbClr val="0F172A"/>
                </a:solidFill>
                <a:latin typeface="Amiri"/>
              </a:defRPr>
            </a:pPr>
            <a:r>
              <a:t>✔ استرجاع المصدر: البحث المباشر في المصادر الأصيلة المعتمدة.</a:t>
            </a:r>
          </a:p>
          <a:p>
            <a:pPr algn="r" rtl="1">
              <a:spcAft>
                <a:spcPts val="1200"/>
              </a:spcAft>
              <a:defRPr sz="1500" b="0">
                <a:solidFill>
                  <a:srgbClr val="0F172A"/>
                </a:solidFill>
                <a:latin typeface="Amiri"/>
              </a:defRPr>
            </a:pPr>
            <a:r>
              <a:t>✔ التحقق القائم على الدليل: مقارنة النص بالمصدر بمؤشرات دقيقة وشاملة.</a:t>
            </a:r>
          </a:p>
          <a:p>
            <a:pPr algn="r" rtl="1">
              <a:spcAft>
                <a:spcPts val="1200"/>
              </a:spcAft>
              <a:defRPr sz="1500" b="0">
                <a:solidFill>
                  <a:srgbClr val="0F172A"/>
                </a:solidFill>
                <a:latin typeface="Amiri"/>
              </a:defRPr>
            </a:pPr>
            <a:r>
              <a:t>✔ التصحيح أو الإحالة: اقتراح النص الصحيح عند توافر الدليل، أو إحالة الحالة للمراجعة البشرية عند عدم اليقين.</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lgn="r" rtl="1">
              <a:spcAft>
                <a:spcPts val="200"/>
              </a:spcAft>
              <a:defRPr sz="1300" b="1">
                <a:solidFill>
                  <a:srgbClr val="C58C27"/>
                </a:solidFill>
                <a:latin typeface="Amiri"/>
              </a:defRPr>
            </a:pPr>
            <a:r>
              <a:t>تحدي الذكاء الاصطناعي في خدمة المحتوى الإسلامي 2026</a:t>
            </a:r>
          </a:p>
          <a:p>
            <a:pPr algn="r" rtl="1">
              <a:defRPr sz="2400" b="1">
                <a:solidFill>
                  <a:srgbClr val="045239"/>
                </a:solidFill>
                <a:latin typeface="Amiri"/>
              </a:defRPr>
            </a:pPr>
            <a:r>
              <a:t>أبعاد المشكلة وتحديات التدقيق اليدوي</a:t>
            </a:r>
          </a:p>
        </p:txBody>
      </p:sp>
      <p:sp>
        <p:nvSpPr>
          <p:cNvPr id="3" name="Rounded Rectangle 2"/>
          <p:cNvSpPr/>
          <p:nvPr/>
        </p:nvSpPr>
        <p:spPr>
          <a:xfrm>
            <a:off x="731520" y="1463040"/>
            <a:ext cx="3328416"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t"/>
          <a:lstStyle/>
          <a:p>
            <a:pPr algn="r" rtl="1">
              <a:spcAft>
                <a:spcPts val="800"/>
              </a:spcAft>
              <a:defRPr sz="3200" b="1">
                <a:solidFill>
                  <a:srgbClr val="C58C27"/>
                </a:solidFill>
                <a:latin typeface="Amiri"/>
              </a:defRPr>
            </a:pPr>
            <a:r>
              <a:t>03</a:t>
            </a:r>
          </a:p>
          <a:p>
            <a:pPr algn="r" rtl="1">
              <a:spcAft>
                <a:spcPts val="1400"/>
              </a:spcAft>
              <a:defRPr sz="2000" b="1">
                <a:solidFill>
                  <a:srgbClr val="045239"/>
                </a:solidFill>
                <a:latin typeface="Amiri"/>
              </a:defRPr>
            </a:pPr>
            <a:r>
              <a:t>الهدف: التحقق والربط</a:t>
            </a:r>
          </a:p>
          <a:p>
            <a:pPr algn="r" rtl="1">
              <a:spcAft>
                <a:spcPts val="1000"/>
              </a:spcAft>
              <a:defRPr sz="1500" b="0">
                <a:solidFill>
                  <a:srgbClr val="0F172A"/>
                </a:solidFill>
                <a:latin typeface="Amiri"/>
              </a:defRPr>
            </a:pPr>
            <a:r>
              <a:t>ولا تعالج عملية توليد إجابة جديدة هذه المشكلة؛ لأن المطلوب الأساسي هنا ليس توليد نص آخر بالذكاء الاصطناعي، وإنما التحقق من النص الموجود بالفعل وربطه بمصدر موثوق ومبرهن يمكن الرجوع إليه بسهولة.</a:t>
            </a:r>
          </a:p>
        </p:txBody>
      </p:sp>
      <p:sp>
        <p:nvSpPr>
          <p:cNvPr id="4" name="Rounded Rectangle 3"/>
          <p:cNvSpPr/>
          <p:nvPr/>
        </p:nvSpPr>
        <p:spPr>
          <a:xfrm>
            <a:off x="4425696" y="1463040"/>
            <a:ext cx="3328416"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t"/>
          <a:lstStyle/>
          <a:p>
            <a:pPr algn="r" rtl="1">
              <a:spcAft>
                <a:spcPts val="800"/>
              </a:spcAft>
              <a:defRPr sz="3200" b="1">
                <a:solidFill>
                  <a:srgbClr val="C58C27"/>
                </a:solidFill>
                <a:latin typeface="Amiri"/>
              </a:defRPr>
            </a:pPr>
            <a:r>
              <a:t>02</a:t>
            </a:r>
          </a:p>
          <a:p>
            <a:pPr algn="r" rtl="1">
              <a:spcAft>
                <a:spcPts val="1400"/>
              </a:spcAft>
              <a:defRPr sz="2000" b="1">
                <a:solidFill>
                  <a:srgbClr val="045239"/>
                </a:solidFill>
                <a:latin typeface="Amiri"/>
              </a:defRPr>
            </a:pPr>
            <a:r>
              <a:t>تعقيد التدقيق اليدوي</a:t>
            </a:r>
          </a:p>
          <a:p>
            <a:pPr algn="r" rtl="1">
              <a:spcAft>
                <a:spcPts val="1000"/>
              </a:spcAft>
              <a:defRPr sz="1500" b="0">
                <a:solidFill>
                  <a:srgbClr val="0F172A"/>
                </a:solidFill>
                <a:latin typeface="Amiri"/>
              </a:defRPr>
            </a:pPr>
            <a:r>
              <a:t>تصبح عملية التحقق اليدوي شاقة ومجهدة جدًا عندما يتطلب الأمر تحديد موضع الاقتباس بدقة داخل النص الطويل، ومعرفة نوعه، والعثور على المصدر المناسب من القواعد المعتمدة، ثم مقارنة النص المولَّد بالنص الأصلي كلمة بكلمة.</a:t>
            </a:r>
          </a:p>
        </p:txBody>
      </p:sp>
      <p:sp>
        <p:nvSpPr>
          <p:cNvPr id="5" name="Rounded Rectangle 4"/>
          <p:cNvSpPr/>
          <p:nvPr/>
        </p:nvSpPr>
        <p:spPr>
          <a:xfrm>
            <a:off x="8119872" y="1463040"/>
            <a:ext cx="3328416"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t"/>
          <a:lstStyle/>
          <a:p>
            <a:pPr algn="r" rtl="1">
              <a:spcAft>
                <a:spcPts val="800"/>
              </a:spcAft>
              <a:defRPr sz="3200" b="1">
                <a:solidFill>
                  <a:srgbClr val="C58C27"/>
                </a:solidFill>
                <a:latin typeface="Amiri"/>
              </a:defRPr>
            </a:pPr>
            <a:r>
              <a:t>01</a:t>
            </a:r>
          </a:p>
          <a:p>
            <a:pPr algn="r" rtl="1">
              <a:spcAft>
                <a:spcPts val="1400"/>
              </a:spcAft>
              <a:defRPr sz="2000" b="1">
                <a:solidFill>
                  <a:srgbClr val="045239"/>
                </a:solidFill>
                <a:latin typeface="Amiri"/>
              </a:defRPr>
            </a:pPr>
            <a:r>
              <a:t>صعوبة اكتشاف الخطأ</a:t>
            </a:r>
          </a:p>
          <a:p>
            <a:pPr algn="r" rtl="1">
              <a:spcAft>
                <a:spcPts val="1000"/>
              </a:spcAft>
              <a:defRPr sz="1500" b="0">
                <a:solidFill>
                  <a:srgbClr val="0F172A"/>
                </a:solidFill>
                <a:latin typeface="Amiri"/>
              </a:defRPr>
            </a:pPr>
            <a:r>
              <a:t>تتمثل المشكلة الأساسية في صعوبة التمييز بين الاقتباس الديني الصحيح والاقتباس المُهلوس أو المحرَّف؛ لأن النص الناتج قد يكون قريبًا جدًا من الأصلي، أو صحيحًا في جزء منه، ومكتوبًا بصياغة سليمة ومقنعة تخدع المستفيد العادي.</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lgn="r" rtl="1">
              <a:spcAft>
                <a:spcPts val="200"/>
              </a:spcAft>
              <a:defRPr sz="1300" b="1">
                <a:solidFill>
                  <a:srgbClr val="C58C27"/>
                </a:solidFill>
                <a:latin typeface="Amiri"/>
              </a:defRPr>
            </a:pPr>
            <a:r>
              <a:t>تحدي الذكاء الاصطناعي في خدمة المحتوى الإسلامي 2026</a:t>
            </a:r>
          </a:p>
          <a:p>
            <a:pPr algn="r" rtl="1">
              <a:defRPr sz="2400" b="1">
                <a:solidFill>
                  <a:srgbClr val="045239"/>
                </a:solidFill>
                <a:latin typeface="Amiri"/>
              </a:defRPr>
            </a:pPr>
            <a:r>
              <a:t>فكرة الحل: الوظائف الأربع الرئيسية للنظام</a:t>
            </a:r>
          </a:p>
        </p:txBody>
      </p:sp>
      <p:sp>
        <p:nvSpPr>
          <p:cNvPr id="3" name="Rounded Rectangle 2"/>
          <p:cNvSpPr/>
          <p:nvPr/>
        </p:nvSpPr>
        <p:spPr>
          <a:xfrm>
            <a:off x="6217920" y="1463040"/>
            <a:ext cx="5212080"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t"/>
          <a:lstStyle/>
          <a:p>
            <a:pPr algn="r" rtl="1">
              <a:spcAft>
                <a:spcPts val="1000"/>
              </a:spcAft>
              <a:defRPr sz="2000" b="1">
                <a:solidFill>
                  <a:srgbClr val="045239"/>
                </a:solidFill>
                <a:latin typeface="Amiri"/>
              </a:defRPr>
            </a:pPr>
            <a:r>
              <a:t>أولًا: الكشف الذكي</a:t>
            </a:r>
          </a:p>
          <a:p>
            <a:pPr algn="r" rtl="1">
              <a:defRPr sz="1500" b="0">
                <a:solidFill>
                  <a:srgbClr val="0F172A"/>
                </a:solidFill>
                <a:latin typeface="Amiri"/>
              </a:defRPr>
            </a:pPr>
            <a:r>
              <a:t>اكتشاف المقاطع التي يُحتمل أن تكون آيات قرآنية أو أحاديث نبوية داخل النص المُولَّد، مع تحديد حدود كل اقتباس ونوعه بدقة عالية.</a:t>
            </a:r>
          </a:p>
        </p:txBody>
      </p:sp>
      <p:sp>
        <p:nvSpPr>
          <p:cNvPr id="4" name="Rounded Rectangle 3"/>
          <p:cNvSpPr/>
          <p:nvPr/>
        </p:nvSpPr>
        <p:spPr>
          <a:xfrm>
            <a:off x="731520" y="1463040"/>
            <a:ext cx="5212080"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t"/>
          <a:lstStyle/>
          <a:p>
            <a:pPr algn="r" rtl="1">
              <a:spcAft>
                <a:spcPts val="1000"/>
              </a:spcAft>
              <a:defRPr sz="2000" b="1">
                <a:solidFill>
                  <a:srgbClr val="045239"/>
                </a:solidFill>
                <a:latin typeface="Amiri"/>
              </a:defRPr>
            </a:pPr>
            <a:r>
              <a:t>ثانيًا: استرجاع المصادر</a:t>
            </a:r>
          </a:p>
          <a:p>
            <a:pPr algn="r" rtl="1">
              <a:defRPr sz="1500" b="0">
                <a:solidFill>
                  <a:srgbClr val="0F172A"/>
                </a:solidFill>
                <a:latin typeface="Amiri"/>
              </a:defRPr>
            </a:pPr>
            <a:r>
              <a:t>البحث في مجموعات المصادر المتاحة والمعتمدة عن النصوص الأصيلة الأكثر ارتباطًا وتطابقًا مع الاقتباس المكتشف.</a:t>
            </a:r>
          </a:p>
        </p:txBody>
      </p:sp>
      <p:sp>
        <p:nvSpPr>
          <p:cNvPr id="5" name="Rounded Rectangle 4"/>
          <p:cNvSpPr/>
          <p:nvPr/>
        </p:nvSpPr>
        <p:spPr>
          <a:xfrm>
            <a:off x="6217920" y="4023360"/>
            <a:ext cx="5212080"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t"/>
          <a:lstStyle/>
          <a:p>
            <a:pPr algn="r" rtl="1">
              <a:spcAft>
                <a:spcPts val="1000"/>
              </a:spcAft>
              <a:defRPr sz="2000" b="1">
                <a:solidFill>
                  <a:srgbClr val="045239"/>
                </a:solidFill>
                <a:latin typeface="Amiri"/>
              </a:defRPr>
            </a:pPr>
            <a:r>
              <a:t>ثالثًا: التحقق القائم على الأدلة</a:t>
            </a:r>
          </a:p>
          <a:p>
            <a:pPr algn="r" rtl="1">
              <a:defRPr sz="1500" b="0">
                <a:solidFill>
                  <a:srgbClr val="0F172A"/>
                </a:solidFill>
                <a:latin typeface="Amiri"/>
              </a:defRPr>
            </a:pPr>
            <a:r>
              <a:t>مقارنة الاقتباس بالمصادر المسترجعة باستخدام مجموعة من مؤشرات المطابقة والتشابه على مستوى الكلمات والأحرف والتسلسل النصي والتغطية.</a:t>
            </a:r>
          </a:p>
        </p:txBody>
      </p:sp>
      <p:sp>
        <p:nvSpPr>
          <p:cNvPr id="6" name="Rounded Rectangle 5"/>
          <p:cNvSpPr/>
          <p:nvPr/>
        </p:nvSpPr>
        <p:spPr>
          <a:xfrm>
            <a:off x="731520" y="4023360"/>
            <a:ext cx="5212080"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t"/>
          <a:lstStyle/>
          <a:p>
            <a:pPr algn="r" rtl="1">
              <a:spcAft>
                <a:spcPts val="1000"/>
              </a:spcAft>
              <a:defRPr sz="2000" b="1">
                <a:solidFill>
                  <a:srgbClr val="045239"/>
                </a:solidFill>
                <a:latin typeface="Amiri"/>
              </a:defRPr>
            </a:pPr>
            <a:r>
              <a:t>رابعًا: التصحيح أو المراجعة</a:t>
            </a:r>
          </a:p>
          <a:p>
            <a:pPr algn="r" rtl="1">
              <a:defRPr sz="1500" b="0">
                <a:solidFill>
                  <a:srgbClr val="0F172A"/>
                </a:solidFill>
                <a:latin typeface="Amiri"/>
              </a:defRPr>
            </a:pPr>
            <a:r>
              <a:t>عند وجود مصدر موثوق ومطابقة كافية، يسترجع النظام النص الأصلي ويقترح التصحيح. وإذا كانت الأدلة غير حاسمة، يتوقف ويمتنع عن التصحيح آليًا ويوصي بالمراجعة البشرية.</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595035"/>
          </a:xfrm>
          <a:prstGeom prst="rect">
            <a:avLst/>
          </a:prstGeom>
          <a:noFill/>
        </p:spPr>
        <p:txBody>
          <a:bodyPr wrap="square" lIns="0" tIns="0" rIns="0" bIns="0">
            <a:spAutoFit/>
          </a:bodyPr>
          <a:lstStyle/>
          <a:p>
            <a:pPr algn="r" rtl="1">
              <a:spcAft>
                <a:spcPts val="200"/>
              </a:spcAft>
              <a:defRPr sz="1300" b="1">
                <a:solidFill>
                  <a:srgbClr val="C58C27"/>
                </a:solidFill>
                <a:latin typeface="Amiri"/>
              </a:defRPr>
            </a:pPr>
            <a:r>
              <a:rPr dirty="0" err="1"/>
              <a:t>تحدي</a:t>
            </a:r>
            <a:r>
              <a:rPr dirty="0"/>
              <a:t> </a:t>
            </a:r>
            <a:r>
              <a:rPr dirty="0" err="1"/>
              <a:t>الذكاء</a:t>
            </a:r>
            <a:r>
              <a:rPr dirty="0"/>
              <a:t> </a:t>
            </a:r>
            <a:r>
              <a:rPr dirty="0" err="1"/>
              <a:t>الاصطناعي</a:t>
            </a:r>
            <a:r>
              <a:rPr dirty="0"/>
              <a:t> </a:t>
            </a:r>
            <a:r>
              <a:rPr dirty="0" err="1"/>
              <a:t>في</a:t>
            </a:r>
            <a:r>
              <a:rPr dirty="0"/>
              <a:t> </a:t>
            </a:r>
            <a:r>
              <a:rPr dirty="0" err="1"/>
              <a:t>خدمة</a:t>
            </a:r>
            <a:r>
              <a:rPr dirty="0"/>
              <a:t> </a:t>
            </a:r>
            <a:r>
              <a:rPr dirty="0" err="1"/>
              <a:t>المحتوى</a:t>
            </a:r>
            <a:r>
              <a:rPr dirty="0"/>
              <a:t> </a:t>
            </a:r>
            <a:r>
              <a:rPr dirty="0" err="1"/>
              <a:t>الإسلامي</a:t>
            </a:r>
            <a:r>
              <a:rPr dirty="0"/>
              <a:t> 2026</a:t>
            </a:r>
          </a:p>
          <a:p>
            <a:pPr algn="r" rtl="1">
              <a:defRPr sz="2400" b="1">
                <a:solidFill>
                  <a:srgbClr val="045239"/>
                </a:solidFill>
                <a:latin typeface="Amiri"/>
              </a:defRPr>
            </a:pPr>
            <a:r>
              <a:rPr dirty="0" err="1"/>
              <a:t>آلية</a:t>
            </a:r>
            <a:r>
              <a:rPr dirty="0"/>
              <a:t> </a:t>
            </a:r>
            <a:r>
              <a:rPr dirty="0" err="1"/>
              <a:t>عمل</a:t>
            </a:r>
            <a:r>
              <a:rPr dirty="0"/>
              <a:t> </a:t>
            </a:r>
            <a:r>
              <a:rPr dirty="0" err="1"/>
              <a:t>النظام</a:t>
            </a:r>
            <a:r>
              <a:rPr dirty="0"/>
              <a:t> </a:t>
            </a:r>
            <a:r>
              <a:rPr dirty="0" err="1"/>
              <a:t>والخطوات</a:t>
            </a:r>
            <a:r>
              <a:rPr dirty="0"/>
              <a:t> </a:t>
            </a:r>
            <a:r>
              <a:rPr dirty="0" err="1"/>
              <a:t>التشغيلية</a:t>
            </a:r>
            <a:r>
              <a:rPr dirty="0"/>
              <a:t> </a:t>
            </a:r>
            <a:r>
              <a:rPr lang="ar-EG" dirty="0"/>
              <a:t>( </a:t>
            </a:r>
            <a:r>
              <a:rPr dirty="0" err="1"/>
              <a:t>كيف</a:t>
            </a:r>
            <a:r>
              <a:rPr dirty="0"/>
              <a:t> </a:t>
            </a:r>
            <a:r>
              <a:rPr dirty="0" err="1"/>
              <a:t>يعمل</a:t>
            </a:r>
            <a:r>
              <a:rPr dirty="0"/>
              <a:t> </a:t>
            </a:r>
            <a:r>
              <a:rPr dirty="0" err="1"/>
              <a:t>النظام</a:t>
            </a:r>
            <a:r>
              <a:rPr lang="ar-EG" dirty="0"/>
              <a:t> ؟)</a:t>
            </a:r>
            <a:endParaRPr dirty="0"/>
          </a:p>
        </p:txBody>
      </p:sp>
      <p:sp>
        <p:nvSpPr>
          <p:cNvPr id="3" name="Rounded Rectangle 2"/>
          <p:cNvSpPr/>
          <p:nvPr/>
        </p:nvSpPr>
        <p:spPr>
          <a:xfrm>
            <a:off x="339012" y="1463040"/>
            <a:ext cx="223350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t"/>
          <a:lstStyle/>
          <a:p>
            <a:pPr algn="r" rtl="1">
              <a:spcAft>
                <a:spcPts val="400"/>
              </a:spcAft>
              <a:defRPr sz="1800" b="1">
                <a:solidFill>
                  <a:srgbClr val="C58C27"/>
                </a:solidFill>
                <a:latin typeface="Amiri"/>
              </a:defRPr>
            </a:pPr>
            <a:r>
              <a:rPr dirty="0" err="1"/>
              <a:t>الخطوة</a:t>
            </a:r>
            <a:r>
              <a:rPr dirty="0"/>
              <a:t> 5</a:t>
            </a:r>
          </a:p>
          <a:p>
            <a:pPr algn="r" rtl="1">
              <a:spcAft>
                <a:spcPts val="1200"/>
              </a:spcAft>
              <a:defRPr sz="1800" b="1">
                <a:solidFill>
                  <a:srgbClr val="045239"/>
                </a:solidFill>
                <a:latin typeface="Amiri"/>
              </a:defRPr>
            </a:pPr>
            <a:r>
              <a:rPr dirty="0" err="1"/>
              <a:t>القرار</a:t>
            </a:r>
            <a:r>
              <a:rPr dirty="0"/>
              <a:t> </a:t>
            </a:r>
            <a:r>
              <a:rPr dirty="0" err="1"/>
              <a:t>والتصحيح</a:t>
            </a:r>
            <a:endParaRPr dirty="0"/>
          </a:p>
          <a:p>
            <a:pPr algn="r" rtl="1">
              <a:spcAft>
                <a:spcPts val="800"/>
              </a:spcAft>
              <a:defRPr sz="1300" b="0">
                <a:solidFill>
                  <a:srgbClr val="0F172A"/>
                </a:solidFill>
                <a:latin typeface="Amiri"/>
              </a:defRPr>
            </a:pPr>
            <a:r>
              <a:rPr sz="1600" dirty="0" err="1"/>
              <a:t>إذا</a:t>
            </a:r>
            <a:r>
              <a:rPr sz="1600" dirty="0"/>
              <a:t> </a:t>
            </a:r>
            <a:r>
              <a:rPr sz="1600" dirty="0" err="1"/>
              <a:t>كانت</a:t>
            </a:r>
            <a:r>
              <a:rPr sz="1600" dirty="0"/>
              <a:t> </a:t>
            </a:r>
            <a:r>
              <a:rPr sz="1600" dirty="0" err="1"/>
              <a:t>المطابقة</a:t>
            </a:r>
            <a:r>
              <a:rPr sz="1600" dirty="0"/>
              <a:t> </a:t>
            </a:r>
            <a:r>
              <a:rPr sz="1600" dirty="0" err="1"/>
              <a:t>المصدرية</a:t>
            </a:r>
            <a:r>
              <a:rPr sz="1600" dirty="0"/>
              <a:t> </a:t>
            </a:r>
            <a:r>
              <a:rPr sz="1600" dirty="0" err="1"/>
              <a:t>قوية</a:t>
            </a:r>
            <a:r>
              <a:rPr sz="1600" dirty="0"/>
              <a:t> </a:t>
            </a:r>
            <a:r>
              <a:rPr sz="1600" dirty="0" err="1"/>
              <a:t>يقترح</a:t>
            </a:r>
            <a:r>
              <a:rPr sz="1600" dirty="0"/>
              <a:t> </a:t>
            </a:r>
            <a:r>
              <a:rPr sz="1600" dirty="0" err="1"/>
              <a:t>النظام</a:t>
            </a:r>
            <a:r>
              <a:rPr sz="1600" dirty="0"/>
              <a:t> </a:t>
            </a:r>
            <a:r>
              <a:rPr sz="1600" dirty="0" err="1"/>
              <a:t>النص</a:t>
            </a:r>
            <a:r>
              <a:rPr sz="1600" dirty="0"/>
              <a:t> </a:t>
            </a:r>
            <a:r>
              <a:rPr sz="1600" dirty="0" err="1"/>
              <a:t>الموافق</a:t>
            </a:r>
            <a:r>
              <a:rPr sz="1600" dirty="0"/>
              <a:t> </a:t>
            </a:r>
            <a:r>
              <a:rPr sz="1600" dirty="0" err="1"/>
              <a:t>للمصدر</a:t>
            </a:r>
            <a:r>
              <a:rPr sz="1600" dirty="0"/>
              <a:t>. </a:t>
            </a:r>
            <a:r>
              <a:rPr sz="1600" dirty="0" err="1"/>
              <a:t>أما</a:t>
            </a:r>
            <a:r>
              <a:rPr sz="1600" dirty="0"/>
              <a:t> </a:t>
            </a:r>
            <a:r>
              <a:rPr sz="1600" dirty="0" err="1"/>
              <a:t>إذا</a:t>
            </a:r>
            <a:r>
              <a:rPr sz="1600" dirty="0"/>
              <a:t> </a:t>
            </a:r>
            <a:r>
              <a:rPr sz="1600" dirty="0" err="1"/>
              <a:t>لم</a:t>
            </a:r>
            <a:r>
              <a:rPr sz="1600" dirty="0"/>
              <a:t> </a:t>
            </a:r>
            <a:r>
              <a:rPr sz="1600" dirty="0" err="1"/>
              <a:t>تكن</a:t>
            </a:r>
            <a:r>
              <a:rPr sz="1600" dirty="0"/>
              <a:t> </a:t>
            </a:r>
            <a:r>
              <a:rPr sz="1600" dirty="0" err="1"/>
              <a:t>الأدلة</a:t>
            </a:r>
            <a:r>
              <a:rPr sz="1600" dirty="0"/>
              <a:t> </a:t>
            </a:r>
            <a:r>
              <a:rPr sz="1600" dirty="0" err="1"/>
              <a:t>كافية</a:t>
            </a:r>
            <a:r>
              <a:rPr sz="1600" dirty="0"/>
              <a:t> </a:t>
            </a:r>
            <a:r>
              <a:rPr sz="1600" dirty="0" err="1"/>
              <a:t>لا</a:t>
            </a:r>
            <a:r>
              <a:rPr sz="1600" dirty="0"/>
              <a:t> </a:t>
            </a:r>
            <a:r>
              <a:rPr sz="1600" dirty="0" err="1"/>
              <a:t>يختلق</a:t>
            </a:r>
            <a:r>
              <a:rPr sz="1600" dirty="0"/>
              <a:t> </a:t>
            </a:r>
            <a:r>
              <a:rPr sz="1600" dirty="0" err="1"/>
              <a:t>تصحيحًا</a:t>
            </a:r>
            <a:r>
              <a:rPr sz="1600" dirty="0"/>
              <a:t> </a:t>
            </a:r>
            <a:r>
              <a:rPr sz="1600" dirty="0" err="1"/>
              <a:t>بل</a:t>
            </a:r>
            <a:r>
              <a:rPr sz="1600" dirty="0"/>
              <a:t> </a:t>
            </a:r>
            <a:r>
              <a:rPr sz="1600" dirty="0" err="1"/>
              <a:t>يوضح</a:t>
            </a:r>
            <a:r>
              <a:rPr sz="1600" dirty="0"/>
              <a:t> </a:t>
            </a:r>
            <a:r>
              <a:rPr sz="1600" dirty="0" err="1"/>
              <a:t>حاجة</a:t>
            </a:r>
            <a:r>
              <a:rPr sz="1600" dirty="0"/>
              <a:t> </a:t>
            </a:r>
            <a:r>
              <a:rPr sz="1600" dirty="0" err="1"/>
              <a:t>الحالة</a:t>
            </a:r>
            <a:r>
              <a:rPr sz="1600" dirty="0"/>
              <a:t> </a:t>
            </a:r>
            <a:r>
              <a:rPr sz="1600" dirty="0" err="1"/>
              <a:t>للمراجعة</a:t>
            </a:r>
            <a:r>
              <a:rPr sz="1600" dirty="0"/>
              <a:t> </a:t>
            </a:r>
            <a:r>
              <a:rPr sz="1600" dirty="0" err="1"/>
              <a:t>البشرية</a:t>
            </a:r>
            <a:r>
              <a:rPr sz="1600" dirty="0"/>
              <a:t>.</a:t>
            </a:r>
          </a:p>
        </p:txBody>
      </p:sp>
      <p:sp>
        <p:nvSpPr>
          <p:cNvPr id="4" name="Rounded Rectangle 3"/>
          <p:cNvSpPr/>
          <p:nvPr/>
        </p:nvSpPr>
        <p:spPr>
          <a:xfrm>
            <a:off x="2724912" y="1463040"/>
            <a:ext cx="2176272"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t"/>
          <a:lstStyle/>
          <a:p>
            <a:pPr algn="r" rtl="1">
              <a:spcAft>
                <a:spcPts val="400"/>
              </a:spcAft>
              <a:defRPr sz="1800" b="1">
                <a:solidFill>
                  <a:srgbClr val="C58C27"/>
                </a:solidFill>
                <a:latin typeface="Amiri"/>
              </a:defRPr>
            </a:pPr>
            <a:r>
              <a:rPr dirty="0" err="1"/>
              <a:t>الخطوة</a:t>
            </a:r>
            <a:r>
              <a:rPr dirty="0"/>
              <a:t> 4</a:t>
            </a:r>
          </a:p>
          <a:p>
            <a:pPr algn="r" rtl="1">
              <a:spcAft>
                <a:spcPts val="1200"/>
              </a:spcAft>
              <a:defRPr sz="1800" b="1">
                <a:solidFill>
                  <a:srgbClr val="045239"/>
                </a:solidFill>
                <a:latin typeface="Amiri"/>
              </a:defRPr>
            </a:pPr>
            <a:r>
              <a:rPr dirty="0" err="1"/>
              <a:t>عرض</a:t>
            </a:r>
            <a:r>
              <a:rPr dirty="0"/>
              <a:t> </a:t>
            </a:r>
            <a:r>
              <a:rPr dirty="0" err="1"/>
              <a:t>الدليل</a:t>
            </a:r>
            <a:endParaRPr dirty="0"/>
          </a:p>
          <a:p>
            <a:pPr algn="r" rtl="1">
              <a:spcAft>
                <a:spcPts val="800"/>
              </a:spcAft>
              <a:defRPr sz="1300" b="0">
                <a:solidFill>
                  <a:srgbClr val="0F172A"/>
                </a:solidFill>
                <a:latin typeface="Amiri"/>
              </a:defRPr>
            </a:pPr>
            <a:r>
              <a:rPr sz="1600" dirty="0" err="1"/>
              <a:t>بدل</a:t>
            </a:r>
            <a:r>
              <a:rPr sz="1600" dirty="0"/>
              <a:t> </a:t>
            </a:r>
            <a:r>
              <a:rPr sz="1600" dirty="0" err="1"/>
              <a:t>إظهار</a:t>
            </a:r>
            <a:r>
              <a:rPr sz="1600" dirty="0"/>
              <a:t> </a:t>
            </a:r>
            <a:r>
              <a:rPr sz="1600" dirty="0" err="1"/>
              <a:t>نتيجة</a:t>
            </a:r>
            <a:r>
              <a:rPr sz="1600" dirty="0"/>
              <a:t> </a:t>
            </a:r>
            <a:r>
              <a:rPr sz="1600" dirty="0" err="1"/>
              <a:t>مجردة</a:t>
            </a:r>
            <a:r>
              <a:rPr sz="1600" dirty="0"/>
              <a:t>، </a:t>
            </a:r>
            <a:r>
              <a:rPr sz="1600" dirty="0" err="1"/>
              <a:t>يعرض</a:t>
            </a:r>
            <a:r>
              <a:rPr sz="1600" dirty="0"/>
              <a:t> </a:t>
            </a:r>
            <a:r>
              <a:rPr sz="1600" dirty="0" err="1"/>
              <a:t>النظام</a:t>
            </a:r>
            <a:r>
              <a:rPr sz="1600" dirty="0"/>
              <a:t> </a:t>
            </a:r>
            <a:r>
              <a:rPr sz="1600" dirty="0" err="1"/>
              <a:t>الاقتباس</a:t>
            </a:r>
            <a:r>
              <a:rPr sz="1600" dirty="0"/>
              <a:t>، </a:t>
            </a:r>
            <a:r>
              <a:rPr sz="1600" dirty="0" err="1"/>
              <a:t>نوعه</a:t>
            </a:r>
            <a:r>
              <a:rPr sz="1600" dirty="0"/>
              <a:t>، </a:t>
            </a:r>
            <a:r>
              <a:rPr sz="1600" dirty="0" err="1"/>
              <a:t>المصدر</a:t>
            </a:r>
            <a:r>
              <a:rPr sz="1600" dirty="0"/>
              <a:t> </a:t>
            </a:r>
            <a:r>
              <a:rPr sz="1600" dirty="0" err="1"/>
              <a:t>المسترجع</a:t>
            </a:r>
            <a:r>
              <a:rPr sz="1600" dirty="0"/>
              <a:t>، </a:t>
            </a:r>
            <a:r>
              <a:rPr sz="1600" dirty="0" err="1"/>
              <a:t>النص</a:t>
            </a:r>
            <a:r>
              <a:rPr sz="1600" dirty="0"/>
              <a:t> </a:t>
            </a:r>
            <a:r>
              <a:rPr sz="1600" dirty="0" err="1"/>
              <a:t>الأصلي</a:t>
            </a:r>
            <a:r>
              <a:rPr sz="1600" dirty="0"/>
              <a:t>، </a:t>
            </a:r>
            <a:r>
              <a:rPr sz="1600" dirty="0" err="1"/>
              <a:t>نتيجة</a:t>
            </a:r>
            <a:r>
              <a:rPr sz="1600" dirty="0"/>
              <a:t> </a:t>
            </a:r>
            <a:r>
              <a:rPr sz="1600" dirty="0" err="1"/>
              <a:t>المقارنة</a:t>
            </a:r>
            <a:r>
              <a:rPr sz="1600" dirty="0"/>
              <a:t>، </a:t>
            </a:r>
            <a:r>
              <a:rPr sz="1600" dirty="0" err="1"/>
              <a:t>ومؤشرات</a:t>
            </a:r>
            <a:r>
              <a:rPr sz="1600" dirty="0"/>
              <a:t> </a:t>
            </a:r>
            <a:r>
              <a:rPr sz="1600" dirty="0" err="1"/>
              <a:t>التحقق</a:t>
            </a:r>
            <a:r>
              <a:rPr sz="1600" dirty="0"/>
              <a:t> </a:t>
            </a:r>
            <a:r>
              <a:rPr sz="1600" dirty="0" err="1"/>
              <a:t>ودرجة</a:t>
            </a:r>
            <a:r>
              <a:rPr sz="1600" dirty="0"/>
              <a:t> </a:t>
            </a:r>
            <a:r>
              <a:rPr sz="1600" dirty="0" err="1"/>
              <a:t>الثقة</a:t>
            </a:r>
            <a:r>
              <a:rPr sz="1600" dirty="0"/>
              <a:t>.</a:t>
            </a:r>
          </a:p>
        </p:txBody>
      </p:sp>
      <p:sp>
        <p:nvSpPr>
          <p:cNvPr id="5" name="Rounded Rectangle 4"/>
          <p:cNvSpPr/>
          <p:nvPr/>
        </p:nvSpPr>
        <p:spPr>
          <a:xfrm>
            <a:off x="5017630" y="1463040"/>
            <a:ext cx="2059826"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t"/>
          <a:lstStyle/>
          <a:p>
            <a:pPr algn="r" rtl="1">
              <a:spcAft>
                <a:spcPts val="400"/>
              </a:spcAft>
              <a:defRPr sz="1800" b="1">
                <a:solidFill>
                  <a:srgbClr val="C58C27"/>
                </a:solidFill>
                <a:latin typeface="Amiri"/>
              </a:defRPr>
            </a:pPr>
            <a:r>
              <a:rPr dirty="0" err="1"/>
              <a:t>الخطوة</a:t>
            </a:r>
            <a:r>
              <a:rPr dirty="0"/>
              <a:t> 3</a:t>
            </a:r>
          </a:p>
          <a:p>
            <a:pPr algn="r" rtl="1">
              <a:spcAft>
                <a:spcPts val="1200"/>
              </a:spcAft>
              <a:defRPr sz="1800" b="1">
                <a:solidFill>
                  <a:srgbClr val="045239"/>
                </a:solidFill>
                <a:latin typeface="Amiri"/>
              </a:defRPr>
            </a:pPr>
            <a:r>
              <a:rPr dirty="0" err="1"/>
              <a:t>البحث</a:t>
            </a:r>
            <a:r>
              <a:rPr dirty="0"/>
              <a:t> </a:t>
            </a:r>
            <a:r>
              <a:rPr dirty="0" err="1"/>
              <a:t>والمقارنة</a:t>
            </a:r>
            <a:endParaRPr dirty="0"/>
          </a:p>
          <a:p>
            <a:pPr algn="r" rtl="1">
              <a:spcAft>
                <a:spcPts val="800"/>
              </a:spcAft>
              <a:defRPr sz="1300" b="0">
                <a:solidFill>
                  <a:srgbClr val="0F172A"/>
                </a:solidFill>
                <a:latin typeface="Amiri"/>
              </a:defRPr>
            </a:pPr>
            <a:r>
              <a:rPr sz="1600" dirty="0" err="1"/>
              <a:t>يستخدم</a:t>
            </a:r>
            <a:r>
              <a:rPr sz="1600" dirty="0"/>
              <a:t> </a:t>
            </a:r>
            <a:r>
              <a:rPr sz="1600" dirty="0" err="1"/>
              <a:t>مكونات</a:t>
            </a:r>
            <a:r>
              <a:rPr sz="1600" dirty="0"/>
              <a:t> </a:t>
            </a:r>
            <a:r>
              <a:rPr sz="1600" dirty="0" err="1"/>
              <a:t>الاسترجاع</a:t>
            </a:r>
            <a:r>
              <a:rPr sz="1600" dirty="0"/>
              <a:t> </a:t>
            </a:r>
            <a:r>
              <a:rPr sz="1600" dirty="0" err="1"/>
              <a:t>للعثور</a:t>
            </a:r>
            <a:r>
              <a:rPr sz="1600" dirty="0"/>
              <a:t> </a:t>
            </a:r>
            <a:r>
              <a:rPr sz="1600" dirty="0" err="1"/>
              <a:t>على</a:t>
            </a:r>
            <a:r>
              <a:rPr sz="1600" dirty="0"/>
              <a:t> </a:t>
            </a:r>
            <a:r>
              <a:rPr sz="1600" dirty="0" err="1"/>
              <a:t>المصادر</a:t>
            </a:r>
            <a:r>
              <a:rPr sz="1600" dirty="0"/>
              <a:t> </a:t>
            </a:r>
            <a:r>
              <a:rPr sz="1600" dirty="0" err="1"/>
              <a:t>المرشحة</a:t>
            </a:r>
            <a:r>
              <a:rPr sz="1600" dirty="0"/>
              <a:t> </a:t>
            </a:r>
            <a:r>
              <a:rPr sz="1600" dirty="0" err="1"/>
              <a:t>الأكثر</a:t>
            </a:r>
            <a:r>
              <a:rPr sz="1600" dirty="0"/>
              <a:t> </a:t>
            </a:r>
            <a:r>
              <a:rPr sz="1600" dirty="0" err="1"/>
              <a:t>ارتباطًا</a:t>
            </a:r>
            <a:r>
              <a:rPr sz="1600" dirty="0"/>
              <a:t>، </a:t>
            </a:r>
            <a:r>
              <a:rPr sz="1600" dirty="0" err="1"/>
              <a:t>ومقارنة</a:t>
            </a:r>
            <a:r>
              <a:rPr sz="1600" dirty="0"/>
              <a:t> </a:t>
            </a:r>
            <a:r>
              <a:rPr sz="1600" dirty="0" err="1"/>
              <a:t>الاقتباس</a:t>
            </a:r>
            <a:r>
              <a:rPr sz="1600" dirty="0"/>
              <a:t> </a:t>
            </a:r>
            <a:r>
              <a:rPr sz="1600" dirty="0" err="1"/>
              <a:t>بمؤشرات</a:t>
            </a:r>
            <a:r>
              <a:rPr sz="1600" dirty="0"/>
              <a:t> </a:t>
            </a:r>
            <a:r>
              <a:rPr sz="1600" dirty="0" err="1"/>
              <a:t>متعددة</a:t>
            </a:r>
            <a:r>
              <a:rPr sz="1600" dirty="0"/>
              <a:t> </a:t>
            </a:r>
            <a:r>
              <a:rPr sz="1600" dirty="0" err="1"/>
              <a:t>على</a:t>
            </a:r>
            <a:r>
              <a:rPr sz="1600" dirty="0"/>
              <a:t> </a:t>
            </a:r>
            <a:r>
              <a:rPr sz="1600" dirty="0" err="1"/>
              <a:t>مستوى</a:t>
            </a:r>
            <a:r>
              <a:rPr sz="1600" dirty="0"/>
              <a:t> </a:t>
            </a:r>
            <a:r>
              <a:rPr sz="1600" dirty="0" err="1"/>
              <a:t>الكلمات</a:t>
            </a:r>
            <a:r>
              <a:rPr sz="1600" dirty="0"/>
              <a:t> </a:t>
            </a:r>
            <a:r>
              <a:rPr sz="1600" dirty="0" err="1"/>
              <a:t>والأحرف</a:t>
            </a:r>
            <a:r>
              <a:rPr sz="1600" dirty="0"/>
              <a:t> </a:t>
            </a:r>
            <a:r>
              <a:rPr sz="1600" dirty="0" err="1"/>
              <a:t>والتسلسل</a:t>
            </a:r>
            <a:r>
              <a:rPr sz="1600" dirty="0"/>
              <a:t> </a:t>
            </a:r>
            <a:r>
              <a:rPr sz="1600" dirty="0" err="1"/>
              <a:t>النصي</a:t>
            </a:r>
            <a:r>
              <a:rPr sz="1600" dirty="0"/>
              <a:t> </a:t>
            </a:r>
            <a:r>
              <a:rPr sz="1600" dirty="0" err="1"/>
              <a:t>والتغطية</a:t>
            </a:r>
            <a:r>
              <a:rPr sz="1600" dirty="0"/>
              <a:t>.</a:t>
            </a:r>
          </a:p>
        </p:txBody>
      </p:sp>
      <p:sp>
        <p:nvSpPr>
          <p:cNvPr id="6" name="Rounded Rectangle 5"/>
          <p:cNvSpPr/>
          <p:nvPr/>
        </p:nvSpPr>
        <p:spPr>
          <a:xfrm>
            <a:off x="7193902" y="1463040"/>
            <a:ext cx="2090306"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t"/>
          <a:lstStyle/>
          <a:p>
            <a:pPr algn="r" rtl="1">
              <a:spcAft>
                <a:spcPts val="400"/>
              </a:spcAft>
              <a:defRPr sz="1800" b="1">
                <a:solidFill>
                  <a:srgbClr val="C58C27"/>
                </a:solidFill>
                <a:latin typeface="Amiri"/>
              </a:defRPr>
            </a:pPr>
            <a:r>
              <a:rPr dirty="0" err="1"/>
              <a:t>الخطوة</a:t>
            </a:r>
            <a:r>
              <a:rPr dirty="0"/>
              <a:t> 2</a:t>
            </a:r>
          </a:p>
          <a:p>
            <a:pPr algn="r" rtl="1">
              <a:spcAft>
                <a:spcPts val="1200"/>
              </a:spcAft>
              <a:defRPr sz="1800" b="1">
                <a:solidFill>
                  <a:srgbClr val="045239"/>
                </a:solidFill>
                <a:latin typeface="Amiri"/>
              </a:defRPr>
            </a:pPr>
            <a:r>
              <a:rPr dirty="0" err="1"/>
              <a:t>تحديد</a:t>
            </a:r>
            <a:r>
              <a:rPr dirty="0"/>
              <a:t> </a:t>
            </a:r>
            <a:r>
              <a:rPr dirty="0" err="1"/>
              <a:t>الاقتباسات</a:t>
            </a:r>
            <a:endParaRPr dirty="0"/>
          </a:p>
          <a:p>
            <a:pPr algn="r" rtl="1">
              <a:spcAft>
                <a:spcPts val="800"/>
              </a:spcAft>
              <a:defRPr sz="1300" b="0">
                <a:solidFill>
                  <a:srgbClr val="0F172A"/>
                </a:solidFill>
                <a:latin typeface="Amiri"/>
              </a:defRPr>
            </a:pPr>
            <a:r>
              <a:rPr sz="1600" dirty="0" err="1"/>
              <a:t>يقوم</a:t>
            </a:r>
            <a:r>
              <a:rPr sz="1600" dirty="0"/>
              <a:t> </a:t>
            </a:r>
            <a:r>
              <a:rPr sz="1600" dirty="0" err="1"/>
              <a:t>النظام</a:t>
            </a:r>
            <a:r>
              <a:rPr sz="1600" dirty="0"/>
              <a:t> </a:t>
            </a:r>
            <a:r>
              <a:rPr sz="1600" dirty="0" err="1"/>
              <a:t>بتحليل</a:t>
            </a:r>
            <a:r>
              <a:rPr sz="1600" dirty="0"/>
              <a:t> </a:t>
            </a:r>
            <a:r>
              <a:rPr sz="1600" dirty="0" err="1"/>
              <a:t>النص</a:t>
            </a:r>
            <a:r>
              <a:rPr sz="1600" dirty="0"/>
              <a:t> </a:t>
            </a:r>
            <a:r>
              <a:rPr sz="1600" dirty="0" err="1"/>
              <a:t>وتحديد</a:t>
            </a:r>
            <a:r>
              <a:rPr sz="1600" dirty="0"/>
              <a:t> </a:t>
            </a:r>
            <a:r>
              <a:rPr sz="1600" dirty="0" err="1"/>
              <a:t>المقاطع</a:t>
            </a:r>
            <a:r>
              <a:rPr sz="1600" dirty="0"/>
              <a:t> </a:t>
            </a:r>
            <a:r>
              <a:rPr sz="1600" dirty="0" err="1"/>
              <a:t>التي</a:t>
            </a:r>
            <a:r>
              <a:rPr sz="1600" dirty="0"/>
              <a:t> </a:t>
            </a:r>
            <a:r>
              <a:rPr sz="1600" dirty="0" err="1"/>
              <a:t>يُحتمل</a:t>
            </a:r>
            <a:r>
              <a:rPr sz="1600" dirty="0"/>
              <a:t> </a:t>
            </a:r>
            <a:r>
              <a:rPr sz="1600" dirty="0" err="1"/>
              <a:t>أن</a:t>
            </a:r>
            <a:r>
              <a:rPr sz="1600" dirty="0"/>
              <a:t> </a:t>
            </a:r>
            <a:r>
              <a:rPr sz="1600" dirty="0" err="1"/>
              <a:t>تكون</a:t>
            </a:r>
            <a:r>
              <a:rPr sz="1600" dirty="0"/>
              <a:t>:</a:t>
            </a:r>
            <a:br>
              <a:rPr sz="1600" dirty="0"/>
            </a:br>
            <a:r>
              <a:rPr sz="1600" dirty="0"/>
              <a:t>• </a:t>
            </a:r>
            <a:r>
              <a:rPr sz="1600" dirty="0" err="1"/>
              <a:t>آية</a:t>
            </a:r>
            <a:r>
              <a:rPr sz="1600" dirty="0"/>
              <a:t> </a:t>
            </a:r>
            <a:r>
              <a:rPr sz="1600" dirty="0" err="1"/>
              <a:t>قرآنية</a:t>
            </a:r>
            <a:br>
              <a:rPr sz="1600" dirty="0"/>
            </a:br>
            <a:r>
              <a:rPr sz="1600" dirty="0"/>
              <a:t>• </a:t>
            </a:r>
            <a:r>
              <a:rPr sz="1600" dirty="0" err="1"/>
              <a:t>حديثًا</a:t>
            </a:r>
            <a:r>
              <a:rPr sz="1600" dirty="0"/>
              <a:t> </a:t>
            </a:r>
            <a:r>
              <a:rPr sz="1600" dirty="0" err="1"/>
              <a:t>نبويًا</a:t>
            </a:r>
            <a:br>
              <a:rPr sz="1600" dirty="0"/>
            </a:br>
            <a:r>
              <a:rPr sz="1600" dirty="0"/>
              <a:t>• </a:t>
            </a:r>
            <a:r>
              <a:rPr sz="1600" dirty="0" err="1"/>
              <a:t>نصًا</a:t>
            </a:r>
            <a:r>
              <a:rPr sz="1600" dirty="0"/>
              <a:t> </a:t>
            </a:r>
            <a:r>
              <a:rPr sz="1600" dirty="0" err="1"/>
              <a:t>عاديًا</a:t>
            </a:r>
            <a:br>
              <a:rPr sz="1600" dirty="0"/>
            </a:br>
            <a:r>
              <a:rPr sz="1600" dirty="0" err="1"/>
              <a:t>مع</a:t>
            </a:r>
            <a:r>
              <a:rPr sz="1600" dirty="0"/>
              <a:t> </a:t>
            </a:r>
            <a:r>
              <a:rPr sz="1600" dirty="0" err="1"/>
              <a:t>تحديد</a:t>
            </a:r>
            <a:r>
              <a:rPr sz="1600" dirty="0"/>
              <a:t> </a:t>
            </a:r>
            <a:r>
              <a:rPr sz="1600" dirty="0" err="1"/>
              <a:t>موضع</a:t>
            </a:r>
            <a:r>
              <a:rPr sz="1600" dirty="0"/>
              <a:t> </a:t>
            </a:r>
            <a:r>
              <a:rPr sz="1600" dirty="0" err="1"/>
              <a:t>كل</a:t>
            </a:r>
            <a:r>
              <a:rPr sz="1600" dirty="0"/>
              <a:t> </a:t>
            </a:r>
            <a:r>
              <a:rPr sz="1600" dirty="0" err="1"/>
              <a:t>مقطع</a:t>
            </a:r>
            <a:r>
              <a:rPr sz="1600" dirty="0"/>
              <a:t>.</a:t>
            </a:r>
          </a:p>
        </p:txBody>
      </p:sp>
      <p:sp>
        <p:nvSpPr>
          <p:cNvPr id="7" name="Rounded Rectangle 6"/>
          <p:cNvSpPr/>
          <p:nvPr/>
        </p:nvSpPr>
        <p:spPr>
          <a:xfrm>
            <a:off x="9436608" y="1463040"/>
            <a:ext cx="226398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t"/>
          <a:lstStyle/>
          <a:p>
            <a:pPr algn="r" rtl="1">
              <a:spcAft>
                <a:spcPts val="400"/>
              </a:spcAft>
              <a:defRPr sz="1800" b="1">
                <a:solidFill>
                  <a:srgbClr val="C58C27"/>
                </a:solidFill>
                <a:latin typeface="Amiri"/>
              </a:defRPr>
            </a:pPr>
            <a:r>
              <a:rPr dirty="0" err="1"/>
              <a:t>الخطوة</a:t>
            </a:r>
            <a:r>
              <a:rPr dirty="0"/>
              <a:t> 1</a:t>
            </a:r>
          </a:p>
          <a:p>
            <a:pPr algn="r" rtl="1">
              <a:spcAft>
                <a:spcPts val="1200"/>
              </a:spcAft>
              <a:defRPr sz="1800" b="1">
                <a:solidFill>
                  <a:srgbClr val="045239"/>
                </a:solidFill>
                <a:latin typeface="Amiri"/>
              </a:defRPr>
            </a:pPr>
            <a:r>
              <a:rPr dirty="0" err="1"/>
              <a:t>إدخال</a:t>
            </a:r>
            <a:r>
              <a:rPr dirty="0"/>
              <a:t> </a:t>
            </a:r>
            <a:r>
              <a:rPr dirty="0" err="1"/>
              <a:t>النص</a:t>
            </a:r>
            <a:endParaRPr dirty="0"/>
          </a:p>
          <a:p>
            <a:pPr algn="r" rtl="1">
              <a:spcAft>
                <a:spcPts val="800"/>
              </a:spcAft>
              <a:defRPr sz="1300" b="0">
                <a:solidFill>
                  <a:srgbClr val="0F172A"/>
                </a:solidFill>
                <a:latin typeface="Amiri"/>
              </a:defRPr>
            </a:pPr>
            <a:r>
              <a:rPr sz="1600" dirty="0" err="1"/>
              <a:t>يدخل</a:t>
            </a:r>
            <a:r>
              <a:rPr sz="1600" dirty="0"/>
              <a:t> </a:t>
            </a:r>
            <a:r>
              <a:rPr sz="1600" dirty="0" err="1"/>
              <a:t>المستخدم</a:t>
            </a:r>
            <a:r>
              <a:rPr sz="1600" dirty="0"/>
              <a:t> </a:t>
            </a:r>
            <a:r>
              <a:rPr sz="1600" dirty="0" err="1"/>
              <a:t>نصًا</a:t>
            </a:r>
            <a:r>
              <a:rPr sz="1600" dirty="0"/>
              <a:t> </a:t>
            </a:r>
            <a:r>
              <a:rPr sz="1600" dirty="0" err="1"/>
              <a:t>تم</a:t>
            </a:r>
            <a:r>
              <a:rPr sz="1600" dirty="0"/>
              <a:t> </a:t>
            </a:r>
            <a:r>
              <a:rPr sz="1600" dirty="0" err="1"/>
              <a:t>توليده</a:t>
            </a:r>
            <a:r>
              <a:rPr sz="1600" dirty="0"/>
              <a:t> </a:t>
            </a:r>
            <a:r>
              <a:rPr sz="1600" dirty="0" err="1"/>
              <a:t>بواسطة</a:t>
            </a:r>
            <a:r>
              <a:rPr sz="1600" dirty="0"/>
              <a:t> </a:t>
            </a:r>
            <a:r>
              <a:rPr sz="1600" dirty="0" err="1"/>
              <a:t>نموذج</a:t>
            </a:r>
            <a:r>
              <a:rPr sz="1600" dirty="0"/>
              <a:t> </a:t>
            </a:r>
            <a:r>
              <a:rPr sz="1600" dirty="0" err="1"/>
              <a:t>لغوي</a:t>
            </a:r>
            <a:r>
              <a:rPr sz="1600" dirty="0"/>
              <a:t> </a:t>
            </a:r>
            <a:r>
              <a:rPr sz="1600" dirty="0" err="1"/>
              <a:t>كبير</a:t>
            </a:r>
            <a:r>
              <a:rPr sz="1600" dirty="0"/>
              <a:t> </a:t>
            </a:r>
            <a:r>
              <a:rPr sz="1600" dirty="0" err="1"/>
              <a:t>ويرغب</a:t>
            </a:r>
            <a:r>
              <a:rPr sz="1600" dirty="0"/>
              <a:t> </a:t>
            </a:r>
            <a:r>
              <a:rPr sz="1600" dirty="0" err="1"/>
              <a:t>في</a:t>
            </a:r>
            <a:r>
              <a:rPr sz="1600" dirty="0"/>
              <a:t> </a:t>
            </a:r>
            <a:r>
              <a:rPr sz="1600" dirty="0" err="1"/>
              <a:t>التحقق</a:t>
            </a:r>
            <a:r>
              <a:rPr sz="1600" dirty="0"/>
              <a:t> </a:t>
            </a:r>
            <a:r>
              <a:rPr sz="1600" dirty="0" err="1"/>
              <a:t>من</a:t>
            </a:r>
            <a:r>
              <a:rPr sz="1600" dirty="0"/>
              <a:t> </a:t>
            </a:r>
            <a:r>
              <a:rPr sz="1600" dirty="0" err="1"/>
              <a:t>الاقتباسات</a:t>
            </a:r>
            <a:r>
              <a:rPr sz="1600" dirty="0"/>
              <a:t> </a:t>
            </a:r>
            <a:r>
              <a:rPr sz="1600" dirty="0" err="1"/>
              <a:t>القرآنية</a:t>
            </a:r>
            <a:r>
              <a:rPr sz="1600" dirty="0"/>
              <a:t> </a:t>
            </a:r>
            <a:r>
              <a:rPr sz="1600" dirty="0" err="1"/>
              <a:t>والحديثية</a:t>
            </a:r>
            <a:r>
              <a:rPr sz="1600" dirty="0"/>
              <a:t> </a:t>
            </a:r>
            <a:r>
              <a:rPr sz="1600" dirty="0" err="1"/>
              <a:t>الواردة</a:t>
            </a:r>
            <a:r>
              <a:rPr sz="1600" dirty="0"/>
              <a:t> </a:t>
            </a:r>
            <a:r>
              <a:rPr sz="1600" dirty="0" err="1"/>
              <a:t>فيه</a:t>
            </a:r>
            <a:r>
              <a:rPr sz="1600" dirty="0"/>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lgn="r" rtl="1">
              <a:spcAft>
                <a:spcPts val="200"/>
              </a:spcAft>
              <a:defRPr sz="1300" b="1">
                <a:solidFill>
                  <a:srgbClr val="C58C27"/>
                </a:solidFill>
                <a:latin typeface="Amiri"/>
              </a:defRPr>
            </a:pPr>
            <a:r>
              <a:rPr dirty="0" err="1"/>
              <a:t>تحدي</a:t>
            </a:r>
            <a:r>
              <a:rPr dirty="0"/>
              <a:t> </a:t>
            </a:r>
            <a:r>
              <a:rPr dirty="0" err="1"/>
              <a:t>الذكاء</a:t>
            </a:r>
            <a:r>
              <a:rPr dirty="0"/>
              <a:t> </a:t>
            </a:r>
            <a:r>
              <a:rPr dirty="0" err="1"/>
              <a:t>الاصطناعي</a:t>
            </a:r>
            <a:r>
              <a:rPr dirty="0"/>
              <a:t> </a:t>
            </a:r>
            <a:r>
              <a:rPr dirty="0" err="1"/>
              <a:t>في</a:t>
            </a:r>
            <a:r>
              <a:rPr dirty="0"/>
              <a:t> </a:t>
            </a:r>
            <a:r>
              <a:rPr dirty="0" err="1"/>
              <a:t>خدمة</a:t>
            </a:r>
            <a:r>
              <a:rPr dirty="0"/>
              <a:t> </a:t>
            </a:r>
            <a:r>
              <a:rPr dirty="0" err="1"/>
              <a:t>المحتوى</a:t>
            </a:r>
            <a:r>
              <a:rPr dirty="0"/>
              <a:t> </a:t>
            </a:r>
            <a:r>
              <a:rPr dirty="0" err="1"/>
              <a:t>الإسلامي</a:t>
            </a:r>
            <a:r>
              <a:rPr dirty="0"/>
              <a:t> 2026</a:t>
            </a:r>
          </a:p>
          <a:p>
            <a:pPr algn="r" rtl="1">
              <a:defRPr sz="2400" b="1">
                <a:solidFill>
                  <a:srgbClr val="045239"/>
                </a:solidFill>
                <a:latin typeface="Amiri"/>
              </a:defRPr>
            </a:pPr>
            <a:r>
              <a:rPr dirty="0" err="1"/>
              <a:t>الأساس</a:t>
            </a:r>
            <a:r>
              <a:rPr dirty="0"/>
              <a:t> </a:t>
            </a:r>
            <a:r>
              <a:rPr dirty="0" err="1"/>
              <a:t>البحثي</a:t>
            </a:r>
            <a:r>
              <a:rPr dirty="0"/>
              <a:t> </a:t>
            </a:r>
            <a:r>
              <a:rPr dirty="0" err="1"/>
              <a:t>للمشروع</a:t>
            </a:r>
            <a:r>
              <a:rPr dirty="0"/>
              <a:t> (</a:t>
            </a:r>
            <a:r>
              <a:rPr dirty="0" err="1"/>
              <a:t>IslamicEval</a:t>
            </a:r>
            <a:r>
              <a:rPr dirty="0"/>
              <a:t> 2025 — Subtask 1A)</a:t>
            </a:r>
          </a:p>
        </p:txBody>
      </p:sp>
      <p:sp>
        <p:nvSpPr>
          <p:cNvPr id="3" name="Rounded Rectangle 2"/>
          <p:cNvSpPr/>
          <p:nvPr/>
        </p:nvSpPr>
        <p:spPr>
          <a:xfrm>
            <a:off x="7498079" y="1463040"/>
            <a:ext cx="3962095"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t"/>
          <a:lstStyle/>
          <a:p>
            <a:pPr algn="ctr" rtl="1">
              <a:spcAft>
                <a:spcPts val="2000"/>
              </a:spcAft>
              <a:defRPr sz="2000" b="1">
                <a:solidFill>
                  <a:srgbClr val="045239"/>
                </a:solidFill>
                <a:latin typeface="Amiri"/>
              </a:defRPr>
            </a:pPr>
            <a:r>
              <a:t>دقة الكشف والتصنيف</a:t>
            </a:r>
          </a:p>
          <a:p>
            <a:pPr algn="ctr" rtl="1">
              <a:spcAft>
                <a:spcPts val="1000"/>
              </a:spcAft>
              <a:defRPr sz="4400" b="1">
                <a:solidFill>
                  <a:srgbClr val="C58C27"/>
                </a:solidFill>
                <a:latin typeface="Amiri"/>
              </a:defRPr>
            </a:pPr>
            <a:r>
              <a:t>0.9091</a:t>
            </a:r>
          </a:p>
          <a:p>
            <a:pPr algn="ctr" rtl="1">
              <a:defRPr sz="1600" b="0">
                <a:solidFill>
                  <a:srgbClr val="475569"/>
                </a:solidFill>
                <a:latin typeface="Amiri"/>
              </a:defRPr>
            </a:pPr>
            <a:r>
              <a:t>Character-level Macro F1</a:t>
            </a:r>
            <a:br/>
            <a:r>
              <a:t>باستخدام نموذج CAMeLBERT-MSA</a:t>
            </a:r>
          </a:p>
        </p:txBody>
      </p:sp>
      <p:sp>
        <p:nvSpPr>
          <p:cNvPr id="4" name="Rounded Rectangle 3"/>
          <p:cNvSpPr/>
          <p:nvPr/>
        </p:nvSpPr>
        <p:spPr>
          <a:xfrm>
            <a:off x="731520" y="1463040"/>
            <a:ext cx="649224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t"/>
          <a:lstStyle/>
          <a:p>
            <a:pPr algn="r" rtl="1">
              <a:spcAft>
                <a:spcPts val="1600"/>
              </a:spcAft>
              <a:defRPr sz="2200" b="1">
                <a:solidFill>
                  <a:srgbClr val="045239"/>
                </a:solidFill>
                <a:latin typeface="Amiri"/>
              </a:defRPr>
            </a:pPr>
            <a:r>
              <a:rPr dirty="0" err="1"/>
              <a:t>تفاصيل</a:t>
            </a:r>
            <a:r>
              <a:rPr dirty="0"/>
              <a:t> </a:t>
            </a:r>
            <a:r>
              <a:rPr dirty="0" err="1"/>
              <a:t>مهمة</a:t>
            </a:r>
            <a:r>
              <a:rPr dirty="0"/>
              <a:t> </a:t>
            </a:r>
            <a:r>
              <a:rPr dirty="0" err="1"/>
              <a:t>الكشف</a:t>
            </a:r>
            <a:r>
              <a:rPr dirty="0"/>
              <a:t> </a:t>
            </a:r>
            <a:r>
              <a:rPr dirty="0" err="1"/>
              <a:t>عن</a:t>
            </a:r>
            <a:r>
              <a:rPr dirty="0"/>
              <a:t> </a:t>
            </a:r>
            <a:r>
              <a:rPr dirty="0" err="1"/>
              <a:t>الاقتباسات</a:t>
            </a:r>
            <a:r>
              <a:rPr dirty="0"/>
              <a:t> (Subtask 1A)</a:t>
            </a:r>
          </a:p>
          <a:p>
            <a:pPr algn="r" rtl="1">
              <a:spcAft>
                <a:spcPts val="1200"/>
              </a:spcAft>
              <a:defRPr sz="1500" b="0">
                <a:solidFill>
                  <a:srgbClr val="0F172A"/>
                </a:solidFill>
                <a:latin typeface="Amiri"/>
              </a:defRPr>
            </a:pPr>
            <a:r>
              <a:rPr dirty="0"/>
              <a:t>✦ </a:t>
            </a:r>
            <a:r>
              <a:rPr dirty="0" err="1"/>
              <a:t>يعتمد</a:t>
            </a:r>
            <a:r>
              <a:rPr dirty="0"/>
              <a:t> </a:t>
            </a:r>
            <a:r>
              <a:rPr dirty="0" err="1"/>
              <a:t>المشروع</a:t>
            </a:r>
            <a:r>
              <a:rPr dirty="0"/>
              <a:t> </a:t>
            </a:r>
            <a:r>
              <a:rPr dirty="0" err="1"/>
              <a:t>على</a:t>
            </a:r>
            <a:r>
              <a:rPr dirty="0"/>
              <a:t> </a:t>
            </a:r>
            <a:r>
              <a:rPr dirty="0" err="1"/>
              <a:t>عمل</a:t>
            </a:r>
            <a:r>
              <a:rPr dirty="0"/>
              <a:t> </a:t>
            </a:r>
            <a:r>
              <a:rPr dirty="0" err="1"/>
              <a:t>بحثي</a:t>
            </a:r>
            <a:r>
              <a:rPr dirty="0"/>
              <a:t> </a:t>
            </a:r>
            <a:r>
              <a:rPr dirty="0" err="1"/>
              <a:t>سابق</a:t>
            </a:r>
            <a:r>
              <a:rPr dirty="0"/>
              <a:t> </a:t>
            </a:r>
            <a:r>
              <a:rPr dirty="0" err="1"/>
              <a:t>تم</a:t>
            </a:r>
            <a:r>
              <a:rPr dirty="0"/>
              <a:t> </a:t>
            </a:r>
            <a:r>
              <a:rPr dirty="0" err="1"/>
              <a:t>تطويره</a:t>
            </a:r>
            <a:r>
              <a:rPr dirty="0"/>
              <a:t> </a:t>
            </a:r>
            <a:r>
              <a:rPr dirty="0" err="1"/>
              <a:t>ضمن</a:t>
            </a:r>
            <a:r>
              <a:rPr dirty="0"/>
              <a:t> </a:t>
            </a:r>
            <a:r>
              <a:rPr dirty="0" err="1"/>
              <a:t>منافسة</a:t>
            </a:r>
            <a:r>
              <a:rPr dirty="0"/>
              <a:t> </a:t>
            </a:r>
            <a:r>
              <a:rPr dirty="0" err="1"/>
              <a:t>IslamicEval</a:t>
            </a:r>
            <a:r>
              <a:rPr dirty="0"/>
              <a:t> 2025 </a:t>
            </a:r>
            <a:r>
              <a:rPr dirty="0" err="1"/>
              <a:t>العالمية</a:t>
            </a:r>
            <a:r>
              <a:rPr dirty="0"/>
              <a:t>.</a:t>
            </a:r>
          </a:p>
          <a:p>
            <a:pPr algn="r" rtl="1">
              <a:spcAft>
                <a:spcPts val="1200"/>
              </a:spcAft>
              <a:defRPr sz="1500" b="0">
                <a:solidFill>
                  <a:srgbClr val="0F172A"/>
                </a:solidFill>
                <a:latin typeface="Amiri"/>
              </a:defRPr>
            </a:pPr>
            <a:r>
              <a:rPr dirty="0"/>
              <a:t>✦ </a:t>
            </a:r>
            <a:r>
              <a:rPr dirty="0" err="1"/>
              <a:t>تم</a:t>
            </a:r>
            <a:r>
              <a:rPr dirty="0"/>
              <a:t> </a:t>
            </a:r>
            <a:r>
              <a:rPr dirty="0" err="1"/>
              <a:t>تطوير</a:t>
            </a:r>
            <a:r>
              <a:rPr dirty="0"/>
              <a:t> </a:t>
            </a:r>
            <a:r>
              <a:rPr dirty="0" err="1"/>
              <a:t>نظام</a:t>
            </a:r>
            <a:r>
              <a:rPr dirty="0"/>
              <a:t> </a:t>
            </a:r>
            <a:r>
              <a:rPr dirty="0" err="1"/>
              <a:t>للكشف</a:t>
            </a:r>
            <a:r>
              <a:rPr dirty="0"/>
              <a:t> </a:t>
            </a:r>
            <a:r>
              <a:rPr dirty="0" err="1"/>
              <a:t>عن</a:t>
            </a:r>
            <a:r>
              <a:rPr dirty="0"/>
              <a:t> </a:t>
            </a:r>
            <a:r>
              <a:rPr dirty="0" err="1"/>
              <a:t>مواضع</a:t>
            </a:r>
            <a:r>
              <a:rPr dirty="0"/>
              <a:t> </a:t>
            </a:r>
            <a:r>
              <a:rPr dirty="0" err="1"/>
              <a:t>الآيات</a:t>
            </a:r>
            <a:r>
              <a:rPr dirty="0"/>
              <a:t> </a:t>
            </a:r>
            <a:r>
              <a:rPr dirty="0" err="1"/>
              <a:t>القرآنية</a:t>
            </a:r>
            <a:r>
              <a:rPr dirty="0"/>
              <a:t> </a:t>
            </a:r>
            <a:r>
              <a:rPr dirty="0" err="1"/>
              <a:t>والأحاديث</a:t>
            </a:r>
            <a:r>
              <a:rPr dirty="0"/>
              <a:t> </a:t>
            </a:r>
            <a:r>
              <a:rPr dirty="0" err="1"/>
              <a:t>النبوية</a:t>
            </a:r>
            <a:r>
              <a:rPr dirty="0"/>
              <a:t> </a:t>
            </a:r>
            <a:r>
              <a:rPr dirty="0" err="1"/>
              <a:t>داخل</a:t>
            </a:r>
            <a:r>
              <a:rPr dirty="0"/>
              <a:t> </a:t>
            </a:r>
            <a:r>
              <a:rPr dirty="0" err="1"/>
              <a:t>النصوص</a:t>
            </a:r>
            <a:r>
              <a:rPr dirty="0"/>
              <a:t> </a:t>
            </a:r>
            <a:r>
              <a:rPr dirty="0" err="1"/>
              <a:t>باستعمال</a:t>
            </a:r>
            <a:r>
              <a:rPr dirty="0"/>
              <a:t> </a:t>
            </a:r>
            <a:r>
              <a:rPr dirty="0" err="1"/>
              <a:t>تصنيف</a:t>
            </a:r>
            <a:r>
              <a:rPr dirty="0"/>
              <a:t> </a:t>
            </a:r>
            <a:r>
              <a:rPr dirty="0" err="1"/>
              <a:t>تسلسلي</a:t>
            </a:r>
            <a:r>
              <a:rPr dirty="0"/>
              <a:t> </a:t>
            </a:r>
            <a:r>
              <a:rPr dirty="0" err="1"/>
              <a:t>على</a:t>
            </a:r>
            <a:r>
              <a:rPr dirty="0"/>
              <a:t> </a:t>
            </a:r>
            <a:r>
              <a:rPr dirty="0" err="1"/>
              <a:t>مستوى</a:t>
            </a:r>
            <a:r>
              <a:rPr dirty="0"/>
              <a:t> </a:t>
            </a:r>
            <a:r>
              <a:rPr dirty="0" err="1"/>
              <a:t>النص</a:t>
            </a:r>
            <a:r>
              <a:rPr dirty="0"/>
              <a:t>.</a:t>
            </a:r>
          </a:p>
          <a:p>
            <a:pPr algn="r" rtl="1">
              <a:spcAft>
                <a:spcPts val="1200"/>
              </a:spcAft>
              <a:defRPr sz="1500" b="0">
                <a:solidFill>
                  <a:srgbClr val="0F172A"/>
                </a:solidFill>
                <a:latin typeface="Amiri"/>
              </a:defRPr>
            </a:pPr>
            <a:r>
              <a:rPr dirty="0"/>
              <a:t>✦ </a:t>
            </a:r>
            <a:r>
              <a:rPr dirty="0" err="1"/>
              <a:t>تحديد</a:t>
            </a:r>
            <a:r>
              <a:rPr dirty="0"/>
              <a:t> </a:t>
            </a:r>
            <a:r>
              <a:rPr dirty="0" err="1"/>
              <a:t>حدود</a:t>
            </a:r>
            <a:r>
              <a:rPr dirty="0"/>
              <a:t> </a:t>
            </a:r>
            <a:r>
              <a:rPr dirty="0" err="1"/>
              <a:t>الاقتباس</a:t>
            </a:r>
            <a:r>
              <a:rPr dirty="0"/>
              <a:t> </a:t>
            </a:r>
            <a:r>
              <a:rPr dirty="0" err="1"/>
              <a:t>بدقة</a:t>
            </a:r>
            <a:r>
              <a:rPr dirty="0"/>
              <a:t> </a:t>
            </a:r>
            <a:r>
              <a:rPr dirty="0" err="1"/>
              <a:t>وتصنيف</a:t>
            </a:r>
            <a:r>
              <a:rPr dirty="0"/>
              <a:t> </a:t>
            </a:r>
            <a:r>
              <a:rPr dirty="0" err="1"/>
              <a:t>المقطع</a:t>
            </a:r>
            <a:r>
              <a:rPr dirty="0"/>
              <a:t> </a:t>
            </a:r>
            <a:r>
              <a:rPr dirty="0" err="1"/>
              <a:t>إلى</a:t>
            </a:r>
            <a:r>
              <a:rPr dirty="0"/>
              <a:t> </a:t>
            </a:r>
            <a:r>
              <a:rPr lang="ar-EG" dirty="0"/>
              <a:t>(</a:t>
            </a:r>
            <a:r>
              <a:rPr dirty="0" err="1"/>
              <a:t>آية</a:t>
            </a:r>
            <a:r>
              <a:rPr dirty="0"/>
              <a:t> </a:t>
            </a:r>
            <a:r>
              <a:rPr dirty="0" err="1"/>
              <a:t>قرآنية</a:t>
            </a:r>
            <a:r>
              <a:rPr dirty="0"/>
              <a:t> </a:t>
            </a:r>
            <a:r>
              <a:rPr dirty="0" err="1"/>
              <a:t>أو</a:t>
            </a:r>
            <a:r>
              <a:rPr dirty="0"/>
              <a:t> </a:t>
            </a:r>
            <a:r>
              <a:rPr dirty="0" err="1"/>
              <a:t>حديث</a:t>
            </a:r>
            <a:r>
              <a:rPr dirty="0"/>
              <a:t> </a:t>
            </a:r>
            <a:r>
              <a:rPr dirty="0" err="1"/>
              <a:t>نبوي</a:t>
            </a:r>
            <a:r>
              <a:rPr lang="ar-EG" dirty="0"/>
              <a:t>).</a:t>
            </a:r>
          </a:p>
          <a:p>
            <a:pPr algn="r" rtl="1">
              <a:spcAft>
                <a:spcPts val="1200"/>
              </a:spcAft>
              <a:defRPr sz="1500" b="0">
                <a:solidFill>
                  <a:srgbClr val="0F172A"/>
                </a:solidFill>
                <a:latin typeface="Amiri"/>
              </a:defRPr>
            </a:pPr>
            <a:r>
              <a:rPr dirty="0"/>
              <a:t>✦ </a:t>
            </a:r>
            <a:r>
              <a:rPr dirty="0" err="1"/>
              <a:t>معالجة</a:t>
            </a:r>
            <a:r>
              <a:rPr dirty="0"/>
              <a:t> </a:t>
            </a:r>
            <a:r>
              <a:rPr dirty="0" err="1"/>
              <a:t>النصوص</a:t>
            </a:r>
            <a:r>
              <a:rPr dirty="0"/>
              <a:t> </a:t>
            </a:r>
            <a:r>
              <a:rPr dirty="0" err="1"/>
              <a:t>الطويلة</a:t>
            </a:r>
            <a:r>
              <a:rPr dirty="0"/>
              <a:t> </a:t>
            </a:r>
            <a:r>
              <a:rPr dirty="0" err="1"/>
              <a:t>بفاعلية</a:t>
            </a:r>
            <a:r>
              <a:rPr dirty="0"/>
              <a:t> </a:t>
            </a:r>
            <a:r>
              <a:rPr dirty="0" err="1"/>
              <a:t>باستخدام</a:t>
            </a:r>
            <a:r>
              <a:rPr dirty="0"/>
              <a:t> </a:t>
            </a:r>
            <a:r>
              <a:rPr dirty="0" err="1"/>
              <a:t>تقنية</a:t>
            </a:r>
            <a:r>
              <a:rPr dirty="0"/>
              <a:t> </a:t>
            </a:r>
            <a:r>
              <a:rPr dirty="0" err="1"/>
              <a:t>النوافذ</a:t>
            </a:r>
            <a:r>
              <a:rPr dirty="0"/>
              <a:t> </a:t>
            </a:r>
            <a:r>
              <a:rPr dirty="0" err="1"/>
              <a:t>المتداخلة</a:t>
            </a:r>
            <a:endParaRPr lang="ar-EG" dirty="0"/>
          </a:p>
          <a:p>
            <a:pPr algn="r" rtl="1">
              <a:spcAft>
                <a:spcPts val="1200"/>
              </a:spcAft>
              <a:defRPr sz="1500" b="0">
                <a:solidFill>
                  <a:srgbClr val="0F172A"/>
                </a:solidFill>
                <a:latin typeface="Amiri"/>
              </a:defRPr>
            </a:pPr>
            <a:r>
              <a:rPr dirty="0"/>
              <a:t> (Overlapping Windows).</a:t>
            </a:r>
          </a:p>
          <a:p>
            <a:pPr algn="r" rtl="1">
              <a:spcAft>
                <a:spcPts val="1200"/>
              </a:spcAft>
              <a:defRPr sz="1500" b="0">
                <a:solidFill>
                  <a:srgbClr val="0F172A"/>
                </a:solidFill>
                <a:latin typeface="Amiri"/>
              </a:defRPr>
            </a:pPr>
            <a:r>
              <a:rPr dirty="0"/>
              <a:t>✦ </a:t>
            </a:r>
            <a:r>
              <a:rPr dirty="0" err="1"/>
              <a:t>استخدام</a:t>
            </a:r>
            <a:r>
              <a:rPr dirty="0"/>
              <a:t> </a:t>
            </a:r>
            <a:r>
              <a:rPr dirty="0" err="1"/>
              <a:t>نماذج</a:t>
            </a:r>
            <a:r>
              <a:rPr dirty="0"/>
              <a:t> </a:t>
            </a:r>
            <a:r>
              <a:rPr dirty="0" err="1"/>
              <a:t>عربية</a:t>
            </a:r>
            <a:r>
              <a:rPr dirty="0"/>
              <a:t> </a:t>
            </a:r>
            <a:r>
              <a:rPr dirty="0" err="1"/>
              <a:t>متقدمة</a:t>
            </a:r>
            <a:r>
              <a:rPr dirty="0"/>
              <a:t> </a:t>
            </a:r>
            <a:r>
              <a:rPr dirty="0" err="1"/>
              <a:t>وتدريبها</a:t>
            </a:r>
            <a:r>
              <a:rPr dirty="0"/>
              <a:t> </a:t>
            </a:r>
            <a:r>
              <a:rPr dirty="0" err="1"/>
              <a:t>مثل</a:t>
            </a:r>
            <a:r>
              <a:rPr dirty="0"/>
              <a:t> AraBERT </a:t>
            </a:r>
            <a:r>
              <a:rPr lang="ar-EG" dirty="0"/>
              <a:t> </a:t>
            </a:r>
            <a:r>
              <a:rPr dirty="0"/>
              <a:t>و </a:t>
            </a:r>
            <a:r>
              <a:rPr dirty="0" err="1"/>
              <a:t>CAMeLBERT</a:t>
            </a:r>
            <a:r>
              <a:rPr dirty="0"/>
              <a:t>-MSA </a:t>
            </a:r>
            <a:r>
              <a:rPr dirty="0" err="1"/>
              <a:t>وتحويل</a:t>
            </a:r>
            <a:r>
              <a:rPr dirty="0"/>
              <a:t> </a:t>
            </a:r>
            <a:r>
              <a:rPr dirty="0" err="1"/>
              <a:t>نتائجها</a:t>
            </a:r>
            <a:r>
              <a:rPr dirty="0"/>
              <a:t> </a:t>
            </a:r>
            <a:r>
              <a:rPr dirty="0" err="1"/>
              <a:t>إلى</a:t>
            </a:r>
            <a:r>
              <a:rPr dirty="0"/>
              <a:t> </a:t>
            </a:r>
            <a:r>
              <a:rPr dirty="0" err="1"/>
              <a:t>حدود</a:t>
            </a:r>
            <a:r>
              <a:rPr dirty="0"/>
              <a:t> </a:t>
            </a:r>
            <a:r>
              <a:rPr dirty="0" err="1"/>
              <a:t>نصية</a:t>
            </a:r>
            <a:r>
              <a:rPr dirty="0"/>
              <a:t> </a:t>
            </a:r>
            <a:r>
              <a:rPr dirty="0" err="1"/>
              <a:t>قابلة</a:t>
            </a:r>
            <a:r>
              <a:rPr dirty="0"/>
              <a:t> </a:t>
            </a:r>
            <a:r>
              <a:rPr dirty="0" err="1"/>
              <a:t>للاستخدام</a:t>
            </a:r>
            <a:r>
              <a:rPr dirty="0"/>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lgn="r" rtl="1">
              <a:spcAft>
                <a:spcPts val="200"/>
              </a:spcAft>
              <a:defRPr sz="1300" b="1">
                <a:solidFill>
                  <a:srgbClr val="C58C27"/>
                </a:solidFill>
                <a:latin typeface="Amiri"/>
              </a:defRPr>
            </a:pPr>
            <a:r>
              <a:t>تحدي الذكاء الاصطناعي في خدمة المحتوى الإسلامي 2026</a:t>
            </a:r>
          </a:p>
          <a:p>
            <a:pPr algn="r" rtl="1">
              <a:defRPr sz="2400" b="1">
                <a:solidFill>
                  <a:srgbClr val="045239"/>
                </a:solidFill>
                <a:latin typeface="Amiri"/>
              </a:defRPr>
            </a:pPr>
            <a:r>
              <a:t>نتائج خط الأساس البحثي السابق (Subtask 1B &amp; 1C)</a:t>
            </a:r>
          </a:p>
        </p:txBody>
      </p:sp>
      <p:sp>
        <p:nvSpPr>
          <p:cNvPr id="3" name="Rounded Rectangle 2"/>
          <p:cNvSpPr/>
          <p:nvPr/>
        </p:nvSpPr>
        <p:spPr>
          <a:xfrm>
            <a:off x="6217920" y="1463040"/>
            <a:ext cx="521208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t"/>
          <a:lstStyle/>
          <a:p>
            <a:pPr algn="r" rtl="1">
              <a:spcAft>
                <a:spcPts val="1200"/>
              </a:spcAft>
              <a:defRPr sz="2200" b="1">
                <a:solidFill>
                  <a:srgbClr val="045239"/>
                </a:solidFill>
                <a:latin typeface="Amiri"/>
              </a:defRPr>
            </a:pPr>
            <a:r>
              <a:t>التحقق — Subtask 1B</a:t>
            </a:r>
          </a:p>
          <a:p>
            <a:pPr algn="r" rtl="1">
              <a:spcAft>
                <a:spcPts val="1400"/>
              </a:spcAft>
              <a:defRPr sz="2800" b="1">
                <a:solidFill>
                  <a:srgbClr val="C58C27"/>
                </a:solidFill>
                <a:latin typeface="Amiri"/>
              </a:defRPr>
            </a:pPr>
            <a:r>
              <a:t>93.12% Accuracy</a:t>
            </a:r>
          </a:p>
          <a:p>
            <a:pPr algn="r" rtl="1">
              <a:defRPr sz="1500" b="0">
                <a:solidFill>
                  <a:srgbClr val="0F172A"/>
                </a:solidFill>
                <a:latin typeface="Amiri"/>
              </a:defRPr>
            </a:pPr>
            <a:r>
              <a:t>تم تطوير نظام للتحقق من الاقتباسات باستخدام استرجاع المرشحين من مجموعات القرآن الكريم والحديث النبوي الشريف، ثم مقارنة الاقتباس بالمصادر باستخدام عدة مؤشرات نصية ومقاييس تشابه دقيقة.</a:t>
            </a:r>
          </a:p>
        </p:txBody>
      </p:sp>
      <p:sp>
        <p:nvSpPr>
          <p:cNvPr id="4" name="Rounded Rectangle 3"/>
          <p:cNvSpPr/>
          <p:nvPr/>
        </p:nvSpPr>
        <p:spPr>
          <a:xfrm>
            <a:off x="731520" y="1463040"/>
            <a:ext cx="521208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t"/>
          <a:lstStyle/>
          <a:p>
            <a:pPr algn="r" rtl="1">
              <a:spcAft>
                <a:spcPts val="1200"/>
              </a:spcAft>
              <a:defRPr sz="2200" b="1">
                <a:solidFill>
                  <a:srgbClr val="045239"/>
                </a:solidFill>
                <a:latin typeface="Amiri"/>
              </a:defRPr>
            </a:pPr>
            <a:r>
              <a:rPr dirty="0" err="1"/>
              <a:t>التصحيح</a:t>
            </a:r>
            <a:r>
              <a:rPr dirty="0"/>
              <a:t> — Subtask 1C</a:t>
            </a:r>
          </a:p>
          <a:p>
            <a:pPr algn="r" rtl="1">
              <a:spcAft>
                <a:spcPts val="1400"/>
              </a:spcAft>
              <a:defRPr sz="2800" b="1">
                <a:solidFill>
                  <a:srgbClr val="C58C27"/>
                </a:solidFill>
                <a:latin typeface="Amiri"/>
              </a:defRPr>
            </a:pPr>
            <a:r>
              <a:rPr dirty="0"/>
              <a:t>70.39% Accuracy</a:t>
            </a:r>
          </a:p>
          <a:p>
            <a:pPr algn="r" rtl="1">
              <a:defRPr sz="1500" b="0">
                <a:solidFill>
                  <a:srgbClr val="0F172A"/>
                </a:solidFill>
                <a:latin typeface="Amiri"/>
              </a:defRPr>
            </a:pPr>
            <a:r>
              <a:rPr dirty="0" err="1"/>
              <a:t>تم</a:t>
            </a:r>
            <a:r>
              <a:rPr dirty="0"/>
              <a:t> </a:t>
            </a:r>
            <a:r>
              <a:rPr dirty="0" err="1"/>
              <a:t>تطوير</a:t>
            </a:r>
            <a:r>
              <a:rPr dirty="0"/>
              <a:t> </a:t>
            </a:r>
            <a:r>
              <a:rPr dirty="0" err="1"/>
              <a:t>نظام</a:t>
            </a:r>
            <a:r>
              <a:rPr dirty="0"/>
              <a:t> </a:t>
            </a:r>
            <a:r>
              <a:rPr dirty="0" err="1"/>
              <a:t>لاسترجاع</a:t>
            </a:r>
            <a:r>
              <a:rPr dirty="0"/>
              <a:t> </a:t>
            </a:r>
            <a:r>
              <a:rPr dirty="0" err="1"/>
              <a:t>المصدر</a:t>
            </a:r>
            <a:r>
              <a:rPr dirty="0"/>
              <a:t> </a:t>
            </a:r>
            <a:r>
              <a:rPr dirty="0" err="1"/>
              <a:t>الأكثر</a:t>
            </a:r>
            <a:r>
              <a:rPr dirty="0"/>
              <a:t> </a:t>
            </a:r>
            <a:r>
              <a:rPr dirty="0" err="1"/>
              <a:t>احتمالًا</a:t>
            </a:r>
            <a:r>
              <a:rPr dirty="0"/>
              <a:t> </a:t>
            </a:r>
            <a:r>
              <a:rPr dirty="0" err="1"/>
              <a:t>للاقتباس</a:t>
            </a:r>
            <a:r>
              <a:rPr dirty="0"/>
              <a:t> </a:t>
            </a:r>
            <a:r>
              <a:rPr dirty="0" err="1"/>
              <a:t>غير</a:t>
            </a:r>
            <a:r>
              <a:rPr dirty="0"/>
              <a:t> </a:t>
            </a:r>
            <a:r>
              <a:rPr dirty="0" err="1"/>
              <a:t>الصحيح</a:t>
            </a:r>
            <a:r>
              <a:rPr dirty="0"/>
              <a:t> </a:t>
            </a:r>
            <a:r>
              <a:rPr dirty="0" err="1"/>
              <a:t>واقتراح</a:t>
            </a:r>
            <a:r>
              <a:rPr dirty="0"/>
              <a:t> </a:t>
            </a:r>
            <a:r>
              <a:rPr dirty="0" err="1"/>
              <a:t>النص</a:t>
            </a:r>
            <a:r>
              <a:rPr dirty="0"/>
              <a:t> </a:t>
            </a:r>
            <a:r>
              <a:rPr dirty="0" err="1"/>
              <a:t>الموافق</a:t>
            </a:r>
            <a:r>
              <a:rPr dirty="0"/>
              <a:t> </a:t>
            </a:r>
            <a:r>
              <a:rPr dirty="0" err="1"/>
              <a:t>له</a:t>
            </a:r>
            <a:r>
              <a:rPr dirty="0"/>
              <a:t>، </a:t>
            </a:r>
            <a:r>
              <a:rPr dirty="0" err="1"/>
              <a:t>مع</a:t>
            </a:r>
            <a:r>
              <a:rPr dirty="0"/>
              <a:t> </a:t>
            </a:r>
            <a:r>
              <a:rPr dirty="0" err="1"/>
              <a:t>استخدام</a:t>
            </a:r>
            <a:r>
              <a:rPr dirty="0"/>
              <a:t> </a:t>
            </a:r>
            <a:r>
              <a:rPr dirty="0" err="1"/>
              <a:t>المطابقة</a:t>
            </a:r>
            <a:r>
              <a:rPr dirty="0"/>
              <a:t> </a:t>
            </a:r>
            <a:r>
              <a:rPr dirty="0" err="1"/>
              <a:t>المرنة</a:t>
            </a:r>
            <a:r>
              <a:rPr dirty="0"/>
              <a:t> </a:t>
            </a:r>
            <a:r>
              <a:rPr dirty="0" err="1"/>
              <a:t>وتحليل</a:t>
            </a:r>
            <a:r>
              <a:rPr dirty="0"/>
              <a:t> </a:t>
            </a:r>
            <a:r>
              <a:rPr dirty="0" err="1"/>
              <a:t>حالات</a:t>
            </a:r>
            <a:r>
              <a:rPr dirty="0"/>
              <a:t> </a:t>
            </a:r>
            <a:r>
              <a:rPr dirty="0" err="1"/>
              <a:t>الإخفاق</a:t>
            </a:r>
            <a:r>
              <a:rPr dirty="0"/>
              <a:t>.</a:t>
            </a:r>
            <a:br>
              <a:rPr dirty="0"/>
            </a:br>
            <a:br>
              <a:rPr dirty="0"/>
            </a:br>
            <a:r>
              <a:rPr dirty="0" err="1"/>
              <a:t>تُستخدم</a:t>
            </a:r>
            <a:r>
              <a:rPr dirty="0"/>
              <a:t> </a:t>
            </a:r>
            <a:r>
              <a:rPr dirty="0" err="1"/>
              <a:t>هذه</a:t>
            </a:r>
            <a:r>
              <a:rPr dirty="0"/>
              <a:t> </a:t>
            </a:r>
            <a:r>
              <a:rPr dirty="0" err="1"/>
              <a:t>النتائج</a:t>
            </a:r>
            <a:r>
              <a:rPr dirty="0"/>
              <a:t> </a:t>
            </a:r>
            <a:r>
              <a:rPr dirty="0" err="1"/>
              <a:t>باعتبارها</a:t>
            </a:r>
            <a:r>
              <a:rPr dirty="0"/>
              <a:t> </a:t>
            </a:r>
            <a:r>
              <a:rPr dirty="0" err="1"/>
              <a:t>خط</a:t>
            </a:r>
            <a:r>
              <a:rPr dirty="0"/>
              <a:t> </a:t>
            </a:r>
            <a:r>
              <a:rPr dirty="0" err="1"/>
              <a:t>أساس</a:t>
            </a:r>
            <a:r>
              <a:rPr dirty="0"/>
              <a:t> </a:t>
            </a:r>
            <a:r>
              <a:rPr dirty="0" err="1"/>
              <a:t>بحثيًا</a:t>
            </a:r>
            <a:r>
              <a:rPr dirty="0"/>
              <a:t> </a:t>
            </a:r>
            <a:r>
              <a:rPr dirty="0" err="1"/>
              <a:t>سابقًا</a:t>
            </a:r>
            <a:r>
              <a:rPr dirty="0"/>
              <a:t> (Baseline) </a:t>
            </a:r>
            <a:r>
              <a:rPr dirty="0" err="1"/>
              <a:t>للمشروع</a:t>
            </a:r>
            <a:r>
              <a:rPr dirty="0"/>
              <a:t>، </a:t>
            </a:r>
            <a:r>
              <a:rPr dirty="0" err="1"/>
              <a:t>وليس</a:t>
            </a:r>
            <a:r>
              <a:rPr dirty="0"/>
              <a:t> </a:t>
            </a:r>
            <a:r>
              <a:rPr dirty="0" err="1"/>
              <a:t>باعتبارها</a:t>
            </a:r>
            <a:r>
              <a:rPr dirty="0"/>
              <a:t> </a:t>
            </a:r>
            <a:r>
              <a:rPr dirty="0" err="1"/>
              <a:t>نتائج</a:t>
            </a:r>
            <a:r>
              <a:rPr dirty="0"/>
              <a:t> </a:t>
            </a:r>
            <a:r>
              <a:rPr dirty="0" err="1"/>
              <a:t>تم</a:t>
            </a:r>
            <a:r>
              <a:rPr dirty="0"/>
              <a:t> </a:t>
            </a:r>
            <a:r>
              <a:rPr dirty="0" err="1"/>
              <a:t>تحقيقها</a:t>
            </a:r>
            <a:r>
              <a:rPr dirty="0"/>
              <a:t> </a:t>
            </a:r>
            <a:r>
              <a:rPr dirty="0" err="1"/>
              <a:t>خلال</a:t>
            </a:r>
            <a:r>
              <a:rPr dirty="0"/>
              <a:t> </a:t>
            </a:r>
            <a:r>
              <a:rPr dirty="0" err="1"/>
              <a:t>فترة</a:t>
            </a:r>
            <a:r>
              <a:rPr dirty="0"/>
              <a:t> </a:t>
            </a:r>
            <a:r>
              <a:rPr dirty="0" err="1"/>
              <a:t>التحدي</a:t>
            </a:r>
            <a:r>
              <a:rPr lang="ar-EG" dirty="0"/>
              <a:t>.</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595035"/>
          </a:xfrm>
          <a:prstGeom prst="rect">
            <a:avLst/>
          </a:prstGeom>
          <a:noFill/>
        </p:spPr>
        <p:txBody>
          <a:bodyPr wrap="square" lIns="0" tIns="0" rIns="0" bIns="0">
            <a:spAutoFit/>
          </a:bodyPr>
          <a:lstStyle/>
          <a:p>
            <a:pPr algn="r" rtl="1">
              <a:spcAft>
                <a:spcPts val="200"/>
              </a:spcAft>
              <a:defRPr sz="1300" b="1">
                <a:solidFill>
                  <a:srgbClr val="C58C27"/>
                </a:solidFill>
                <a:latin typeface="Amiri"/>
              </a:defRPr>
            </a:pPr>
            <a:r>
              <a:rPr dirty="0" err="1"/>
              <a:t>تحدي</a:t>
            </a:r>
            <a:r>
              <a:rPr dirty="0"/>
              <a:t> </a:t>
            </a:r>
            <a:r>
              <a:rPr dirty="0" err="1"/>
              <a:t>الذكاء</a:t>
            </a:r>
            <a:r>
              <a:rPr dirty="0"/>
              <a:t> </a:t>
            </a:r>
            <a:r>
              <a:rPr dirty="0" err="1"/>
              <a:t>الاصطناعي</a:t>
            </a:r>
            <a:r>
              <a:rPr dirty="0"/>
              <a:t> </a:t>
            </a:r>
            <a:r>
              <a:rPr dirty="0" err="1"/>
              <a:t>في</a:t>
            </a:r>
            <a:r>
              <a:rPr dirty="0"/>
              <a:t> </a:t>
            </a:r>
            <a:r>
              <a:rPr dirty="0" err="1"/>
              <a:t>خدمة</a:t>
            </a:r>
            <a:r>
              <a:rPr dirty="0"/>
              <a:t> </a:t>
            </a:r>
            <a:r>
              <a:rPr dirty="0" err="1"/>
              <a:t>المحتوى</a:t>
            </a:r>
            <a:r>
              <a:rPr dirty="0"/>
              <a:t> </a:t>
            </a:r>
            <a:r>
              <a:rPr dirty="0" err="1"/>
              <a:t>الإسلامي</a:t>
            </a:r>
            <a:r>
              <a:rPr dirty="0"/>
              <a:t> 2026</a:t>
            </a:r>
          </a:p>
          <a:p>
            <a:pPr algn="r" rtl="1">
              <a:defRPr sz="2400" b="1">
                <a:solidFill>
                  <a:srgbClr val="045239"/>
                </a:solidFill>
                <a:latin typeface="Amiri"/>
              </a:defRPr>
            </a:pPr>
            <a:r>
              <a:rPr dirty="0" err="1"/>
              <a:t>ما</a:t>
            </a:r>
            <a:r>
              <a:rPr dirty="0"/>
              <a:t> </a:t>
            </a:r>
            <a:r>
              <a:rPr dirty="0" err="1"/>
              <a:t>الجديد</a:t>
            </a:r>
            <a:r>
              <a:rPr dirty="0"/>
              <a:t> </a:t>
            </a:r>
            <a:r>
              <a:rPr dirty="0" err="1"/>
              <a:t>في</a:t>
            </a:r>
            <a:r>
              <a:rPr dirty="0"/>
              <a:t> </a:t>
            </a:r>
            <a:r>
              <a:rPr dirty="0" err="1"/>
              <a:t>المشروع</a:t>
            </a:r>
            <a:r>
              <a:rPr dirty="0"/>
              <a:t>؟ </a:t>
            </a:r>
            <a:r>
              <a:rPr lang="ar-EG" dirty="0"/>
              <a:t>(</a:t>
            </a:r>
            <a:r>
              <a:rPr dirty="0" err="1"/>
              <a:t>من</a:t>
            </a:r>
            <a:r>
              <a:rPr dirty="0"/>
              <a:t> </a:t>
            </a:r>
            <a:r>
              <a:rPr dirty="0" err="1"/>
              <a:t>البحث</a:t>
            </a:r>
            <a:r>
              <a:rPr dirty="0"/>
              <a:t> </a:t>
            </a:r>
            <a:r>
              <a:rPr dirty="0" err="1"/>
              <a:t>إلى</a:t>
            </a:r>
            <a:r>
              <a:rPr dirty="0"/>
              <a:t> </a:t>
            </a:r>
            <a:r>
              <a:rPr dirty="0" err="1"/>
              <a:t>المنتج</a:t>
            </a:r>
            <a:r>
              <a:rPr dirty="0"/>
              <a:t> </a:t>
            </a:r>
            <a:r>
              <a:rPr dirty="0" err="1"/>
              <a:t>المتكامل</a:t>
            </a:r>
            <a:r>
              <a:rPr lang="ar-EG" dirty="0"/>
              <a:t>)</a:t>
            </a:r>
            <a:endParaRPr dirty="0"/>
          </a:p>
        </p:txBody>
      </p:sp>
      <p:sp>
        <p:nvSpPr>
          <p:cNvPr id="3" name="Rounded Rectangle 2"/>
          <p:cNvSpPr/>
          <p:nvPr/>
        </p:nvSpPr>
        <p:spPr>
          <a:xfrm>
            <a:off x="731520" y="1677645"/>
            <a:ext cx="10728655" cy="3883401"/>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t"/>
          <a:lstStyle/>
          <a:p>
            <a:pPr algn="r" rtl="1">
              <a:spcAft>
                <a:spcPts val="1600"/>
              </a:spcAft>
              <a:defRPr sz="1800" b="1">
                <a:solidFill>
                  <a:srgbClr val="045239"/>
                </a:solidFill>
                <a:latin typeface="Amiri"/>
              </a:defRPr>
            </a:pPr>
            <a:r>
              <a:rPr dirty="0" err="1"/>
              <a:t>لا</a:t>
            </a:r>
            <a:r>
              <a:rPr dirty="0"/>
              <a:t> </a:t>
            </a:r>
            <a:r>
              <a:rPr dirty="0" err="1"/>
              <a:t>يقتصر</a:t>
            </a:r>
            <a:r>
              <a:rPr dirty="0"/>
              <a:t> </a:t>
            </a:r>
            <a:r>
              <a:rPr dirty="0" err="1"/>
              <a:t>المشروع</a:t>
            </a:r>
            <a:r>
              <a:rPr dirty="0"/>
              <a:t> </a:t>
            </a:r>
            <a:r>
              <a:rPr dirty="0" err="1"/>
              <a:t>على</a:t>
            </a:r>
            <a:r>
              <a:rPr dirty="0"/>
              <a:t> </a:t>
            </a:r>
            <a:r>
              <a:rPr dirty="0" err="1"/>
              <a:t>إعادة</a:t>
            </a:r>
            <a:r>
              <a:rPr dirty="0"/>
              <a:t> </a:t>
            </a:r>
            <a:r>
              <a:rPr dirty="0" err="1"/>
              <a:t>عرض</a:t>
            </a:r>
            <a:r>
              <a:rPr dirty="0"/>
              <a:t> </a:t>
            </a:r>
            <a:r>
              <a:rPr dirty="0" err="1"/>
              <a:t>المكونات</a:t>
            </a:r>
            <a:r>
              <a:rPr dirty="0"/>
              <a:t> </a:t>
            </a:r>
            <a:r>
              <a:rPr dirty="0" err="1"/>
              <a:t>البحثية</a:t>
            </a:r>
            <a:r>
              <a:rPr dirty="0"/>
              <a:t> </a:t>
            </a:r>
            <a:r>
              <a:rPr dirty="0" err="1"/>
              <a:t>السابقة</a:t>
            </a:r>
            <a:r>
              <a:rPr dirty="0"/>
              <a:t>، </a:t>
            </a:r>
            <a:r>
              <a:rPr dirty="0" err="1"/>
              <a:t>بل</a:t>
            </a:r>
            <a:r>
              <a:rPr dirty="0"/>
              <a:t> </a:t>
            </a:r>
            <a:r>
              <a:rPr dirty="0" err="1"/>
              <a:t>يهدف</a:t>
            </a:r>
            <a:r>
              <a:rPr dirty="0"/>
              <a:t> </a:t>
            </a:r>
            <a:r>
              <a:rPr dirty="0" err="1"/>
              <a:t>إلى</a:t>
            </a:r>
            <a:r>
              <a:rPr dirty="0"/>
              <a:t> </a:t>
            </a:r>
            <a:r>
              <a:rPr dirty="0" err="1"/>
              <a:t>تحويلها</a:t>
            </a:r>
            <a:r>
              <a:rPr dirty="0"/>
              <a:t> </a:t>
            </a:r>
            <a:r>
              <a:rPr dirty="0" err="1"/>
              <a:t>لمنتج</a:t>
            </a:r>
            <a:r>
              <a:rPr dirty="0"/>
              <a:t> </a:t>
            </a:r>
            <a:r>
              <a:rPr dirty="0" err="1"/>
              <a:t>رقمي</a:t>
            </a:r>
            <a:r>
              <a:rPr dirty="0"/>
              <a:t> </a:t>
            </a:r>
            <a:r>
              <a:rPr dirty="0" err="1"/>
              <a:t>واحد</a:t>
            </a:r>
            <a:r>
              <a:rPr dirty="0"/>
              <a:t> </a:t>
            </a:r>
            <a:r>
              <a:rPr dirty="0" err="1"/>
              <a:t>متكامل</a:t>
            </a:r>
            <a:r>
              <a:rPr dirty="0"/>
              <a:t>:</a:t>
            </a:r>
          </a:p>
          <a:p>
            <a:pPr algn="r" rtl="1">
              <a:spcAft>
                <a:spcPts val="1200"/>
              </a:spcAft>
              <a:defRPr sz="1500" b="0">
                <a:solidFill>
                  <a:srgbClr val="0F172A"/>
                </a:solidFill>
                <a:latin typeface="Amiri"/>
              </a:defRPr>
            </a:pPr>
            <a:r>
              <a:rPr dirty="0"/>
              <a:t>✦ </a:t>
            </a:r>
            <a:r>
              <a:rPr dirty="0" err="1"/>
              <a:t>دمج</a:t>
            </a:r>
            <a:r>
              <a:rPr dirty="0"/>
              <a:t> </a:t>
            </a:r>
            <a:r>
              <a:rPr dirty="0" err="1"/>
              <a:t>المكونات</a:t>
            </a:r>
            <a:r>
              <a:rPr dirty="0"/>
              <a:t>: </a:t>
            </a:r>
            <a:r>
              <a:rPr dirty="0" err="1"/>
              <a:t>تحويل</a:t>
            </a:r>
            <a:r>
              <a:rPr dirty="0"/>
              <a:t> </a:t>
            </a:r>
            <a:r>
              <a:rPr dirty="0" err="1"/>
              <a:t>أنظمة</a:t>
            </a:r>
            <a:r>
              <a:rPr dirty="0"/>
              <a:t> </a:t>
            </a:r>
            <a:r>
              <a:rPr dirty="0" err="1"/>
              <a:t>الكشف</a:t>
            </a:r>
            <a:r>
              <a:rPr dirty="0"/>
              <a:t> </a:t>
            </a:r>
            <a:r>
              <a:rPr dirty="0" err="1"/>
              <a:t>والتحقق</a:t>
            </a:r>
            <a:r>
              <a:rPr dirty="0"/>
              <a:t> </a:t>
            </a:r>
            <a:r>
              <a:rPr dirty="0" err="1"/>
              <a:t>والتصحيح</a:t>
            </a:r>
            <a:r>
              <a:rPr dirty="0"/>
              <a:t> </a:t>
            </a:r>
            <a:r>
              <a:rPr dirty="0" err="1"/>
              <a:t>المنفصلة</a:t>
            </a:r>
            <a:r>
              <a:rPr dirty="0"/>
              <a:t> </a:t>
            </a:r>
            <a:r>
              <a:rPr dirty="0" err="1"/>
              <a:t>إلى</a:t>
            </a:r>
            <a:r>
              <a:rPr dirty="0"/>
              <a:t> </a:t>
            </a:r>
            <a:r>
              <a:rPr dirty="0" err="1"/>
              <a:t>سير</a:t>
            </a:r>
            <a:r>
              <a:rPr dirty="0"/>
              <a:t> </a:t>
            </a:r>
            <a:r>
              <a:rPr dirty="0" err="1"/>
              <a:t>عمل</a:t>
            </a:r>
            <a:r>
              <a:rPr dirty="0"/>
              <a:t> </a:t>
            </a:r>
            <a:r>
              <a:rPr dirty="0" err="1"/>
              <a:t>تطبيقي</a:t>
            </a:r>
            <a:r>
              <a:rPr dirty="0"/>
              <a:t> </a:t>
            </a:r>
            <a:r>
              <a:rPr dirty="0" err="1"/>
              <a:t>موحد</a:t>
            </a:r>
            <a:r>
              <a:rPr dirty="0"/>
              <a:t> </a:t>
            </a:r>
            <a:r>
              <a:rPr dirty="0" err="1"/>
              <a:t>وسلس</a:t>
            </a:r>
            <a:r>
              <a:rPr dirty="0"/>
              <a:t>.</a:t>
            </a:r>
          </a:p>
          <a:p>
            <a:pPr algn="r" rtl="1">
              <a:spcAft>
                <a:spcPts val="1200"/>
              </a:spcAft>
              <a:defRPr sz="1500" b="0">
                <a:solidFill>
                  <a:srgbClr val="0F172A"/>
                </a:solidFill>
                <a:latin typeface="Amiri"/>
              </a:defRPr>
            </a:pPr>
            <a:r>
              <a:rPr dirty="0"/>
              <a:t>✦ </a:t>
            </a:r>
            <a:r>
              <a:rPr dirty="0" err="1"/>
              <a:t>واجهة</a:t>
            </a:r>
            <a:r>
              <a:rPr dirty="0"/>
              <a:t> </a:t>
            </a:r>
            <a:r>
              <a:rPr dirty="0" err="1"/>
              <a:t>استخدام</a:t>
            </a:r>
            <a:r>
              <a:rPr dirty="0"/>
              <a:t> </a:t>
            </a:r>
            <a:r>
              <a:rPr dirty="0" err="1"/>
              <a:t>عملية</a:t>
            </a:r>
            <a:r>
              <a:rPr dirty="0"/>
              <a:t>: </a:t>
            </a:r>
            <a:r>
              <a:rPr dirty="0" err="1"/>
              <a:t>تمكين</a:t>
            </a:r>
            <a:r>
              <a:rPr dirty="0"/>
              <a:t> </a:t>
            </a:r>
            <a:r>
              <a:rPr dirty="0" err="1"/>
              <a:t>المستخدم</a:t>
            </a:r>
            <a:r>
              <a:rPr dirty="0"/>
              <a:t> </a:t>
            </a:r>
            <a:r>
              <a:rPr dirty="0" err="1"/>
              <a:t>من</a:t>
            </a:r>
            <a:r>
              <a:rPr dirty="0"/>
              <a:t> </a:t>
            </a:r>
            <a:r>
              <a:rPr dirty="0" err="1"/>
              <a:t>إدخال</a:t>
            </a:r>
            <a:r>
              <a:rPr dirty="0"/>
              <a:t> </a:t>
            </a:r>
            <a:r>
              <a:rPr dirty="0" err="1"/>
              <a:t>النص</a:t>
            </a:r>
            <a:r>
              <a:rPr dirty="0"/>
              <a:t> </a:t>
            </a:r>
            <a:r>
              <a:rPr dirty="0" err="1"/>
              <a:t>ومشاهدة</a:t>
            </a:r>
            <a:r>
              <a:rPr dirty="0"/>
              <a:t> </a:t>
            </a:r>
            <a:r>
              <a:rPr dirty="0" err="1"/>
              <a:t>الاقتباسات</a:t>
            </a:r>
            <a:r>
              <a:rPr dirty="0"/>
              <a:t> </a:t>
            </a:r>
            <a:r>
              <a:rPr dirty="0" err="1"/>
              <a:t>المكتشفة</a:t>
            </a:r>
            <a:r>
              <a:rPr dirty="0"/>
              <a:t> </a:t>
            </a:r>
            <a:r>
              <a:rPr dirty="0" err="1"/>
              <a:t>ونتائج</a:t>
            </a:r>
            <a:r>
              <a:rPr dirty="0"/>
              <a:t> </a:t>
            </a:r>
            <a:r>
              <a:rPr dirty="0" err="1"/>
              <a:t>التحقق</a:t>
            </a:r>
            <a:r>
              <a:rPr dirty="0"/>
              <a:t> </a:t>
            </a:r>
            <a:r>
              <a:rPr dirty="0" err="1"/>
              <a:t>والتصحيح</a:t>
            </a:r>
            <a:r>
              <a:rPr dirty="0"/>
              <a:t> </a:t>
            </a:r>
            <a:r>
              <a:rPr dirty="0" err="1"/>
              <a:t>المقترح</a:t>
            </a:r>
            <a:r>
              <a:rPr dirty="0"/>
              <a:t> </a:t>
            </a:r>
            <a:r>
              <a:rPr dirty="0" err="1"/>
              <a:t>عبر</a:t>
            </a:r>
            <a:r>
              <a:rPr dirty="0"/>
              <a:t> </a:t>
            </a:r>
            <a:r>
              <a:rPr dirty="0" err="1"/>
              <a:t>واجهة</a:t>
            </a:r>
            <a:r>
              <a:rPr dirty="0"/>
              <a:t> </a:t>
            </a:r>
            <a:r>
              <a:rPr dirty="0" err="1"/>
              <a:t>واحدة</a:t>
            </a:r>
            <a:r>
              <a:rPr dirty="0"/>
              <a:t>.</a:t>
            </a:r>
          </a:p>
          <a:p>
            <a:pPr algn="r" rtl="1">
              <a:spcAft>
                <a:spcPts val="1200"/>
              </a:spcAft>
              <a:defRPr sz="1500" b="0">
                <a:solidFill>
                  <a:srgbClr val="0F172A"/>
                </a:solidFill>
                <a:latin typeface="Amiri"/>
              </a:defRPr>
            </a:pPr>
            <a:r>
              <a:rPr dirty="0"/>
              <a:t>✦ </a:t>
            </a:r>
            <a:r>
              <a:rPr dirty="0" err="1"/>
              <a:t>عرض</a:t>
            </a:r>
            <a:r>
              <a:rPr dirty="0"/>
              <a:t> </a:t>
            </a:r>
            <a:r>
              <a:rPr dirty="0" err="1"/>
              <a:t>الأدلة</a:t>
            </a:r>
            <a:r>
              <a:rPr dirty="0"/>
              <a:t> </a:t>
            </a:r>
            <a:r>
              <a:rPr dirty="0" err="1"/>
              <a:t>والشفافية</a:t>
            </a:r>
            <a:r>
              <a:rPr dirty="0"/>
              <a:t>: </a:t>
            </a:r>
            <a:r>
              <a:rPr dirty="0" err="1"/>
              <a:t>إظهار</a:t>
            </a:r>
            <a:r>
              <a:rPr dirty="0"/>
              <a:t> </a:t>
            </a:r>
            <a:r>
              <a:rPr dirty="0" err="1"/>
              <a:t>النص</a:t>
            </a:r>
            <a:r>
              <a:rPr dirty="0"/>
              <a:t> </a:t>
            </a:r>
            <a:r>
              <a:rPr dirty="0" err="1"/>
              <a:t>المصدر</a:t>
            </a:r>
            <a:r>
              <a:rPr dirty="0"/>
              <a:t> </a:t>
            </a:r>
            <a:r>
              <a:rPr dirty="0" err="1"/>
              <a:t>ونسبة</a:t>
            </a:r>
            <a:r>
              <a:rPr dirty="0"/>
              <a:t> </a:t>
            </a:r>
            <a:r>
              <a:rPr dirty="0" err="1"/>
              <a:t>المطابقة</a:t>
            </a:r>
            <a:r>
              <a:rPr dirty="0"/>
              <a:t> </a:t>
            </a:r>
            <a:r>
              <a:rPr dirty="0" err="1"/>
              <a:t>التي</a:t>
            </a:r>
            <a:r>
              <a:rPr dirty="0"/>
              <a:t> </a:t>
            </a:r>
            <a:r>
              <a:rPr dirty="0" err="1"/>
              <a:t>استند</a:t>
            </a:r>
            <a:r>
              <a:rPr dirty="0"/>
              <a:t> </a:t>
            </a:r>
            <a:r>
              <a:rPr dirty="0" err="1"/>
              <a:t>إليها</a:t>
            </a:r>
            <a:r>
              <a:rPr dirty="0"/>
              <a:t> </a:t>
            </a:r>
            <a:r>
              <a:rPr dirty="0" err="1"/>
              <a:t>النظام</a:t>
            </a:r>
            <a:r>
              <a:rPr dirty="0"/>
              <a:t> </a:t>
            </a:r>
            <a:r>
              <a:rPr dirty="0" err="1"/>
              <a:t>بدل</a:t>
            </a:r>
            <a:r>
              <a:rPr dirty="0"/>
              <a:t> </a:t>
            </a:r>
            <a:r>
              <a:rPr dirty="0" err="1"/>
              <a:t>الاكتفاء</a:t>
            </a:r>
            <a:r>
              <a:rPr dirty="0"/>
              <a:t> </a:t>
            </a:r>
            <a:r>
              <a:rPr dirty="0" err="1"/>
              <a:t>بنتيجة</a:t>
            </a:r>
            <a:r>
              <a:rPr dirty="0"/>
              <a:t> </a:t>
            </a:r>
            <a:r>
              <a:rPr dirty="0" err="1"/>
              <a:t>نهائية</a:t>
            </a:r>
            <a:r>
              <a:rPr dirty="0"/>
              <a:t> </a:t>
            </a:r>
            <a:r>
              <a:rPr dirty="0" err="1"/>
              <a:t>مجردة</a:t>
            </a:r>
            <a:r>
              <a:rPr dirty="0"/>
              <a:t>.</a:t>
            </a:r>
          </a:p>
          <a:p>
            <a:pPr algn="r" rtl="1">
              <a:spcAft>
                <a:spcPts val="1200"/>
              </a:spcAft>
              <a:defRPr sz="1500" b="0">
                <a:solidFill>
                  <a:srgbClr val="0F172A"/>
                </a:solidFill>
                <a:latin typeface="Amiri"/>
              </a:defRPr>
            </a:pPr>
            <a:r>
              <a:rPr dirty="0"/>
              <a:t>✦ </a:t>
            </a:r>
            <a:r>
              <a:rPr dirty="0" err="1"/>
              <a:t>التعامل</a:t>
            </a:r>
            <a:r>
              <a:rPr dirty="0"/>
              <a:t> </a:t>
            </a:r>
            <a:r>
              <a:rPr dirty="0" err="1"/>
              <a:t>مع</a:t>
            </a:r>
            <a:r>
              <a:rPr dirty="0"/>
              <a:t> </a:t>
            </a:r>
            <a:r>
              <a:rPr dirty="0" err="1"/>
              <a:t>عدم</a:t>
            </a:r>
            <a:r>
              <a:rPr dirty="0"/>
              <a:t> </a:t>
            </a:r>
            <a:r>
              <a:rPr dirty="0" err="1"/>
              <a:t>اليقين</a:t>
            </a:r>
            <a:r>
              <a:rPr dirty="0"/>
              <a:t>: </a:t>
            </a:r>
            <a:r>
              <a:rPr dirty="0" err="1"/>
              <a:t>عدم</a:t>
            </a:r>
            <a:r>
              <a:rPr dirty="0"/>
              <a:t> </a:t>
            </a:r>
            <a:r>
              <a:rPr dirty="0" err="1"/>
              <a:t>إجبار</a:t>
            </a:r>
            <a:r>
              <a:rPr dirty="0"/>
              <a:t> </a:t>
            </a:r>
            <a:r>
              <a:rPr dirty="0" err="1"/>
              <a:t>النظام</a:t>
            </a:r>
            <a:r>
              <a:rPr dirty="0"/>
              <a:t> </a:t>
            </a:r>
            <a:r>
              <a:rPr dirty="0" err="1"/>
              <a:t>على</a:t>
            </a:r>
            <a:r>
              <a:rPr dirty="0"/>
              <a:t> </a:t>
            </a:r>
            <a:r>
              <a:rPr dirty="0" err="1"/>
              <a:t>اتخاذ</a:t>
            </a:r>
            <a:r>
              <a:rPr dirty="0"/>
              <a:t> </a:t>
            </a:r>
            <a:r>
              <a:rPr dirty="0" err="1"/>
              <a:t>قرار</a:t>
            </a:r>
            <a:r>
              <a:rPr dirty="0"/>
              <a:t> </a:t>
            </a:r>
            <a:r>
              <a:rPr dirty="0" err="1"/>
              <a:t>آلي</a:t>
            </a:r>
            <a:r>
              <a:rPr dirty="0"/>
              <a:t> </a:t>
            </a:r>
            <a:r>
              <a:rPr dirty="0" err="1"/>
              <a:t>عندما</a:t>
            </a:r>
            <a:r>
              <a:rPr dirty="0"/>
              <a:t> </a:t>
            </a:r>
            <a:r>
              <a:rPr dirty="0" err="1"/>
              <a:t>تكون</a:t>
            </a:r>
            <a:r>
              <a:rPr dirty="0"/>
              <a:t> </a:t>
            </a:r>
            <a:r>
              <a:rPr dirty="0" err="1"/>
              <a:t>الأدلة</a:t>
            </a:r>
            <a:r>
              <a:rPr dirty="0"/>
              <a:t> </a:t>
            </a:r>
            <a:r>
              <a:rPr dirty="0" err="1"/>
              <a:t>غير</a:t>
            </a:r>
            <a:r>
              <a:rPr dirty="0"/>
              <a:t> </a:t>
            </a:r>
            <a:r>
              <a:rPr dirty="0" err="1"/>
              <a:t>كافية</a:t>
            </a:r>
            <a:r>
              <a:rPr dirty="0"/>
              <a:t>، </a:t>
            </a:r>
            <a:r>
              <a:rPr dirty="0" err="1"/>
              <a:t>وتقديم</a:t>
            </a:r>
            <a:r>
              <a:rPr dirty="0"/>
              <a:t> </a:t>
            </a:r>
            <a:r>
              <a:rPr dirty="0" err="1"/>
              <a:t>مسار</a:t>
            </a:r>
            <a:r>
              <a:rPr dirty="0"/>
              <a:t> </a:t>
            </a:r>
            <a:r>
              <a:rPr dirty="0" err="1"/>
              <a:t>واضح</a:t>
            </a:r>
            <a:r>
              <a:rPr dirty="0"/>
              <a:t> </a:t>
            </a:r>
            <a:r>
              <a:rPr dirty="0" err="1"/>
              <a:t>للمراجعة</a:t>
            </a:r>
            <a:r>
              <a:rPr dirty="0"/>
              <a:t> </a:t>
            </a:r>
            <a:r>
              <a:rPr dirty="0" err="1"/>
              <a:t>البشرية</a:t>
            </a:r>
            <a:r>
              <a:rPr dirty="0"/>
              <a:t>.</a:t>
            </a:r>
          </a:p>
          <a:p>
            <a:pPr algn="r" rtl="1">
              <a:spcAft>
                <a:spcPts val="1200"/>
              </a:spcAft>
              <a:defRPr sz="1500" b="0">
                <a:solidFill>
                  <a:srgbClr val="0F172A"/>
                </a:solidFill>
                <a:latin typeface="Amiri"/>
              </a:defRPr>
            </a:pPr>
            <a:r>
              <a:rPr dirty="0"/>
              <a:t>✦ </a:t>
            </a:r>
            <a:r>
              <a:rPr dirty="0" err="1"/>
              <a:t>تحليل</a:t>
            </a:r>
            <a:r>
              <a:rPr dirty="0"/>
              <a:t> </a:t>
            </a:r>
            <a:r>
              <a:rPr dirty="0" err="1"/>
              <a:t>الإخفاقات</a:t>
            </a:r>
            <a:r>
              <a:rPr dirty="0"/>
              <a:t> </a:t>
            </a:r>
            <a:r>
              <a:rPr dirty="0" err="1"/>
              <a:t>وتقييم</a:t>
            </a:r>
            <a:r>
              <a:rPr dirty="0"/>
              <a:t> </a:t>
            </a:r>
            <a:r>
              <a:rPr dirty="0" err="1"/>
              <a:t>المنتج</a:t>
            </a:r>
            <a:r>
              <a:rPr dirty="0"/>
              <a:t>: </a:t>
            </a:r>
            <a:r>
              <a:rPr dirty="0" err="1"/>
              <a:t>تحديد</a:t>
            </a:r>
            <a:r>
              <a:rPr dirty="0"/>
              <a:t> </a:t>
            </a:r>
            <a:r>
              <a:rPr dirty="0" err="1"/>
              <a:t>سبب</a:t>
            </a:r>
            <a:r>
              <a:rPr dirty="0"/>
              <a:t> </a:t>
            </a:r>
            <a:r>
              <a:rPr dirty="0" err="1"/>
              <a:t>فشل</a:t>
            </a:r>
            <a:r>
              <a:rPr dirty="0"/>
              <a:t> </a:t>
            </a:r>
            <a:r>
              <a:rPr dirty="0" err="1"/>
              <a:t>النظام</a:t>
            </a:r>
            <a:r>
              <a:rPr dirty="0"/>
              <a:t> </a:t>
            </a:r>
            <a:r>
              <a:rPr lang="ar-EG" dirty="0"/>
              <a:t>(</a:t>
            </a:r>
            <a:r>
              <a:rPr dirty="0" err="1"/>
              <a:t>مثل</a:t>
            </a:r>
            <a:r>
              <a:rPr dirty="0"/>
              <a:t> </a:t>
            </a:r>
            <a:r>
              <a:rPr dirty="0" err="1"/>
              <a:t>خطأ</a:t>
            </a:r>
            <a:r>
              <a:rPr dirty="0"/>
              <a:t> </a:t>
            </a:r>
            <a:r>
              <a:rPr dirty="0" err="1"/>
              <a:t>استرجاع</a:t>
            </a:r>
            <a:r>
              <a:rPr dirty="0"/>
              <a:t> </a:t>
            </a:r>
            <a:r>
              <a:rPr dirty="0" err="1"/>
              <a:t>أو</a:t>
            </a:r>
            <a:r>
              <a:rPr dirty="0"/>
              <a:t> </a:t>
            </a:r>
            <a:r>
              <a:rPr dirty="0" err="1"/>
              <a:t>حدود</a:t>
            </a:r>
            <a:r>
              <a:rPr dirty="0"/>
              <a:t> </a:t>
            </a:r>
            <a:r>
              <a:rPr dirty="0" err="1"/>
              <a:t>الاقتباس</a:t>
            </a:r>
            <a:r>
              <a:rPr lang="ar-EG" dirty="0"/>
              <a:t>)</a:t>
            </a:r>
            <a:r>
              <a:rPr dirty="0"/>
              <a:t> </a:t>
            </a:r>
            <a:r>
              <a:rPr dirty="0" err="1"/>
              <a:t>وإجراء</a:t>
            </a:r>
            <a:r>
              <a:rPr dirty="0"/>
              <a:t> </a:t>
            </a:r>
            <a:r>
              <a:rPr dirty="0" err="1"/>
              <a:t>قياس</a:t>
            </a:r>
            <a:r>
              <a:rPr dirty="0"/>
              <a:t> </a:t>
            </a:r>
            <a:r>
              <a:rPr dirty="0" err="1"/>
              <a:t>مستقل</a:t>
            </a:r>
            <a:r>
              <a:rPr dirty="0"/>
              <a:t> </a:t>
            </a:r>
            <a:r>
              <a:rPr dirty="0" err="1"/>
              <a:t>لأداء</a:t>
            </a:r>
            <a:r>
              <a:rPr dirty="0"/>
              <a:t> </a:t>
            </a:r>
            <a:r>
              <a:rPr dirty="0" err="1"/>
              <a:t>المنتج</a:t>
            </a:r>
            <a:r>
              <a:rPr dirty="0"/>
              <a:t> </a:t>
            </a:r>
            <a:r>
              <a:rPr dirty="0" err="1"/>
              <a:t>النهائي</a:t>
            </a:r>
            <a:r>
              <a:rPr dirty="0"/>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lgn="r" rtl="1">
              <a:spcAft>
                <a:spcPts val="200"/>
              </a:spcAft>
              <a:defRPr sz="1300" b="1">
                <a:solidFill>
                  <a:srgbClr val="C58C27"/>
                </a:solidFill>
                <a:latin typeface="Amiri"/>
              </a:defRPr>
            </a:pPr>
            <a:r>
              <a:t>تحدي الذكاء الاصطناعي في خدمة المحتوى الإسلامي 2026</a:t>
            </a:r>
          </a:p>
          <a:p>
            <a:pPr algn="r" rtl="1">
              <a:defRPr sz="2400" b="1">
                <a:solidFill>
                  <a:srgbClr val="045239"/>
                </a:solidFill>
                <a:latin typeface="Amiri"/>
              </a:defRPr>
            </a:pPr>
            <a:r>
              <a:t>الموثوقية والسلامة في التعامل مع النص الديني</a:t>
            </a:r>
          </a:p>
        </p:txBody>
      </p:sp>
      <p:sp>
        <p:nvSpPr>
          <p:cNvPr id="3" name="Rounded Rectangle 2"/>
          <p:cNvSpPr/>
          <p:nvPr/>
        </p:nvSpPr>
        <p:spPr>
          <a:xfrm>
            <a:off x="731520" y="1920240"/>
            <a:ext cx="3328416" cy="3678127"/>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t"/>
          <a:lstStyle/>
          <a:p>
            <a:pPr algn="r" rtl="1">
              <a:spcAft>
                <a:spcPts val="800"/>
              </a:spcAft>
              <a:defRPr sz="1800" b="1">
                <a:solidFill>
                  <a:srgbClr val="C58C27"/>
                </a:solidFill>
                <a:latin typeface="Amiri"/>
              </a:defRPr>
            </a:pPr>
            <a:r>
              <a:t>مبدأ 3</a:t>
            </a:r>
          </a:p>
          <a:p>
            <a:pPr algn="r" rtl="1">
              <a:spcAft>
                <a:spcPts val="1400"/>
              </a:spcAft>
              <a:defRPr sz="2000" b="1">
                <a:solidFill>
                  <a:srgbClr val="045239"/>
                </a:solidFill>
                <a:latin typeface="Amiri"/>
              </a:defRPr>
            </a:pPr>
            <a:r>
              <a:t>الامتناع عند الشك</a:t>
            </a:r>
          </a:p>
          <a:p>
            <a:pPr algn="r" rtl="1">
              <a:spcAft>
                <a:spcPts val="1000"/>
              </a:spcAft>
              <a:defRPr sz="1500" b="0">
                <a:solidFill>
                  <a:srgbClr val="0F172A"/>
                </a:solidFill>
                <a:latin typeface="Amiri"/>
              </a:defRPr>
            </a:pPr>
            <a:r>
              <a:t>عندما لا تكون الأدلة كافية أو حاسمة، يمتنع النظام تمامًا عن تقديم تصحيح آلي غير مدعوم، ويحيل الحالة بوضوح للمراجعة البشرية.</a:t>
            </a:r>
          </a:p>
        </p:txBody>
      </p:sp>
      <p:sp>
        <p:nvSpPr>
          <p:cNvPr id="4" name="Rounded Rectangle 3"/>
          <p:cNvSpPr/>
          <p:nvPr/>
        </p:nvSpPr>
        <p:spPr>
          <a:xfrm>
            <a:off x="4431639" y="1920240"/>
            <a:ext cx="3328416" cy="3678127"/>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t"/>
          <a:lstStyle/>
          <a:p>
            <a:pPr algn="r" rtl="1">
              <a:spcAft>
                <a:spcPts val="800"/>
              </a:spcAft>
              <a:defRPr sz="1800" b="1">
                <a:solidFill>
                  <a:srgbClr val="C58C27"/>
                </a:solidFill>
                <a:latin typeface="Amiri"/>
              </a:defRPr>
            </a:pPr>
            <a:r>
              <a:rPr dirty="0" err="1"/>
              <a:t>مبدأ</a:t>
            </a:r>
            <a:r>
              <a:rPr dirty="0"/>
              <a:t> 2</a:t>
            </a:r>
          </a:p>
          <a:p>
            <a:pPr algn="r" rtl="1">
              <a:spcAft>
                <a:spcPts val="1400"/>
              </a:spcAft>
              <a:defRPr sz="2000" b="1">
                <a:solidFill>
                  <a:srgbClr val="045239"/>
                </a:solidFill>
                <a:latin typeface="Amiri"/>
              </a:defRPr>
            </a:pPr>
            <a:r>
              <a:rPr dirty="0" err="1"/>
              <a:t>الدليل</a:t>
            </a:r>
            <a:r>
              <a:rPr dirty="0"/>
              <a:t> </a:t>
            </a:r>
            <a:r>
              <a:rPr dirty="0" err="1"/>
              <a:t>قابل</a:t>
            </a:r>
            <a:r>
              <a:rPr dirty="0"/>
              <a:t> </a:t>
            </a:r>
            <a:r>
              <a:rPr dirty="0" err="1"/>
              <a:t>للتتبع</a:t>
            </a:r>
            <a:endParaRPr dirty="0"/>
          </a:p>
          <a:p>
            <a:pPr algn="r" rtl="1">
              <a:spcAft>
                <a:spcPts val="1000"/>
              </a:spcAft>
              <a:defRPr sz="1500" b="0">
                <a:solidFill>
                  <a:srgbClr val="0F172A"/>
                </a:solidFill>
                <a:latin typeface="Amiri"/>
              </a:defRPr>
            </a:pPr>
            <a:r>
              <a:rPr dirty="0" err="1"/>
              <a:t>يتم</a:t>
            </a:r>
            <a:r>
              <a:rPr dirty="0"/>
              <a:t> </a:t>
            </a:r>
            <a:r>
              <a:rPr dirty="0" err="1"/>
              <a:t>عرض</a:t>
            </a:r>
            <a:r>
              <a:rPr dirty="0"/>
              <a:t> </a:t>
            </a:r>
            <a:r>
              <a:rPr dirty="0" err="1"/>
              <a:t>المصدر</a:t>
            </a:r>
            <a:r>
              <a:rPr dirty="0"/>
              <a:t> </a:t>
            </a:r>
            <a:r>
              <a:rPr dirty="0" err="1"/>
              <a:t>الأصلي</a:t>
            </a:r>
            <a:r>
              <a:rPr dirty="0"/>
              <a:t> </a:t>
            </a:r>
            <a:r>
              <a:rPr dirty="0" err="1"/>
              <a:t>المسترجع</a:t>
            </a:r>
            <a:r>
              <a:rPr dirty="0"/>
              <a:t> </a:t>
            </a:r>
            <a:r>
              <a:rPr dirty="0" err="1"/>
              <a:t>وفروق</a:t>
            </a:r>
            <a:r>
              <a:rPr dirty="0"/>
              <a:t> </a:t>
            </a:r>
            <a:r>
              <a:rPr dirty="0" err="1"/>
              <a:t>المقارنة</a:t>
            </a:r>
            <a:r>
              <a:rPr dirty="0"/>
              <a:t> </a:t>
            </a:r>
            <a:r>
              <a:rPr dirty="0" err="1"/>
              <a:t>التي</a:t>
            </a:r>
            <a:r>
              <a:rPr dirty="0"/>
              <a:t> </a:t>
            </a:r>
            <a:r>
              <a:rPr dirty="0" err="1"/>
              <a:t>ساهمت</a:t>
            </a:r>
            <a:r>
              <a:rPr dirty="0"/>
              <a:t> </a:t>
            </a:r>
            <a:r>
              <a:rPr dirty="0" err="1"/>
              <a:t>في</a:t>
            </a:r>
            <a:r>
              <a:rPr dirty="0"/>
              <a:t> </a:t>
            </a:r>
            <a:r>
              <a:rPr dirty="0" err="1"/>
              <a:t>الوصول</a:t>
            </a:r>
            <a:r>
              <a:rPr dirty="0"/>
              <a:t> </a:t>
            </a:r>
            <a:r>
              <a:rPr dirty="0" err="1"/>
              <a:t>إلى</a:t>
            </a:r>
            <a:r>
              <a:rPr dirty="0"/>
              <a:t> </a:t>
            </a:r>
            <a:r>
              <a:rPr dirty="0" err="1"/>
              <a:t>النتيجة</a:t>
            </a:r>
            <a:r>
              <a:rPr dirty="0"/>
              <a:t> </a:t>
            </a:r>
            <a:r>
              <a:rPr dirty="0" err="1"/>
              <a:t>ليكون</a:t>
            </a:r>
            <a:r>
              <a:rPr dirty="0"/>
              <a:t> </a:t>
            </a:r>
            <a:r>
              <a:rPr dirty="0" err="1"/>
              <a:t>القرار</a:t>
            </a:r>
            <a:r>
              <a:rPr dirty="0"/>
              <a:t> </a:t>
            </a:r>
            <a:r>
              <a:rPr dirty="0" err="1"/>
              <a:t>قابلًا</a:t>
            </a:r>
            <a:r>
              <a:rPr dirty="0"/>
              <a:t> </a:t>
            </a:r>
            <a:r>
              <a:rPr dirty="0" err="1"/>
              <a:t>للفحص</a:t>
            </a:r>
            <a:r>
              <a:rPr dirty="0"/>
              <a:t> </a:t>
            </a:r>
            <a:r>
              <a:rPr dirty="0" err="1"/>
              <a:t>المباشر</a:t>
            </a:r>
            <a:r>
              <a:rPr dirty="0"/>
              <a:t>.</a:t>
            </a:r>
          </a:p>
        </p:txBody>
      </p:sp>
      <p:sp>
        <p:nvSpPr>
          <p:cNvPr id="5" name="Rounded Rectangle 4"/>
          <p:cNvSpPr/>
          <p:nvPr/>
        </p:nvSpPr>
        <p:spPr>
          <a:xfrm>
            <a:off x="8131759" y="1920240"/>
            <a:ext cx="3328416" cy="3678127"/>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t"/>
          <a:lstStyle/>
          <a:p>
            <a:pPr algn="r" rtl="1">
              <a:spcAft>
                <a:spcPts val="800"/>
              </a:spcAft>
              <a:defRPr sz="1800" b="1">
                <a:solidFill>
                  <a:srgbClr val="C58C27"/>
                </a:solidFill>
                <a:latin typeface="Amiri"/>
              </a:defRPr>
            </a:pPr>
            <a:r>
              <a:rPr dirty="0" err="1"/>
              <a:t>مبدأ</a:t>
            </a:r>
            <a:r>
              <a:rPr dirty="0"/>
              <a:t> 1</a:t>
            </a:r>
          </a:p>
          <a:p>
            <a:pPr algn="r" rtl="1">
              <a:spcAft>
                <a:spcPts val="1400"/>
              </a:spcAft>
              <a:defRPr sz="2000" b="1">
                <a:solidFill>
                  <a:srgbClr val="045239"/>
                </a:solidFill>
                <a:latin typeface="Amiri"/>
              </a:defRPr>
            </a:pPr>
            <a:r>
              <a:rPr dirty="0" err="1"/>
              <a:t>المصدر</a:t>
            </a:r>
            <a:r>
              <a:rPr dirty="0"/>
              <a:t> </a:t>
            </a:r>
            <a:r>
              <a:rPr dirty="0" err="1"/>
              <a:t>أولًا</a:t>
            </a:r>
            <a:endParaRPr dirty="0"/>
          </a:p>
          <a:p>
            <a:pPr algn="r" rtl="1">
              <a:spcAft>
                <a:spcPts val="1000"/>
              </a:spcAft>
              <a:defRPr sz="1500" b="0">
                <a:solidFill>
                  <a:srgbClr val="0F172A"/>
                </a:solidFill>
                <a:latin typeface="Amiri"/>
              </a:defRPr>
            </a:pPr>
            <a:r>
              <a:rPr dirty="0" err="1"/>
              <a:t>لا</a:t>
            </a:r>
            <a:r>
              <a:rPr dirty="0"/>
              <a:t> </a:t>
            </a:r>
            <a:r>
              <a:rPr dirty="0" err="1"/>
              <a:t>يُقترح</a:t>
            </a:r>
            <a:r>
              <a:rPr dirty="0"/>
              <a:t> </a:t>
            </a:r>
            <a:r>
              <a:rPr dirty="0" err="1"/>
              <a:t>التصحيح</a:t>
            </a:r>
            <a:r>
              <a:rPr dirty="0"/>
              <a:t> </a:t>
            </a:r>
            <a:r>
              <a:rPr dirty="0" err="1"/>
              <a:t>اعتمادًا</a:t>
            </a:r>
            <a:r>
              <a:rPr dirty="0"/>
              <a:t> </a:t>
            </a:r>
            <a:r>
              <a:rPr dirty="0" err="1"/>
              <a:t>على</a:t>
            </a:r>
            <a:r>
              <a:rPr dirty="0"/>
              <a:t> </a:t>
            </a:r>
            <a:r>
              <a:rPr dirty="0" err="1"/>
              <a:t>توليد</a:t>
            </a:r>
            <a:r>
              <a:rPr dirty="0"/>
              <a:t> </a:t>
            </a:r>
            <a:r>
              <a:rPr dirty="0" err="1"/>
              <a:t>نص</a:t>
            </a:r>
            <a:r>
              <a:rPr dirty="0"/>
              <a:t> </a:t>
            </a:r>
            <a:r>
              <a:rPr dirty="0" err="1"/>
              <a:t>جديد</a:t>
            </a:r>
            <a:r>
              <a:rPr dirty="0"/>
              <a:t> </a:t>
            </a:r>
            <a:r>
              <a:rPr dirty="0" err="1"/>
              <a:t>فقط</a:t>
            </a:r>
            <a:r>
              <a:rPr dirty="0"/>
              <a:t> </a:t>
            </a:r>
            <a:r>
              <a:rPr dirty="0" err="1"/>
              <a:t>بالذكاء</a:t>
            </a:r>
            <a:r>
              <a:rPr dirty="0"/>
              <a:t> </a:t>
            </a:r>
            <a:r>
              <a:rPr dirty="0" err="1"/>
              <a:t>الاصطناعي</a:t>
            </a:r>
            <a:r>
              <a:rPr dirty="0"/>
              <a:t>، </a:t>
            </a:r>
            <a:r>
              <a:rPr dirty="0" err="1"/>
              <a:t>بل</a:t>
            </a:r>
            <a:r>
              <a:rPr dirty="0"/>
              <a:t> </a:t>
            </a:r>
            <a:r>
              <a:rPr dirty="0" err="1"/>
              <a:t>بالرجوع</a:t>
            </a:r>
            <a:r>
              <a:rPr dirty="0"/>
              <a:t> </a:t>
            </a:r>
            <a:r>
              <a:rPr dirty="0" err="1"/>
              <a:t>المباشر</a:t>
            </a:r>
            <a:r>
              <a:rPr dirty="0"/>
              <a:t> </a:t>
            </a:r>
            <a:r>
              <a:rPr dirty="0" err="1"/>
              <a:t>للنص</a:t>
            </a:r>
            <a:r>
              <a:rPr dirty="0"/>
              <a:t> </a:t>
            </a:r>
            <a:r>
              <a:rPr dirty="0" err="1"/>
              <a:t>المصدر</a:t>
            </a:r>
            <a:r>
              <a:rPr dirty="0"/>
              <a:t> </a:t>
            </a:r>
            <a:r>
              <a:rPr dirty="0" err="1"/>
              <a:t>المتاح</a:t>
            </a:r>
            <a:r>
              <a:rPr dirty="0"/>
              <a:t> </a:t>
            </a:r>
            <a:r>
              <a:rPr dirty="0" err="1"/>
              <a:t>في</a:t>
            </a:r>
            <a:r>
              <a:rPr dirty="0"/>
              <a:t> </a:t>
            </a:r>
            <a:r>
              <a:rPr dirty="0" err="1"/>
              <a:t>القواعد</a:t>
            </a:r>
            <a:r>
              <a:rPr dirty="0"/>
              <a:t> </a:t>
            </a:r>
            <a:r>
              <a:rPr dirty="0" err="1"/>
              <a:t>المعتمدة</a:t>
            </a:r>
            <a:r>
              <a:rPr dirty="0"/>
              <a:t> </a:t>
            </a:r>
            <a:r>
              <a:rPr dirty="0" err="1"/>
              <a:t>للنظام</a:t>
            </a:r>
            <a:r>
              <a:rPr dirty="0"/>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lgn="r" rtl="1">
              <a:spcAft>
                <a:spcPts val="200"/>
              </a:spcAft>
              <a:defRPr sz="1300" b="1">
                <a:solidFill>
                  <a:srgbClr val="C58C27"/>
                </a:solidFill>
                <a:latin typeface="Amiri"/>
              </a:defRPr>
            </a:pPr>
            <a:r>
              <a:t>تحدي الذكاء الاصطناعي في خدمة المحتوى الإسلامي 2026</a:t>
            </a:r>
          </a:p>
          <a:p>
            <a:pPr algn="r" rtl="1">
              <a:defRPr sz="2400" b="1">
                <a:solidFill>
                  <a:srgbClr val="045239"/>
                </a:solidFill>
                <a:latin typeface="Amiri"/>
              </a:defRPr>
            </a:pPr>
            <a:r>
              <a:t>تقييم المنتج الشامل وتحليل حالات الفشل</a:t>
            </a:r>
          </a:p>
        </p:txBody>
      </p:sp>
      <p:sp>
        <p:nvSpPr>
          <p:cNvPr id="3" name="Rounded Rectangle 2"/>
          <p:cNvSpPr/>
          <p:nvPr/>
        </p:nvSpPr>
        <p:spPr>
          <a:xfrm>
            <a:off x="6248402" y="1640321"/>
            <a:ext cx="5212080" cy="4070013"/>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t"/>
          <a:lstStyle/>
          <a:p>
            <a:pPr algn="r" rtl="1">
              <a:spcAft>
                <a:spcPts val="1400"/>
              </a:spcAft>
              <a:defRPr sz="2000" b="1">
                <a:solidFill>
                  <a:srgbClr val="045239"/>
                </a:solidFill>
                <a:latin typeface="Amiri"/>
              </a:defRPr>
            </a:pPr>
            <a:r>
              <a:rPr dirty="0" err="1"/>
              <a:t>معايير</a:t>
            </a:r>
            <a:r>
              <a:rPr dirty="0"/>
              <a:t> </a:t>
            </a:r>
            <a:r>
              <a:rPr dirty="0" err="1"/>
              <a:t>تقييم</a:t>
            </a:r>
            <a:r>
              <a:rPr dirty="0"/>
              <a:t> </a:t>
            </a:r>
            <a:r>
              <a:rPr dirty="0" err="1"/>
              <a:t>المنتج</a:t>
            </a:r>
            <a:r>
              <a:rPr dirty="0"/>
              <a:t> </a:t>
            </a:r>
            <a:r>
              <a:rPr dirty="0" err="1"/>
              <a:t>المتكامل</a:t>
            </a:r>
            <a:endParaRPr dirty="0"/>
          </a:p>
          <a:p>
            <a:pPr algn="r" rtl="1">
              <a:spcAft>
                <a:spcPts val="1000"/>
              </a:spcAft>
              <a:defRPr sz="1400" b="0">
                <a:solidFill>
                  <a:srgbClr val="0F172A"/>
                </a:solidFill>
                <a:latin typeface="Amiri"/>
              </a:defRPr>
            </a:pPr>
            <a:r>
              <a:rPr dirty="0"/>
              <a:t>✔ </a:t>
            </a:r>
            <a:r>
              <a:rPr dirty="0" err="1"/>
              <a:t>دقة</a:t>
            </a:r>
            <a:r>
              <a:rPr dirty="0"/>
              <a:t> </a:t>
            </a:r>
            <a:r>
              <a:rPr dirty="0" err="1"/>
              <a:t>كشف</a:t>
            </a:r>
            <a:r>
              <a:rPr dirty="0"/>
              <a:t> </a:t>
            </a:r>
            <a:r>
              <a:rPr dirty="0" err="1"/>
              <a:t>الاقتباسات</a:t>
            </a:r>
            <a:r>
              <a:rPr dirty="0"/>
              <a:t> </a:t>
            </a:r>
            <a:r>
              <a:rPr dirty="0" err="1"/>
              <a:t>وتحديد</a:t>
            </a:r>
            <a:r>
              <a:rPr dirty="0"/>
              <a:t> </a:t>
            </a:r>
            <a:r>
              <a:rPr dirty="0" err="1"/>
              <a:t>مواضعها</a:t>
            </a:r>
            <a:r>
              <a:rPr dirty="0"/>
              <a:t> </a:t>
            </a:r>
            <a:r>
              <a:rPr dirty="0" err="1"/>
              <a:t>بدقة</a:t>
            </a:r>
            <a:r>
              <a:rPr dirty="0"/>
              <a:t>.</a:t>
            </a:r>
          </a:p>
          <a:p>
            <a:pPr algn="r" rtl="1">
              <a:spcAft>
                <a:spcPts val="1000"/>
              </a:spcAft>
              <a:defRPr sz="1400" b="0">
                <a:solidFill>
                  <a:srgbClr val="0F172A"/>
                </a:solidFill>
                <a:latin typeface="Amiri"/>
              </a:defRPr>
            </a:pPr>
            <a:r>
              <a:rPr dirty="0"/>
              <a:t>✔ </a:t>
            </a:r>
            <a:r>
              <a:rPr dirty="0" err="1"/>
              <a:t>دقة</a:t>
            </a:r>
            <a:r>
              <a:rPr dirty="0"/>
              <a:t> </a:t>
            </a:r>
            <a:r>
              <a:rPr dirty="0" err="1"/>
              <a:t>تحديد</a:t>
            </a:r>
            <a:r>
              <a:rPr dirty="0"/>
              <a:t> </a:t>
            </a:r>
            <a:r>
              <a:rPr dirty="0" err="1"/>
              <a:t>نوع</a:t>
            </a:r>
            <a:r>
              <a:rPr dirty="0"/>
              <a:t> </a:t>
            </a:r>
            <a:r>
              <a:rPr dirty="0" err="1"/>
              <a:t>الاقتباس</a:t>
            </a:r>
            <a:r>
              <a:rPr dirty="0"/>
              <a:t> </a:t>
            </a:r>
            <a:r>
              <a:rPr lang="ar-EG" dirty="0"/>
              <a:t>(</a:t>
            </a:r>
            <a:r>
              <a:rPr dirty="0" err="1"/>
              <a:t>آية</a:t>
            </a:r>
            <a:r>
              <a:rPr dirty="0"/>
              <a:t> </a:t>
            </a:r>
            <a:r>
              <a:rPr dirty="0" err="1"/>
              <a:t>قرآنية</a:t>
            </a:r>
            <a:r>
              <a:rPr dirty="0"/>
              <a:t> / </a:t>
            </a:r>
            <a:r>
              <a:rPr dirty="0" err="1"/>
              <a:t>حديث</a:t>
            </a:r>
            <a:r>
              <a:rPr dirty="0"/>
              <a:t> </a:t>
            </a:r>
            <a:r>
              <a:rPr dirty="0" err="1"/>
              <a:t>نبوي</a:t>
            </a:r>
            <a:r>
              <a:rPr lang="ar-EG" dirty="0"/>
              <a:t>).</a:t>
            </a:r>
          </a:p>
          <a:p>
            <a:pPr algn="r" rtl="1">
              <a:spcAft>
                <a:spcPts val="1000"/>
              </a:spcAft>
              <a:defRPr sz="1400" b="0">
                <a:solidFill>
                  <a:srgbClr val="0F172A"/>
                </a:solidFill>
                <a:latin typeface="Amiri"/>
              </a:defRPr>
            </a:pPr>
            <a:r>
              <a:rPr dirty="0"/>
              <a:t>✔ </a:t>
            </a:r>
            <a:r>
              <a:rPr dirty="0" err="1"/>
              <a:t>جودة</a:t>
            </a:r>
            <a:r>
              <a:rPr dirty="0"/>
              <a:t> </a:t>
            </a:r>
            <a:r>
              <a:rPr dirty="0" err="1"/>
              <a:t>استرجاع</a:t>
            </a:r>
            <a:r>
              <a:rPr dirty="0"/>
              <a:t> </a:t>
            </a:r>
            <a:r>
              <a:rPr dirty="0" err="1"/>
              <a:t>المصدر</a:t>
            </a:r>
            <a:r>
              <a:rPr dirty="0"/>
              <a:t> </a:t>
            </a:r>
            <a:r>
              <a:rPr dirty="0" err="1"/>
              <a:t>الأصلي</a:t>
            </a:r>
            <a:r>
              <a:rPr dirty="0"/>
              <a:t> </a:t>
            </a:r>
            <a:r>
              <a:rPr dirty="0" err="1"/>
              <a:t>المعتمد</a:t>
            </a:r>
            <a:r>
              <a:rPr dirty="0"/>
              <a:t>.</a:t>
            </a:r>
          </a:p>
          <a:p>
            <a:pPr algn="r" rtl="1">
              <a:spcAft>
                <a:spcPts val="1000"/>
              </a:spcAft>
              <a:defRPr sz="1400" b="0">
                <a:solidFill>
                  <a:srgbClr val="0F172A"/>
                </a:solidFill>
                <a:latin typeface="Amiri"/>
              </a:defRPr>
            </a:pPr>
            <a:r>
              <a:rPr dirty="0"/>
              <a:t>✔ </a:t>
            </a:r>
            <a:r>
              <a:rPr dirty="0" err="1"/>
              <a:t>دقة</a:t>
            </a:r>
            <a:r>
              <a:rPr dirty="0"/>
              <a:t> </a:t>
            </a:r>
            <a:r>
              <a:rPr dirty="0" err="1"/>
              <a:t>قرار</a:t>
            </a:r>
            <a:r>
              <a:rPr dirty="0"/>
              <a:t> </a:t>
            </a:r>
            <a:r>
              <a:rPr dirty="0" err="1"/>
              <a:t>التحقق</a:t>
            </a:r>
            <a:r>
              <a:rPr dirty="0"/>
              <a:t> </a:t>
            </a:r>
            <a:r>
              <a:rPr dirty="0" err="1"/>
              <a:t>والتصحيح</a:t>
            </a:r>
            <a:r>
              <a:rPr dirty="0"/>
              <a:t> </a:t>
            </a:r>
            <a:r>
              <a:rPr dirty="0" err="1"/>
              <a:t>المقترح</a:t>
            </a:r>
            <a:r>
              <a:rPr dirty="0"/>
              <a:t>.</a:t>
            </a:r>
          </a:p>
          <a:p>
            <a:pPr algn="r" rtl="1">
              <a:spcAft>
                <a:spcPts val="1000"/>
              </a:spcAft>
              <a:defRPr sz="1400" b="0">
                <a:solidFill>
                  <a:srgbClr val="0F172A"/>
                </a:solidFill>
                <a:latin typeface="Amiri"/>
              </a:defRPr>
            </a:pPr>
            <a:r>
              <a:rPr dirty="0"/>
              <a:t>✔ </a:t>
            </a:r>
            <a:r>
              <a:rPr dirty="0" err="1"/>
              <a:t>صحة</a:t>
            </a:r>
            <a:r>
              <a:rPr dirty="0"/>
              <a:t> </a:t>
            </a:r>
            <a:r>
              <a:rPr dirty="0" err="1"/>
              <a:t>قرار</a:t>
            </a:r>
            <a:r>
              <a:rPr dirty="0"/>
              <a:t> </a:t>
            </a:r>
            <a:r>
              <a:rPr dirty="0" err="1"/>
              <a:t>الامتناع</a:t>
            </a:r>
            <a:r>
              <a:rPr dirty="0"/>
              <a:t> </a:t>
            </a:r>
            <a:r>
              <a:rPr dirty="0" err="1"/>
              <a:t>عن</a:t>
            </a:r>
            <a:r>
              <a:rPr dirty="0"/>
              <a:t> </a:t>
            </a:r>
            <a:r>
              <a:rPr dirty="0" err="1"/>
              <a:t>التصحيح</a:t>
            </a:r>
            <a:r>
              <a:rPr dirty="0"/>
              <a:t> </a:t>
            </a:r>
            <a:r>
              <a:rPr dirty="0" err="1"/>
              <a:t>عند</a:t>
            </a:r>
            <a:r>
              <a:rPr dirty="0"/>
              <a:t> </a:t>
            </a:r>
            <a:r>
              <a:rPr dirty="0" err="1"/>
              <a:t>عدم</a:t>
            </a:r>
            <a:r>
              <a:rPr dirty="0"/>
              <a:t> </a:t>
            </a:r>
            <a:r>
              <a:rPr dirty="0" err="1"/>
              <a:t>كفاية</a:t>
            </a:r>
            <a:r>
              <a:rPr dirty="0"/>
              <a:t> </a:t>
            </a:r>
            <a:r>
              <a:rPr dirty="0" err="1"/>
              <a:t>الأدلة</a:t>
            </a:r>
            <a:r>
              <a:rPr dirty="0"/>
              <a:t>.</a:t>
            </a:r>
          </a:p>
        </p:txBody>
      </p:sp>
      <p:sp>
        <p:nvSpPr>
          <p:cNvPr id="4" name="Rounded Rectangle 3"/>
          <p:cNvSpPr/>
          <p:nvPr/>
        </p:nvSpPr>
        <p:spPr>
          <a:xfrm>
            <a:off x="731520" y="1672977"/>
            <a:ext cx="5212080" cy="4004699"/>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t"/>
          <a:lstStyle/>
          <a:p>
            <a:pPr algn="r" rtl="1">
              <a:spcAft>
                <a:spcPts val="1400"/>
              </a:spcAft>
              <a:defRPr sz="2000" b="1">
                <a:solidFill>
                  <a:srgbClr val="045239"/>
                </a:solidFill>
                <a:latin typeface="Amiri"/>
              </a:defRPr>
            </a:pPr>
            <a:r>
              <a:rPr dirty="0" err="1"/>
              <a:t>تحليل</a:t>
            </a:r>
            <a:r>
              <a:rPr dirty="0"/>
              <a:t> </a:t>
            </a:r>
            <a:r>
              <a:rPr dirty="0" err="1"/>
              <a:t>حالات</a:t>
            </a:r>
            <a:r>
              <a:rPr dirty="0"/>
              <a:t> </a:t>
            </a:r>
            <a:r>
              <a:rPr dirty="0" err="1"/>
              <a:t>الفشل</a:t>
            </a:r>
            <a:r>
              <a:rPr dirty="0"/>
              <a:t> </a:t>
            </a:r>
            <a:r>
              <a:rPr dirty="0" err="1"/>
              <a:t>والأخطاء</a:t>
            </a:r>
            <a:endParaRPr dirty="0"/>
          </a:p>
          <a:p>
            <a:pPr algn="r" rtl="1">
              <a:spcAft>
                <a:spcPts val="1000"/>
              </a:spcAft>
              <a:defRPr sz="1400" b="1">
                <a:solidFill>
                  <a:srgbClr val="0F172A"/>
                </a:solidFill>
                <a:latin typeface="Amiri"/>
              </a:defRPr>
            </a:pPr>
            <a:r>
              <a:rPr dirty="0" err="1"/>
              <a:t>يقوم</a:t>
            </a:r>
            <a:r>
              <a:rPr dirty="0"/>
              <a:t> </a:t>
            </a:r>
            <a:r>
              <a:rPr dirty="0" err="1"/>
              <a:t>النظام</a:t>
            </a:r>
            <a:r>
              <a:rPr dirty="0"/>
              <a:t> </a:t>
            </a:r>
            <a:r>
              <a:rPr dirty="0" err="1"/>
              <a:t>بتصنيف</a:t>
            </a:r>
            <a:r>
              <a:rPr dirty="0"/>
              <a:t> </a:t>
            </a:r>
            <a:r>
              <a:rPr dirty="0" err="1"/>
              <a:t>وفهم</a:t>
            </a:r>
            <a:r>
              <a:rPr dirty="0"/>
              <a:t> </a:t>
            </a:r>
            <a:r>
              <a:rPr dirty="0" err="1"/>
              <a:t>أسباب</a:t>
            </a:r>
            <a:r>
              <a:rPr dirty="0"/>
              <a:t> </a:t>
            </a:r>
            <a:r>
              <a:rPr dirty="0" err="1"/>
              <a:t>الأخطاء</a:t>
            </a:r>
            <a:r>
              <a:rPr dirty="0"/>
              <a:t> </a:t>
            </a:r>
            <a:r>
              <a:rPr dirty="0" err="1"/>
              <a:t>لتطويره</a:t>
            </a:r>
            <a:r>
              <a:rPr dirty="0"/>
              <a:t>:</a:t>
            </a:r>
          </a:p>
          <a:p>
            <a:pPr algn="r" rtl="1">
              <a:spcAft>
                <a:spcPts val="1000"/>
              </a:spcAft>
              <a:defRPr sz="1400" b="0">
                <a:solidFill>
                  <a:srgbClr val="0F172A"/>
                </a:solidFill>
                <a:latin typeface="Amiri"/>
              </a:defRPr>
            </a:pPr>
            <a:r>
              <a:rPr dirty="0"/>
              <a:t>✖ </a:t>
            </a:r>
            <a:r>
              <a:rPr dirty="0" err="1"/>
              <a:t>فشل</a:t>
            </a:r>
            <a:r>
              <a:rPr dirty="0"/>
              <a:t> </a:t>
            </a:r>
            <a:r>
              <a:rPr dirty="0" err="1"/>
              <a:t>استرجاع</a:t>
            </a:r>
            <a:r>
              <a:rPr dirty="0"/>
              <a:t> </a:t>
            </a:r>
            <a:r>
              <a:rPr dirty="0" err="1"/>
              <a:t>المصدر</a:t>
            </a:r>
            <a:r>
              <a:rPr dirty="0"/>
              <a:t> </a:t>
            </a:r>
            <a:r>
              <a:rPr dirty="0" err="1"/>
              <a:t>المناسب</a:t>
            </a:r>
            <a:r>
              <a:rPr dirty="0"/>
              <a:t> </a:t>
            </a:r>
            <a:r>
              <a:rPr dirty="0" err="1"/>
              <a:t>من</a:t>
            </a:r>
            <a:r>
              <a:rPr dirty="0"/>
              <a:t> </a:t>
            </a:r>
            <a:r>
              <a:rPr dirty="0" err="1"/>
              <a:t>القاعدة</a:t>
            </a:r>
            <a:r>
              <a:rPr dirty="0"/>
              <a:t>.</a:t>
            </a:r>
          </a:p>
          <a:p>
            <a:pPr algn="r" rtl="1">
              <a:spcAft>
                <a:spcPts val="1000"/>
              </a:spcAft>
              <a:defRPr sz="1400" b="0">
                <a:solidFill>
                  <a:srgbClr val="0F172A"/>
                </a:solidFill>
                <a:latin typeface="Amiri"/>
              </a:defRPr>
            </a:pPr>
            <a:r>
              <a:rPr dirty="0"/>
              <a:t>✖ </a:t>
            </a:r>
            <a:r>
              <a:rPr dirty="0" err="1"/>
              <a:t>خطأ</a:t>
            </a:r>
            <a:r>
              <a:rPr dirty="0"/>
              <a:t> </a:t>
            </a:r>
            <a:r>
              <a:rPr dirty="0" err="1"/>
              <a:t>في</a:t>
            </a:r>
            <a:r>
              <a:rPr dirty="0"/>
              <a:t> </a:t>
            </a:r>
            <a:r>
              <a:rPr dirty="0" err="1"/>
              <a:t>تحديد</a:t>
            </a:r>
            <a:r>
              <a:rPr dirty="0"/>
              <a:t> </a:t>
            </a:r>
            <a:r>
              <a:rPr dirty="0" err="1"/>
              <a:t>حدود</a:t>
            </a:r>
            <a:r>
              <a:rPr dirty="0"/>
              <a:t> </a:t>
            </a:r>
            <a:r>
              <a:rPr dirty="0" err="1"/>
              <a:t>بداية</a:t>
            </a:r>
            <a:r>
              <a:rPr dirty="0"/>
              <a:t> </a:t>
            </a:r>
            <a:r>
              <a:rPr dirty="0" err="1"/>
              <a:t>ونهاية</a:t>
            </a:r>
            <a:r>
              <a:rPr dirty="0"/>
              <a:t> </a:t>
            </a:r>
            <a:r>
              <a:rPr dirty="0" err="1"/>
              <a:t>الاقتباس</a:t>
            </a:r>
            <a:r>
              <a:rPr dirty="0"/>
              <a:t>.</a:t>
            </a:r>
          </a:p>
          <a:p>
            <a:pPr algn="r" rtl="1">
              <a:spcAft>
                <a:spcPts val="1000"/>
              </a:spcAft>
              <a:defRPr sz="1400" b="0">
                <a:solidFill>
                  <a:srgbClr val="0F172A"/>
                </a:solidFill>
                <a:latin typeface="Amiri"/>
              </a:defRPr>
            </a:pPr>
            <a:r>
              <a:rPr dirty="0"/>
              <a:t>✖ </a:t>
            </a:r>
            <a:r>
              <a:rPr dirty="0" err="1"/>
              <a:t>اختيار</a:t>
            </a:r>
            <a:r>
              <a:rPr dirty="0"/>
              <a:t> </a:t>
            </a:r>
            <a:r>
              <a:rPr dirty="0" err="1"/>
              <a:t>مصدر</a:t>
            </a:r>
            <a:r>
              <a:rPr dirty="0"/>
              <a:t> </a:t>
            </a:r>
            <a:r>
              <a:rPr dirty="0" err="1"/>
              <a:t>غير</a:t>
            </a:r>
            <a:r>
              <a:rPr dirty="0"/>
              <a:t> </a:t>
            </a:r>
            <a:r>
              <a:rPr dirty="0" err="1"/>
              <a:t>دقيق</a:t>
            </a:r>
            <a:r>
              <a:rPr dirty="0"/>
              <a:t> </a:t>
            </a:r>
            <a:r>
              <a:rPr dirty="0" err="1"/>
              <a:t>عند</a:t>
            </a:r>
            <a:r>
              <a:rPr dirty="0"/>
              <a:t> </a:t>
            </a:r>
            <a:r>
              <a:rPr dirty="0" err="1"/>
              <a:t>وجود</a:t>
            </a:r>
            <a:r>
              <a:rPr dirty="0"/>
              <a:t> </a:t>
            </a:r>
            <a:r>
              <a:rPr dirty="0" err="1"/>
              <a:t>مصادر</a:t>
            </a:r>
            <a:r>
              <a:rPr dirty="0"/>
              <a:t> </a:t>
            </a:r>
            <a:r>
              <a:rPr dirty="0" err="1"/>
              <a:t>متعددة</a:t>
            </a:r>
            <a:r>
              <a:rPr dirty="0"/>
              <a:t> </a:t>
            </a:r>
            <a:r>
              <a:rPr dirty="0" err="1"/>
              <a:t>متشابهة</a:t>
            </a:r>
            <a:r>
              <a:rPr dirty="0"/>
              <a:t>.</a:t>
            </a:r>
          </a:p>
          <a:p>
            <a:pPr algn="r" rtl="1">
              <a:spcAft>
                <a:spcPts val="1000"/>
              </a:spcAft>
              <a:defRPr sz="1400" b="0">
                <a:solidFill>
                  <a:srgbClr val="0F172A"/>
                </a:solidFill>
                <a:latin typeface="Amiri"/>
              </a:defRPr>
            </a:pPr>
            <a:r>
              <a:rPr dirty="0"/>
              <a:t>✖ </a:t>
            </a:r>
            <a:r>
              <a:rPr dirty="0" err="1"/>
              <a:t>ضعف</a:t>
            </a:r>
            <a:r>
              <a:rPr dirty="0"/>
              <a:t> </a:t>
            </a:r>
            <a:r>
              <a:rPr dirty="0" err="1"/>
              <a:t>المطابقة</a:t>
            </a:r>
            <a:r>
              <a:rPr dirty="0"/>
              <a:t> </a:t>
            </a:r>
            <a:r>
              <a:rPr dirty="0" err="1"/>
              <a:t>النصية</a:t>
            </a:r>
            <a:r>
              <a:rPr dirty="0"/>
              <a:t> </a:t>
            </a:r>
            <a:r>
              <a:rPr dirty="0" err="1"/>
              <a:t>بسبب</a:t>
            </a:r>
            <a:r>
              <a:rPr dirty="0"/>
              <a:t> </a:t>
            </a:r>
            <a:r>
              <a:rPr dirty="0" err="1"/>
              <a:t>التشكيل</a:t>
            </a:r>
            <a:r>
              <a:rPr dirty="0"/>
              <a:t> </a:t>
            </a:r>
            <a:r>
              <a:rPr dirty="0" err="1"/>
              <a:t>أو</a:t>
            </a:r>
            <a:r>
              <a:rPr dirty="0"/>
              <a:t> </a:t>
            </a:r>
            <a:r>
              <a:rPr dirty="0" err="1"/>
              <a:t>اختلاف</a:t>
            </a:r>
            <a:r>
              <a:rPr dirty="0"/>
              <a:t> </a:t>
            </a:r>
            <a:r>
              <a:rPr dirty="0" err="1"/>
              <a:t>الرسم</a:t>
            </a:r>
            <a:r>
              <a:rPr dirty="0"/>
              <a:t>.</a:t>
            </a:r>
          </a:p>
          <a:p>
            <a:pPr algn="r" rtl="1">
              <a:spcAft>
                <a:spcPts val="1000"/>
              </a:spcAft>
              <a:defRPr sz="1400" b="0">
                <a:solidFill>
                  <a:srgbClr val="0F172A"/>
                </a:solidFill>
                <a:latin typeface="Amiri"/>
              </a:defRPr>
            </a:pPr>
            <a:r>
              <a:rPr dirty="0"/>
              <a:t>✖ </a:t>
            </a:r>
            <a:r>
              <a:rPr dirty="0" err="1"/>
              <a:t>عدم</a:t>
            </a:r>
            <a:r>
              <a:rPr dirty="0"/>
              <a:t> </a:t>
            </a:r>
            <a:r>
              <a:rPr dirty="0" err="1"/>
              <a:t>كفاية</a:t>
            </a:r>
            <a:r>
              <a:rPr dirty="0"/>
              <a:t> </a:t>
            </a:r>
            <a:r>
              <a:rPr dirty="0" err="1"/>
              <a:t>الأدلة</a:t>
            </a:r>
            <a:r>
              <a:rPr dirty="0"/>
              <a:t> </a:t>
            </a:r>
            <a:r>
              <a:rPr dirty="0" err="1"/>
              <a:t>لاتخاذ</a:t>
            </a:r>
            <a:r>
              <a:rPr dirty="0"/>
              <a:t> </a:t>
            </a:r>
            <a:r>
              <a:rPr dirty="0" err="1"/>
              <a:t>قرار</a:t>
            </a:r>
            <a:r>
              <a:rPr dirty="0"/>
              <a:t> </a:t>
            </a:r>
            <a:r>
              <a:rPr dirty="0" err="1"/>
              <a:t>آلي</a:t>
            </a:r>
            <a:r>
              <a:rPr dirty="0"/>
              <a:t> </a:t>
            </a:r>
            <a:r>
              <a:rPr dirty="0" err="1"/>
              <a:t>حاسم</a:t>
            </a:r>
            <a:r>
              <a:rPr dirty="0"/>
              <a:t> </a:t>
            </a:r>
            <a:r>
              <a:rPr lang="ar-EG" dirty="0"/>
              <a:t>(</a:t>
            </a:r>
            <a:r>
              <a:rPr dirty="0" err="1"/>
              <a:t>يتطلب</a:t>
            </a:r>
            <a:r>
              <a:rPr dirty="0"/>
              <a:t> </a:t>
            </a:r>
            <a:r>
              <a:rPr dirty="0" err="1"/>
              <a:t>مراجعة</a:t>
            </a:r>
            <a:r>
              <a:rPr dirty="0"/>
              <a:t> </a:t>
            </a:r>
            <a:r>
              <a:rPr dirty="0" err="1"/>
              <a:t>بشرية</a:t>
            </a:r>
            <a:r>
              <a:rPr lang="ar-EG" dirty="0"/>
              <a:t>).</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lgn="r" rtl="1">
              <a:spcAft>
                <a:spcPts val="200"/>
              </a:spcAft>
              <a:defRPr sz="1300" b="1">
                <a:solidFill>
                  <a:srgbClr val="C58C27"/>
                </a:solidFill>
                <a:latin typeface="Amiri"/>
              </a:defRPr>
            </a:pPr>
            <a:r>
              <a:t>تحدي الذكاء الاصطناعي في خدمة المحتوى الإسلامي 2026</a:t>
            </a:r>
          </a:p>
          <a:p>
            <a:pPr algn="r" rtl="1">
              <a:defRPr sz="2400" b="1">
                <a:solidFill>
                  <a:srgbClr val="045239"/>
                </a:solidFill>
                <a:latin typeface="Amiri"/>
              </a:defRPr>
            </a:pPr>
            <a:r>
              <a:t>سيناريو الاستخدام ورحلة المستفيد</a:t>
            </a:r>
          </a:p>
        </p:txBody>
      </p:sp>
      <p:sp>
        <p:nvSpPr>
          <p:cNvPr id="3" name="Rounded Rectangle 2"/>
          <p:cNvSpPr/>
          <p:nvPr/>
        </p:nvSpPr>
        <p:spPr>
          <a:xfrm>
            <a:off x="731672" y="1630991"/>
            <a:ext cx="10728655" cy="3995368"/>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t"/>
          <a:lstStyle/>
          <a:p>
            <a:pPr algn="r" rtl="1">
              <a:spcAft>
                <a:spcPts val="1800"/>
              </a:spcAft>
              <a:defRPr sz="2200" b="1">
                <a:solidFill>
                  <a:srgbClr val="045239"/>
                </a:solidFill>
                <a:latin typeface="Amiri"/>
              </a:defRPr>
            </a:pPr>
            <a:r>
              <a:rPr dirty="0" err="1"/>
              <a:t>كيف</a:t>
            </a:r>
            <a:r>
              <a:rPr dirty="0"/>
              <a:t> </a:t>
            </a:r>
            <a:r>
              <a:rPr dirty="0" err="1"/>
              <a:t>يتفاعل</a:t>
            </a:r>
            <a:r>
              <a:rPr dirty="0"/>
              <a:t> </a:t>
            </a:r>
            <a:r>
              <a:rPr dirty="0" err="1"/>
              <a:t>المستفيد</a:t>
            </a:r>
            <a:r>
              <a:rPr dirty="0"/>
              <a:t> </a:t>
            </a:r>
            <a:r>
              <a:rPr dirty="0" err="1"/>
              <a:t>مع</a:t>
            </a:r>
            <a:r>
              <a:rPr dirty="0"/>
              <a:t> </a:t>
            </a:r>
            <a:r>
              <a:rPr dirty="0" err="1"/>
              <a:t>النظام</a:t>
            </a:r>
            <a:r>
              <a:rPr dirty="0"/>
              <a:t> </a:t>
            </a:r>
            <a:r>
              <a:rPr dirty="0" err="1"/>
              <a:t>في</a:t>
            </a:r>
            <a:r>
              <a:rPr dirty="0"/>
              <a:t> </a:t>
            </a:r>
            <a:r>
              <a:rPr dirty="0" err="1"/>
              <a:t>التجربة</a:t>
            </a:r>
            <a:r>
              <a:rPr dirty="0"/>
              <a:t> </a:t>
            </a:r>
            <a:r>
              <a:rPr dirty="0" err="1"/>
              <a:t>العملية</a:t>
            </a:r>
            <a:r>
              <a:rPr dirty="0"/>
              <a:t>؟</a:t>
            </a:r>
          </a:p>
          <a:p>
            <a:pPr algn="r" rtl="1">
              <a:spcAft>
                <a:spcPts val="1200"/>
              </a:spcAft>
              <a:defRPr sz="1500" b="0">
                <a:solidFill>
                  <a:srgbClr val="0F172A"/>
                </a:solidFill>
                <a:latin typeface="Amiri"/>
              </a:defRPr>
            </a:pPr>
            <a:r>
              <a:rPr dirty="0"/>
              <a:t>✦ ١. </a:t>
            </a:r>
            <a:r>
              <a:rPr dirty="0" err="1"/>
              <a:t>الإدخال</a:t>
            </a:r>
            <a:r>
              <a:rPr dirty="0"/>
              <a:t> </a:t>
            </a:r>
            <a:r>
              <a:rPr dirty="0" err="1"/>
              <a:t>المباشر</a:t>
            </a:r>
            <a:r>
              <a:rPr dirty="0"/>
              <a:t>: </a:t>
            </a:r>
            <a:r>
              <a:rPr dirty="0" err="1"/>
              <a:t>حصل</a:t>
            </a:r>
            <a:r>
              <a:rPr dirty="0"/>
              <a:t> </a:t>
            </a:r>
            <a:r>
              <a:rPr dirty="0" err="1"/>
              <a:t>المستخدم</a:t>
            </a:r>
            <a:r>
              <a:rPr dirty="0"/>
              <a:t> </a:t>
            </a:r>
            <a:r>
              <a:rPr dirty="0" err="1"/>
              <a:t>على</a:t>
            </a:r>
            <a:r>
              <a:rPr dirty="0"/>
              <a:t> </a:t>
            </a:r>
            <a:r>
              <a:rPr dirty="0" err="1"/>
              <a:t>إجابة</a:t>
            </a:r>
            <a:r>
              <a:rPr dirty="0"/>
              <a:t> </a:t>
            </a:r>
            <a:r>
              <a:rPr dirty="0" err="1"/>
              <a:t>من</a:t>
            </a:r>
            <a:r>
              <a:rPr dirty="0"/>
              <a:t> </a:t>
            </a:r>
            <a:r>
              <a:rPr dirty="0" err="1"/>
              <a:t>نموذج</a:t>
            </a:r>
            <a:r>
              <a:rPr dirty="0"/>
              <a:t> </a:t>
            </a:r>
            <a:r>
              <a:rPr dirty="0" err="1"/>
              <a:t>لغوي</a:t>
            </a:r>
            <a:r>
              <a:rPr dirty="0"/>
              <a:t> </a:t>
            </a:r>
            <a:r>
              <a:rPr dirty="0" err="1"/>
              <a:t>كبير</a:t>
            </a:r>
            <a:r>
              <a:rPr dirty="0"/>
              <a:t> </a:t>
            </a:r>
            <a:r>
              <a:rPr dirty="0" err="1"/>
              <a:t>تحتوي</a:t>
            </a:r>
            <a:r>
              <a:rPr dirty="0"/>
              <a:t> </a:t>
            </a:r>
            <a:r>
              <a:rPr dirty="0" err="1"/>
              <a:t>على</a:t>
            </a:r>
            <a:r>
              <a:rPr dirty="0"/>
              <a:t> </a:t>
            </a:r>
            <a:r>
              <a:rPr dirty="0" err="1"/>
              <a:t>عدة</a:t>
            </a:r>
            <a:r>
              <a:rPr dirty="0"/>
              <a:t> </a:t>
            </a:r>
            <a:r>
              <a:rPr dirty="0" err="1"/>
              <a:t>اقتباسات</a:t>
            </a:r>
            <a:r>
              <a:rPr dirty="0"/>
              <a:t> </a:t>
            </a:r>
            <a:r>
              <a:rPr dirty="0" err="1"/>
              <a:t>دينية</a:t>
            </a:r>
            <a:r>
              <a:rPr dirty="0"/>
              <a:t>، </a:t>
            </a:r>
            <a:r>
              <a:rPr dirty="0" err="1"/>
              <a:t>فيقوم</a:t>
            </a:r>
            <a:r>
              <a:rPr dirty="0"/>
              <a:t> </a:t>
            </a:r>
            <a:r>
              <a:rPr dirty="0" err="1"/>
              <a:t>بإدخال</a:t>
            </a:r>
            <a:r>
              <a:rPr dirty="0"/>
              <a:t> </a:t>
            </a:r>
            <a:r>
              <a:rPr dirty="0" err="1"/>
              <a:t>الإجابة</a:t>
            </a:r>
            <a:r>
              <a:rPr dirty="0"/>
              <a:t> </a:t>
            </a:r>
            <a:r>
              <a:rPr dirty="0" err="1"/>
              <a:t>بالكامل</a:t>
            </a:r>
            <a:r>
              <a:rPr dirty="0"/>
              <a:t> </a:t>
            </a:r>
            <a:r>
              <a:rPr dirty="0" err="1"/>
              <a:t>للنظام</a:t>
            </a:r>
            <a:r>
              <a:rPr dirty="0"/>
              <a:t> </a:t>
            </a:r>
            <a:r>
              <a:rPr dirty="0" err="1"/>
              <a:t>بدل</a:t>
            </a:r>
            <a:r>
              <a:rPr dirty="0"/>
              <a:t> </a:t>
            </a:r>
            <a:r>
              <a:rPr dirty="0" err="1"/>
              <a:t>التدقيق</a:t>
            </a:r>
            <a:r>
              <a:rPr dirty="0"/>
              <a:t> </a:t>
            </a:r>
            <a:r>
              <a:rPr dirty="0" err="1"/>
              <a:t>اليدوي</a:t>
            </a:r>
            <a:r>
              <a:rPr dirty="0"/>
              <a:t> </a:t>
            </a:r>
            <a:r>
              <a:rPr dirty="0" err="1"/>
              <a:t>المجهد</a:t>
            </a:r>
            <a:r>
              <a:rPr dirty="0"/>
              <a:t>.</a:t>
            </a:r>
          </a:p>
          <a:p>
            <a:pPr algn="r" rtl="1">
              <a:spcAft>
                <a:spcPts val="1200"/>
              </a:spcAft>
              <a:defRPr sz="1500" b="0">
                <a:solidFill>
                  <a:srgbClr val="0F172A"/>
                </a:solidFill>
                <a:latin typeface="Amiri"/>
              </a:defRPr>
            </a:pPr>
            <a:r>
              <a:rPr dirty="0"/>
              <a:t>✦ ٢. </a:t>
            </a:r>
            <a:r>
              <a:rPr dirty="0" err="1"/>
              <a:t>الكشف</a:t>
            </a:r>
            <a:r>
              <a:rPr dirty="0"/>
              <a:t> </a:t>
            </a:r>
            <a:r>
              <a:rPr dirty="0" err="1"/>
              <a:t>التلقائي</a:t>
            </a:r>
            <a:r>
              <a:rPr dirty="0"/>
              <a:t>: </a:t>
            </a:r>
            <a:r>
              <a:rPr dirty="0" err="1"/>
              <a:t>يحدد</a:t>
            </a:r>
            <a:r>
              <a:rPr dirty="0"/>
              <a:t> </a:t>
            </a:r>
            <a:r>
              <a:rPr dirty="0" err="1"/>
              <a:t>النظام</a:t>
            </a:r>
            <a:r>
              <a:rPr dirty="0"/>
              <a:t> </a:t>
            </a:r>
            <a:r>
              <a:rPr dirty="0" err="1"/>
              <a:t>الاقتباسات</a:t>
            </a:r>
            <a:r>
              <a:rPr dirty="0"/>
              <a:t> </a:t>
            </a:r>
            <a:r>
              <a:rPr dirty="0" err="1"/>
              <a:t>الموجودة</a:t>
            </a:r>
            <a:r>
              <a:rPr dirty="0"/>
              <a:t> </a:t>
            </a:r>
            <a:r>
              <a:rPr dirty="0" err="1"/>
              <a:t>تلقائيًا</a:t>
            </a:r>
            <a:r>
              <a:rPr dirty="0"/>
              <a:t> </a:t>
            </a:r>
            <a:r>
              <a:rPr dirty="0" err="1"/>
              <a:t>داخل</a:t>
            </a:r>
            <a:r>
              <a:rPr dirty="0"/>
              <a:t> </a:t>
            </a:r>
            <a:r>
              <a:rPr dirty="0" err="1"/>
              <a:t>النص</a:t>
            </a:r>
            <a:r>
              <a:rPr dirty="0"/>
              <a:t> </a:t>
            </a:r>
            <a:r>
              <a:rPr dirty="0" err="1"/>
              <a:t>ويصنف</a:t>
            </a:r>
            <a:r>
              <a:rPr dirty="0"/>
              <a:t> </a:t>
            </a:r>
            <a:r>
              <a:rPr dirty="0" err="1"/>
              <a:t>كل</a:t>
            </a:r>
            <a:r>
              <a:rPr dirty="0"/>
              <a:t> </a:t>
            </a:r>
            <a:r>
              <a:rPr dirty="0" err="1"/>
              <a:t>اقتباس</a:t>
            </a:r>
            <a:r>
              <a:rPr dirty="0"/>
              <a:t> </a:t>
            </a:r>
            <a:r>
              <a:rPr dirty="0" err="1"/>
              <a:t>إلى</a:t>
            </a:r>
            <a:r>
              <a:rPr dirty="0"/>
              <a:t> </a:t>
            </a:r>
            <a:r>
              <a:rPr lang="ar-EG" dirty="0"/>
              <a:t>(</a:t>
            </a:r>
            <a:r>
              <a:rPr dirty="0" err="1"/>
              <a:t>آية</a:t>
            </a:r>
            <a:r>
              <a:rPr dirty="0"/>
              <a:t> </a:t>
            </a:r>
            <a:r>
              <a:rPr dirty="0" err="1"/>
              <a:t>قرآنية</a:t>
            </a:r>
            <a:r>
              <a:rPr dirty="0"/>
              <a:t> / </a:t>
            </a:r>
            <a:r>
              <a:rPr dirty="0" err="1"/>
              <a:t>حديث</a:t>
            </a:r>
            <a:r>
              <a:rPr dirty="0"/>
              <a:t> </a:t>
            </a:r>
            <a:r>
              <a:rPr dirty="0" err="1"/>
              <a:t>نبوي</a:t>
            </a:r>
            <a:r>
              <a:rPr lang="ar-EG" dirty="0"/>
              <a:t>).</a:t>
            </a:r>
            <a:endParaRPr dirty="0"/>
          </a:p>
          <a:p>
            <a:pPr algn="r" rtl="1">
              <a:spcAft>
                <a:spcPts val="1200"/>
              </a:spcAft>
              <a:defRPr sz="1500" b="0">
                <a:solidFill>
                  <a:srgbClr val="0F172A"/>
                </a:solidFill>
                <a:latin typeface="Amiri"/>
              </a:defRPr>
            </a:pPr>
            <a:r>
              <a:rPr dirty="0"/>
              <a:t>✦ ٣. </a:t>
            </a:r>
            <a:r>
              <a:rPr dirty="0" err="1"/>
              <a:t>البحث</a:t>
            </a:r>
            <a:r>
              <a:rPr dirty="0"/>
              <a:t> </a:t>
            </a:r>
            <a:r>
              <a:rPr dirty="0" err="1"/>
              <a:t>والمقارنة</a:t>
            </a:r>
            <a:r>
              <a:rPr dirty="0"/>
              <a:t>: </a:t>
            </a:r>
            <a:r>
              <a:rPr dirty="0" err="1"/>
              <a:t>يسترجع</a:t>
            </a:r>
            <a:r>
              <a:rPr dirty="0"/>
              <a:t> </a:t>
            </a:r>
            <a:r>
              <a:rPr dirty="0" err="1"/>
              <a:t>النظام</a:t>
            </a:r>
            <a:r>
              <a:rPr dirty="0"/>
              <a:t> </a:t>
            </a:r>
            <a:r>
              <a:rPr dirty="0" err="1"/>
              <a:t>المصدر</a:t>
            </a:r>
            <a:r>
              <a:rPr dirty="0"/>
              <a:t> </a:t>
            </a:r>
            <a:r>
              <a:rPr dirty="0" err="1"/>
              <a:t>المرشح</a:t>
            </a:r>
            <a:r>
              <a:rPr dirty="0"/>
              <a:t> </a:t>
            </a:r>
            <a:r>
              <a:rPr dirty="0" err="1"/>
              <a:t>ويقارن</a:t>
            </a:r>
            <a:r>
              <a:rPr dirty="0"/>
              <a:t> </a:t>
            </a:r>
            <a:r>
              <a:rPr dirty="0" err="1"/>
              <a:t>النص</a:t>
            </a:r>
            <a:r>
              <a:rPr dirty="0"/>
              <a:t> </a:t>
            </a:r>
            <a:r>
              <a:rPr dirty="0" err="1"/>
              <a:t>المُولَّد</a:t>
            </a:r>
            <a:r>
              <a:rPr dirty="0"/>
              <a:t> </a:t>
            </a:r>
            <a:r>
              <a:rPr dirty="0" err="1"/>
              <a:t>بالنص</a:t>
            </a:r>
            <a:r>
              <a:rPr dirty="0"/>
              <a:t> </a:t>
            </a:r>
            <a:r>
              <a:rPr dirty="0" err="1"/>
              <a:t>الأصلي</a:t>
            </a:r>
            <a:r>
              <a:rPr dirty="0"/>
              <a:t> </a:t>
            </a:r>
            <a:r>
              <a:rPr dirty="0" err="1"/>
              <a:t>ويعرض</a:t>
            </a:r>
            <a:r>
              <a:rPr dirty="0"/>
              <a:t> </a:t>
            </a:r>
            <a:r>
              <a:rPr dirty="0" err="1"/>
              <a:t>مؤشرات</a:t>
            </a:r>
            <a:r>
              <a:rPr dirty="0"/>
              <a:t> </a:t>
            </a:r>
            <a:r>
              <a:rPr dirty="0" err="1"/>
              <a:t>المطابقة</a:t>
            </a:r>
            <a:r>
              <a:rPr dirty="0"/>
              <a:t> </a:t>
            </a:r>
            <a:r>
              <a:rPr dirty="0" err="1"/>
              <a:t>ودرجة</a:t>
            </a:r>
            <a:r>
              <a:rPr dirty="0"/>
              <a:t> </a:t>
            </a:r>
            <a:r>
              <a:rPr dirty="0" err="1"/>
              <a:t>الثقة</a:t>
            </a:r>
            <a:r>
              <a:rPr dirty="0"/>
              <a:t>.</a:t>
            </a:r>
          </a:p>
          <a:p>
            <a:pPr algn="r" rtl="1">
              <a:spcAft>
                <a:spcPts val="1200"/>
              </a:spcAft>
              <a:defRPr sz="1500" b="0">
                <a:solidFill>
                  <a:srgbClr val="0F172A"/>
                </a:solidFill>
                <a:latin typeface="Amiri"/>
              </a:defRPr>
            </a:pPr>
            <a:r>
              <a:rPr dirty="0"/>
              <a:t>✦ ٤. </a:t>
            </a:r>
            <a:r>
              <a:rPr dirty="0" err="1"/>
              <a:t>عرض</a:t>
            </a:r>
            <a:r>
              <a:rPr dirty="0"/>
              <a:t> </a:t>
            </a:r>
            <a:r>
              <a:rPr dirty="0" err="1"/>
              <a:t>النتيجة</a:t>
            </a:r>
            <a:r>
              <a:rPr dirty="0"/>
              <a:t> </a:t>
            </a:r>
            <a:r>
              <a:rPr dirty="0" err="1"/>
              <a:t>والطلب</a:t>
            </a:r>
            <a:r>
              <a:rPr dirty="0"/>
              <a:t>: </a:t>
            </a:r>
            <a:r>
              <a:rPr dirty="0" err="1"/>
              <a:t>يعرض</a:t>
            </a:r>
            <a:r>
              <a:rPr dirty="0"/>
              <a:t> </a:t>
            </a:r>
            <a:r>
              <a:rPr dirty="0" err="1"/>
              <a:t>النظام</a:t>
            </a:r>
            <a:r>
              <a:rPr dirty="0"/>
              <a:t>:</a:t>
            </a:r>
            <a:r>
              <a:rPr lang="ar-EG" dirty="0"/>
              <a:t> </a:t>
            </a:r>
            <a:r>
              <a:rPr lang="en-GB" dirty="0"/>
              <a:t>]</a:t>
            </a:r>
            <a:r>
              <a:rPr dirty="0"/>
              <a:t> </a:t>
            </a:r>
            <a:r>
              <a:rPr dirty="0" err="1"/>
              <a:t>الاقتباس</a:t>
            </a:r>
            <a:r>
              <a:rPr dirty="0"/>
              <a:t> </a:t>
            </a:r>
            <a:r>
              <a:rPr dirty="0" err="1"/>
              <a:t>المكتشف</a:t>
            </a:r>
            <a:r>
              <a:rPr dirty="0"/>
              <a:t> ← </a:t>
            </a:r>
            <a:r>
              <a:rPr dirty="0" err="1"/>
              <a:t>نوعه</a:t>
            </a:r>
            <a:r>
              <a:rPr dirty="0"/>
              <a:t> ← </a:t>
            </a:r>
            <a:r>
              <a:rPr dirty="0" err="1"/>
              <a:t>المصدر</a:t>
            </a:r>
            <a:r>
              <a:rPr dirty="0"/>
              <a:t> </a:t>
            </a:r>
            <a:r>
              <a:rPr dirty="0" err="1"/>
              <a:t>المرشح</a:t>
            </a:r>
            <a:r>
              <a:rPr dirty="0"/>
              <a:t> ← </a:t>
            </a:r>
            <a:r>
              <a:rPr dirty="0" err="1"/>
              <a:t>نتيجة</a:t>
            </a:r>
            <a:r>
              <a:rPr dirty="0"/>
              <a:t> </a:t>
            </a:r>
            <a:r>
              <a:rPr dirty="0" err="1"/>
              <a:t>المقارنة</a:t>
            </a:r>
            <a:r>
              <a:rPr dirty="0"/>
              <a:t> ← </a:t>
            </a:r>
            <a:r>
              <a:rPr dirty="0" err="1"/>
              <a:t>حالة</a:t>
            </a:r>
            <a:r>
              <a:rPr dirty="0"/>
              <a:t> </a:t>
            </a:r>
            <a:r>
              <a:rPr dirty="0" err="1"/>
              <a:t>التحقق</a:t>
            </a:r>
            <a:r>
              <a:rPr dirty="0"/>
              <a:t> </a:t>
            </a:r>
            <a:r>
              <a:rPr lang="en-GB" dirty="0"/>
              <a:t>[</a:t>
            </a:r>
            <a:r>
              <a:rPr lang="ar-EG" dirty="0"/>
              <a:t>.</a:t>
            </a:r>
            <a:endParaRPr lang="en-GB" dirty="0"/>
          </a:p>
          <a:p>
            <a:pPr algn="r" rtl="1">
              <a:spcAft>
                <a:spcPts val="1200"/>
              </a:spcAft>
              <a:defRPr sz="1500" b="0">
                <a:solidFill>
                  <a:srgbClr val="0F172A"/>
                </a:solidFill>
                <a:latin typeface="Amiri"/>
              </a:defRPr>
            </a:pPr>
            <a:r>
              <a:rPr dirty="0"/>
              <a:t>✦ ٥. </a:t>
            </a:r>
            <a:r>
              <a:rPr dirty="0" err="1"/>
              <a:t>القرار</a:t>
            </a:r>
            <a:r>
              <a:rPr dirty="0"/>
              <a:t> </a:t>
            </a:r>
            <a:r>
              <a:rPr dirty="0" err="1"/>
              <a:t>والتصحيح</a:t>
            </a:r>
            <a:r>
              <a:rPr dirty="0"/>
              <a:t>: </a:t>
            </a:r>
            <a:r>
              <a:rPr dirty="0" err="1"/>
              <a:t>يقترح</a:t>
            </a:r>
            <a:r>
              <a:rPr dirty="0"/>
              <a:t> </a:t>
            </a:r>
            <a:r>
              <a:rPr dirty="0" err="1"/>
              <a:t>النظام</a:t>
            </a:r>
            <a:r>
              <a:rPr dirty="0"/>
              <a:t> </a:t>
            </a:r>
            <a:r>
              <a:rPr dirty="0" err="1"/>
              <a:t>النص</a:t>
            </a:r>
            <a:r>
              <a:rPr dirty="0"/>
              <a:t> </a:t>
            </a:r>
            <a:r>
              <a:rPr dirty="0" err="1"/>
              <a:t>الصحيح</a:t>
            </a:r>
            <a:r>
              <a:rPr dirty="0"/>
              <a:t> </a:t>
            </a:r>
            <a:r>
              <a:rPr dirty="0" err="1"/>
              <a:t>الموافق</a:t>
            </a:r>
            <a:r>
              <a:rPr dirty="0"/>
              <a:t> </a:t>
            </a:r>
            <a:r>
              <a:rPr dirty="0" err="1"/>
              <a:t>للمصدر</a:t>
            </a:r>
            <a:r>
              <a:rPr dirty="0"/>
              <a:t> </a:t>
            </a:r>
            <a:r>
              <a:rPr dirty="0" err="1"/>
              <a:t>عند</a:t>
            </a:r>
            <a:r>
              <a:rPr dirty="0"/>
              <a:t> </a:t>
            </a:r>
            <a:r>
              <a:rPr dirty="0" err="1"/>
              <a:t>وجود</a:t>
            </a:r>
            <a:r>
              <a:rPr dirty="0"/>
              <a:t> </a:t>
            </a:r>
            <a:r>
              <a:rPr dirty="0" err="1"/>
              <a:t>دليل</a:t>
            </a:r>
            <a:r>
              <a:rPr dirty="0"/>
              <a:t> </a:t>
            </a:r>
            <a:r>
              <a:rPr dirty="0" err="1"/>
              <a:t>كافٍ</a:t>
            </a:r>
            <a:r>
              <a:rPr dirty="0"/>
              <a:t>، </a:t>
            </a:r>
            <a:r>
              <a:rPr dirty="0" err="1"/>
              <a:t>أو</a:t>
            </a:r>
            <a:r>
              <a:rPr dirty="0"/>
              <a:t> </a:t>
            </a:r>
            <a:r>
              <a:rPr dirty="0" err="1"/>
              <a:t>يوصي</a:t>
            </a:r>
            <a:r>
              <a:rPr dirty="0"/>
              <a:t> بـ </a:t>
            </a:r>
            <a:r>
              <a:rPr lang="ar-EG" dirty="0"/>
              <a:t>(</a:t>
            </a:r>
            <a:r>
              <a:rPr dirty="0" err="1"/>
              <a:t>المراجعة</a:t>
            </a:r>
            <a:r>
              <a:rPr dirty="0"/>
              <a:t> </a:t>
            </a:r>
            <a:r>
              <a:rPr dirty="0" err="1"/>
              <a:t>البشرية</a:t>
            </a:r>
            <a:r>
              <a:rPr lang="ar-EG" dirty="0"/>
              <a:t>)</a:t>
            </a:r>
            <a:r>
              <a:rPr dirty="0"/>
              <a:t> </a:t>
            </a:r>
            <a:r>
              <a:rPr dirty="0" err="1"/>
              <a:t>إذا</a:t>
            </a:r>
            <a:r>
              <a:rPr dirty="0"/>
              <a:t> </a:t>
            </a:r>
            <a:r>
              <a:rPr dirty="0" err="1"/>
              <a:t>كانت</a:t>
            </a:r>
            <a:r>
              <a:rPr dirty="0"/>
              <a:t> </a:t>
            </a:r>
            <a:r>
              <a:rPr dirty="0" err="1"/>
              <a:t>الأدلة</a:t>
            </a:r>
            <a:r>
              <a:rPr dirty="0"/>
              <a:t> </a:t>
            </a:r>
            <a:r>
              <a:rPr dirty="0" err="1"/>
              <a:t>غير</a:t>
            </a:r>
            <a:r>
              <a:rPr dirty="0"/>
              <a:t> </a:t>
            </a:r>
            <a:r>
              <a:rPr dirty="0" err="1"/>
              <a:t>حاسمة</a:t>
            </a:r>
            <a:r>
              <a:rPr dirty="0"/>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lgn="r" rtl="1">
              <a:spcAft>
                <a:spcPts val="200"/>
              </a:spcAft>
              <a:defRPr sz="1300" b="1">
                <a:solidFill>
                  <a:srgbClr val="C58C27"/>
                </a:solidFill>
                <a:latin typeface="Amiri"/>
              </a:defRPr>
            </a:pPr>
            <a:r>
              <a:t>تحدي الذكاء الاصطناعي في خدمة المحتوى الإسلامي 2026</a:t>
            </a:r>
          </a:p>
          <a:p>
            <a:pPr algn="r" rtl="1">
              <a:defRPr sz="2400" b="1">
                <a:solidFill>
                  <a:srgbClr val="045239"/>
                </a:solidFill>
                <a:latin typeface="Amiri"/>
              </a:defRPr>
            </a:pPr>
            <a:r>
              <a:t>المخرجات النهائية وحزمة تسليم التحدي</a:t>
            </a:r>
          </a:p>
        </p:txBody>
      </p:sp>
      <p:sp>
        <p:nvSpPr>
          <p:cNvPr id="3" name="Rounded Rectangle 2"/>
          <p:cNvSpPr/>
          <p:nvPr/>
        </p:nvSpPr>
        <p:spPr>
          <a:xfrm>
            <a:off x="731520" y="1696305"/>
            <a:ext cx="10728655" cy="3771433"/>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t"/>
          <a:lstStyle/>
          <a:p>
            <a:pPr algn="r" rtl="1">
              <a:spcAft>
                <a:spcPts val="1600"/>
              </a:spcAft>
              <a:defRPr sz="2000" b="1">
                <a:solidFill>
                  <a:srgbClr val="045239"/>
                </a:solidFill>
                <a:latin typeface="Amiri"/>
              </a:defRPr>
            </a:pPr>
            <a:r>
              <a:rPr dirty="0" err="1"/>
              <a:t>يستهدف</a:t>
            </a:r>
            <a:r>
              <a:rPr dirty="0"/>
              <a:t> </a:t>
            </a:r>
            <a:r>
              <a:rPr dirty="0" err="1"/>
              <a:t>المشروع</a:t>
            </a:r>
            <a:r>
              <a:rPr dirty="0"/>
              <a:t> </a:t>
            </a:r>
            <a:r>
              <a:rPr dirty="0" err="1"/>
              <a:t>تقديم</a:t>
            </a:r>
            <a:r>
              <a:rPr dirty="0"/>
              <a:t> </a:t>
            </a:r>
            <a:r>
              <a:rPr dirty="0" err="1"/>
              <a:t>منتج</a:t>
            </a:r>
            <a:r>
              <a:rPr dirty="0"/>
              <a:t> </a:t>
            </a:r>
            <a:r>
              <a:rPr dirty="0" err="1"/>
              <a:t>متكامل</a:t>
            </a:r>
            <a:r>
              <a:rPr dirty="0"/>
              <a:t> </a:t>
            </a:r>
            <a:r>
              <a:rPr dirty="0" err="1"/>
              <a:t>يتوافق</a:t>
            </a:r>
            <a:r>
              <a:rPr dirty="0"/>
              <a:t> </a:t>
            </a:r>
            <a:r>
              <a:rPr dirty="0" err="1"/>
              <a:t>كليًا</a:t>
            </a:r>
            <a:r>
              <a:rPr dirty="0"/>
              <a:t> </a:t>
            </a:r>
            <a:r>
              <a:rPr dirty="0" err="1"/>
              <a:t>مع</a:t>
            </a:r>
            <a:r>
              <a:rPr dirty="0"/>
              <a:t> </a:t>
            </a:r>
            <a:r>
              <a:rPr dirty="0" err="1"/>
              <a:t>متطلبات</a:t>
            </a:r>
            <a:r>
              <a:rPr dirty="0"/>
              <a:t> </a:t>
            </a:r>
            <a:r>
              <a:rPr dirty="0" err="1"/>
              <a:t>التحدي</a:t>
            </a:r>
            <a:r>
              <a:rPr dirty="0"/>
              <a:t>:</a:t>
            </a:r>
          </a:p>
          <a:p>
            <a:pPr algn="r" rtl="1">
              <a:spcAft>
                <a:spcPts val="1200"/>
              </a:spcAft>
              <a:defRPr sz="1500" b="0">
                <a:solidFill>
                  <a:srgbClr val="0F172A"/>
                </a:solidFill>
                <a:latin typeface="Amiri"/>
              </a:defRPr>
            </a:pPr>
            <a:r>
              <a:rPr dirty="0"/>
              <a:t>✦ </a:t>
            </a:r>
            <a:r>
              <a:rPr lang="ar-EG" dirty="0"/>
              <a:t>واجهة</a:t>
            </a:r>
            <a:r>
              <a:rPr dirty="0"/>
              <a:t> </a:t>
            </a:r>
            <a:r>
              <a:rPr dirty="0" err="1"/>
              <a:t>عملي</a:t>
            </a:r>
            <a:r>
              <a:rPr dirty="0"/>
              <a:t> </a:t>
            </a:r>
            <a:r>
              <a:rPr dirty="0" err="1"/>
              <a:t>متكامل</a:t>
            </a:r>
            <a:r>
              <a:rPr dirty="0"/>
              <a:t>: </a:t>
            </a:r>
            <a:r>
              <a:rPr dirty="0" err="1"/>
              <a:t>واجهة</a:t>
            </a:r>
            <a:r>
              <a:rPr dirty="0"/>
              <a:t> </a:t>
            </a:r>
            <a:r>
              <a:rPr dirty="0" err="1"/>
              <a:t>استخدام</a:t>
            </a:r>
            <a:r>
              <a:rPr dirty="0"/>
              <a:t> </a:t>
            </a:r>
            <a:r>
              <a:rPr dirty="0" err="1"/>
              <a:t>واضحة</a:t>
            </a:r>
            <a:r>
              <a:rPr dirty="0"/>
              <a:t> </a:t>
            </a:r>
            <a:r>
              <a:rPr dirty="0" err="1"/>
              <a:t>لإدخال</a:t>
            </a:r>
            <a:r>
              <a:rPr dirty="0"/>
              <a:t> </a:t>
            </a:r>
            <a:r>
              <a:rPr dirty="0" err="1"/>
              <a:t>النصوص</a:t>
            </a:r>
            <a:r>
              <a:rPr dirty="0"/>
              <a:t> </a:t>
            </a:r>
            <a:r>
              <a:rPr dirty="0" err="1"/>
              <a:t>ومتابعة</a:t>
            </a:r>
            <a:r>
              <a:rPr dirty="0"/>
              <a:t> </a:t>
            </a:r>
            <a:r>
              <a:rPr dirty="0" err="1"/>
              <a:t>التدقيق</a:t>
            </a:r>
            <a:r>
              <a:rPr dirty="0"/>
              <a:t>.</a:t>
            </a:r>
          </a:p>
          <a:p>
            <a:pPr algn="r" rtl="1">
              <a:spcAft>
                <a:spcPts val="1200"/>
              </a:spcAft>
              <a:defRPr sz="1500" b="0">
                <a:solidFill>
                  <a:srgbClr val="0F172A"/>
                </a:solidFill>
                <a:latin typeface="Amiri"/>
              </a:defRPr>
            </a:pPr>
            <a:r>
              <a:rPr dirty="0"/>
              <a:t>✦ </a:t>
            </a:r>
            <a:r>
              <a:rPr dirty="0" err="1"/>
              <a:t>محرك</a:t>
            </a:r>
            <a:r>
              <a:rPr dirty="0"/>
              <a:t> </a:t>
            </a:r>
            <a:r>
              <a:rPr dirty="0" err="1"/>
              <a:t>كشف</a:t>
            </a:r>
            <a:r>
              <a:rPr dirty="0"/>
              <a:t> </a:t>
            </a:r>
            <a:r>
              <a:rPr dirty="0" err="1"/>
              <a:t>وتحقق</a:t>
            </a:r>
            <a:r>
              <a:rPr dirty="0"/>
              <a:t> </a:t>
            </a:r>
            <a:r>
              <a:rPr dirty="0" err="1"/>
              <a:t>ذكي</a:t>
            </a:r>
            <a:r>
              <a:rPr dirty="0"/>
              <a:t>: </a:t>
            </a:r>
            <a:r>
              <a:rPr dirty="0" err="1"/>
              <a:t>دمج</a:t>
            </a:r>
            <a:r>
              <a:rPr dirty="0"/>
              <a:t> </a:t>
            </a:r>
            <a:r>
              <a:rPr dirty="0" err="1"/>
              <a:t>آليات</a:t>
            </a:r>
            <a:r>
              <a:rPr dirty="0"/>
              <a:t> </a:t>
            </a:r>
            <a:r>
              <a:rPr dirty="0" err="1"/>
              <a:t>الكشف</a:t>
            </a:r>
            <a:r>
              <a:rPr dirty="0"/>
              <a:t> </a:t>
            </a:r>
            <a:r>
              <a:rPr dirty="0" err="1"/>
              <a:t>الآلي</a:t>
            </a:r>
            <a:r>
              <a:rPr dirty="0"/>
              <a:t>، </a:t>
            </a:r>
            <a:r>
              <a:rPr dirty="0" err="1"/>
              <a:t>استرجاع</a:t>
            </a:r>
            <a:r>
              <a:rPr dirty="0"/>
              <a:t> </a:t>
            </a:r>
            <a:r>
              <a:rPr dirty="0" err="1"/>
              <a:t>المصادر</a:t>
            </a:r>
            <a:r>
              <a:rPr dirty="0"/>
              <a:t>، </a:t>
            </a:r>
            <a:r>
              <a:rPr dirty="0" err="1"/>
              <a:t>التحقق</a:t>
            </a:r>
            <a:r>
              <a:rPr dirty="0"/>
              <a:t> </a:t>
            </a:r>
            <a:r>
              <a:rPr dirty="0" err="1"/>
              <a:t>النصي</a:t>
            </a:r>
            <a:r>
              <a:rPr dirty="0"/>
              <a:t>، </a:t>
            </a:r>
            <a:r>
              <a:rPr dirty="0" err="1"/>
              <a:t>واقتراح</a:t>
            </a:r>
            <a:r>
              <a:rPr dirty="0"/>
              <a:t> </a:t>
            </a:r>
            <a:r>
              <a:rPr dirty="0" err="1"/>
              <a:t>التصحيح</a:t>
            </a:r>
            <a:r>
              <a:rPr dirty="0"/>
              <a:t>.</a:t>
            </a:r>
          </a:p>
          <a:p>
            <a:pPr algn="r" rtl="1">
              <a:spcAft>
                <a:spcPts val="1200"/>
              </a:spcAft>
              <a:defRPr sz="1500" b="0">
                <a:solidFill>
                  <a:srgbClr val="0F172A"/>
                </a:solidFill>
                <a:latin typeface="Amiri"/>
              </a:defRPr>
            </a:pPr>
            <a:r>
              <a:rPr dirty="0"/>
              <a:t>✦ </a:t>
            </a:r>
            <a:r>
              <a:rPr dirty="0" err="1"/>
              <a:t>مسار</a:t>
            </a:r>
            <a:r>
              <a:rPr dirty="0"/>
              <a:t> </a:t>
            </a:r>
            <a:r>
              <a:rPr dirty="0" err="1"/>
              <a:t>أمان</a:t>
            </a:r>
            <a:r>
              <a:rPr dirty="0"/>
              <a:t> </a:t>
            </a:r>
            <a:r>
              <a:rPr dirty="0" err="1"/>
              <a:t>للمراجعة</a:t>
            </a:r>
            <a:r>
              <a:rPr dirty="0"/>
              <a:t> </a:t>
            </a:r>
            <a:r>
              <a:rPr dirty="0" err="1"/>
              <a:t>البشرية</a:t>
            </a:r>
            <a:r>
              <a:rPr dirty="0"/>
              <a:t>: </a:t>
            </a:r>
            <a:r>
              <a:rPr dirty="0" err="1"/>
              <a:t>آلية</a:t>
            </a:r>
            <a:r>
              <a:rPr dirty="0"/>
              <a:t> </a:t>
            </a:r>
            <a:r>
              <a:rPr dirty="0" err="1"/>
              <a:t>للامتناع</a:t>
            </a:r>
            <a:r>
              <a:rPr dirty="0"/>
              <a:t> </a:t>
            </a:r>
            <a:r>
              <a:rPr dirty="0" err="1"/>
              <a:t>عن</a:t>
            </a:r>
            <a:r>
              <a:rPr dirty="0"/>
              <a:t> </a:t>
            </a:r>
            <a:r>
              <a:rPr dirty="0" err="1"/>
              <a:t>التصحيح</a:t>
            </a:r>
            <a:r>
              <a:rPr dirty="0"/>
              <a:t> </a:t>
            </a:r>
            <a:r>
              <a:rPr dirty="0" err="1"/>
              <a:t>عند</a:t>
            </a:r>
            <a:r>
              <a:rPr dirty="0"/>
              <a:t> </a:t>
            </a:r>
            <a:r>
              <a:rPr dirty="0" err="1"/>
              <a:t>عدم</a:t>
            </a:r>
            <a:r>
              <a:rPr dirty="0"/>
              <a:t> </a:t>
            </a:r>
            <a:r>
              <a:rPr dirty="0" err="1"/>
              <a:t>اليقين</a:t>
            </a:r>
            <a:r>
              <a:rPr dirty="0"/>
              <a:t> </a:t>
            </a:r>
            <a:r>
              <a:rPr dirty="0" err="1"/>
              <a:t>وإحالة</a:t>
            </a:r>
            <a:r>
              <a:rPr dirty="0"/>
              <a:t> </a:t>
            </a:r>
            <a:r>
              <a:rPr dirty="0" err="1"/>
              <a:t>الحالات</a:t>
            </a:r>
            <a:r>
              <a:rPr dirty="0"/>
              <a:t> </a:t>
            </a:r>
            <a:r>
              <a:rPr dirty="0" err="1"/>
              <a:t>الغامضة</a:t>
            </a:r>
            <a:r>
              <a:rPr dirty="0"/>
              <a:t> </a:t>
            </a:r>
            <a:r>
              <a:rPr dirty="0" err="1"/>
              <a:t>للتحقق</a:t>
            </a:r>
            <a:r>
              <a:rPr dirty="0"/>
              <a:t> </a:t>
            </a:r>
            <a:r>
              <a:rPr dirty="0" err="1"/>
              <a:t>البشري</a:t>
            </a:r>
            <a:r>
              <a:rPr dirty="0"/>
              <a:t>.</a:t>
            </a:r>
          </a:p>
          <a:p>
            <a:pPr algn="r" rtl="1">
              <a:spcAft>
                <a:spcPts val="1200"/>
              </a:spcAft>
              <a:defRPr sz="1500" b="0">
                <a:solidFill>
                  <a:srgbClr val="0F172A"/>
                </a:solidFill>
                <a:latin typeface="Amiri"/>
              </a:defRPr>
            </a:pPr>
            <a:r>
              <a:rPr dirty="0"/>
              <a:t>✦ </a:t>
            </a:r>
            <a:r>
              <a:rPr dirty="0" err="1"/>
              <a:t>رابط</a:t>
            </a:r>
            <a:r>
              <a:rPr dirty="0"/>
              <a:t> Demo </a:t>
            </a:r>
            <a:r>
              <a:rPr dirty="0" err="1"/>
              <a:t>مباشر</a:t>
            </a:r>
            <a:r>
              <a:rPr dirty="0"/>
              <a:t>: </a:t>
            </a:r>
            <a:r>
              <a:rPr dirty="0" err="1"/>
              <a:t>رابط</a:t>
            </a:r>
            <a:r>
              <a:rPr dirty="0"/>
              <a:t> </a:t>
            </a:r>
            <a:r>
              <a:rPr dirty="0" err="1"/>
              <a:t>تجربة</a:t>
            </a:r>
            <a:r>
              <a:rPr dirty="0"/>
              <a:t> </a:t>
            </a:r>
            <a:r>
              <a:rPr dirty="0" err="1"/>
              <a:t>مباشر</a:t>
            </a:r>
            <a:r>
              <a:rPr dirty="0"/>
              <a:t> </a:t>
            </a:r>
            <a:r>
              <a:rPr dirty="0" err="1"/>
              <a:t>للمنتج</a:t>
            </a:r>
            <a:r>
              <a:rPr dirty="0"/>
              <a:t> </a:t>
            </a:r>
            <a:r>
              <a:rPr dirty="0" err="1"/>
              <a:t>ونموذج</a:t>
            </a:r>
            <a:r>
              <a:rPr dirty="0"/>
              <a:t> </a:t>
            </a:r>
            <a:r>
              <a:rPr dirty="0" err="1"/>
              <a:t>عملي</a:t>
            </a:r>
            <a:r>
              <a:rPr dirty="0"/>
              <a:t> </a:t>
            </a:r>
            <a:r>
              <a:rPr dirty="0" err="1"/>
              <a:t>مكتمل</a:t>
            </a:r>
            <a:r>
              <a:rPr dirty="0"/>
              <a:t> </a:t>
            </a:r>
            <a:r>
              <a:rPr dirty="0" err="1"/>
              <a:t>ومختبر</a:t>
            </a:r>
            <a:r>
              <a:rPr dirty="0"/>
              <a:t> </a:t>
            </a:r>
            <a:r>
              <a:rPr dirty="0" err="1"/>
              <a:t>لتقييم</a:t>
            </a:r>
            <a:r>
              <a:rPr dirty="0"/>
              <a:t> </a:t>
            </a:r>
            <a:r>
              <a:rPr dirty="0" err="1"/>
              <a:t>الأداء</a:t>
            </a:r>
            <a:r>
              <a:rPr dirty="0"/>
              <a:t>.</a:t>
            </a:r>
          </a:p>
          <a:p>
            <a:pPr algn="r" rtl="1">
              <a:spcAft>
                <a:spcPts val="1200"/>
              </a:spcAft>
              <a:defRPr sz="1500" b="0">
                <a:solidFill>
                  <a:srgbClr val="0F172A"/>
                </a:solidFill>
                <a:latin typeface="Amiri"/>
              </a:defRPr>
            </a:pPr>
            <a:r>
              <a:rPr dirty="0"/>
              <a:t>✦ </a:t>
            </a:r>
            <a:r>
              <a:rPr dirty="0" err="1"/>
              <a:t>مستودع</a:t>
            </a:r>
            <a:r>
              <a:rPr dirty="0"/>
              <a:t> GitHub </a:t>
            </a:r>
            <a:r>
              <a:rPr dirty="0" err="1"/>
              <a:t>عام</a:t>
            </a:r>
            <a:r>
              <a:rPr dirty="0"/>
              <a:t>: </a:t>
            </a:r>
            <a:r>
              <a:rPr dirty="0" err="1"/>
              <a:t>مستودع</a:t>
            </a:r>
            <a:r>
              <a:rPr dirty="0"/>
              <a:t> </a:t>
            </a:r>
            <a:r>
              <a:rPr dirty="0" err="1"/>
              <a:t>مفتوح</a:t>
            </a:r>
            <a:r>
              <a:rPr dirty="0"/>
              <a:t> </a:t>
            </a:r>
            <a:r>
              <a:rPr dirty="0" err="1"/>
              <a:t>يحتوي</a:t>
            </a:r>
            <a:r>
              <a:rPr dirty="0"/>
              <a:t> </a:t>
            </a:r>
            <a:r>
              <a:rPr dirty="0" err="1"/>
              <a:t>على</a:t>
            </a:r>
            <a:r>
              <a:rPr dirty="0"/>
              <a:t> </a:t>
            </a:r>
            <a:r>
              <a:rPr dirty="0" err="1"/>
              <a:t>الكود</a:t>
            </a:r>
            <a:r>
              <a:rPr dirty="0"/>
              <a:t> </a:t>
            </a:r>
            <a:r>
              <a:rPr dirty="0" err="1"/>
              <a:t>والملفات</a:t>
            </a:r>
            <a:r>
              <a:rPr dirty="0"/>
              <a:t> </a:t>
            </a:r>
            <a:r>
              <a:rPr dirty="0" err="1"/>
              <a:t>المسموح</a:t>
            </a:r>
            <a:r>
              <a:rPr dirty="0"/>
              <a:t> </a:t>
            </a:r>
            <a:r>
              <a:rPr dirty="0" err="1"/>
              <a:t>بنشرها</a:t>
            </a:r>
            <a:r>
              <a:rPr dirty="0"/>
              <a:t> </a:t>
            </a:r>
            <a:r>
              <a:rPr dirty="0" err="1"/>
              <a:t>مع</a:t>
            </a:r>
            <a:r>
              <a:rPr dirty="0"/>
              <a:t> </a:t>
            </a:r>
            <a:r>
              <a:rPr dirty="0" err="1"/>
              <a:t>توثيق</a:t>
            </a:r>
            <a:r>
              <a:rPr dirty="0"/>
              <a:t> </a:t>
            </a:r>
            <a:r>
              <a:rPr dirty="0" err="1"/>
              <a:t>التشغيل</a:t>
            </a:r>
            <a:r>
              <a:rPr dirty="0"/>
              <a:t> </a:t>
            </a:r>
            <a:r>
              <a:rPr dirty="0" err="1"/>
              <a:t>وتراخيص</a:t>
            </a:r>
            <a:r>
              <a:rPr dirty="0"/>
              <a:t> </a:t>
            </a:r>
            <a:r>
              <a:rPr dirty="0" err="1"/>
              <a:t>المصادر</a:t>
            </a:r>
            <a:r>
              <a:rPr dirty="0"/>
              <a:t> </a:t>
            </a:r>
            <a:r>
              <a:rPr dirty="0" err="1"/>
              <a:t>والمكونات</a:t>
            </a:r>
            <a:r>
              <a:rPr dirty="0"/>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ounded Rectangle 1"/>
          <p:cNvSpPr/>
          <p:nvPr/>
        </p:nvSpPr>
        <p:spPr>
          <a:xfrm>
            <a:off x="914400" y="914400"/>
            <a:ext cx="10362895" cy="50292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ctr"/>
          <a:lstStyle/>
          <a:p>
            <a:pPr algn="ctr" rtl="1">
              <a:spcAft>
                <a:spcPts val="2000"/>
              </a:spcAft>
              <a:defRPr sz="2800" b="1">
                <a:solidFill>
                  <a:srgbClr val="045239"/>
                </a:solidFill>
                <a:latin typeface="Amiri"/>
              </a:defRPr>
            </a:pPr>
            <a:r>
              <a:t>الخاتمة والرؤية المستقبلية</a:t>
            </a:r>
          </a:p>
          <a:p>
            <a:pPr algn="ctr" rtl="1">
              <a:spcAft>
                <a:spcPts val="2500"/>
              </a:spcAft>
              <a:defRPr sz="1800" b="0">
                <a:solidFill>
                  <a:srgbClr val="0F172A"/>
                </a:solidFill>
                <a:latin typeface="Amiri"/>
              </a:defRPr>
            </a:pPr>
            <a:r>
              <a:t>يقدم المشروع حلًا عمليًا لمشكلة متزايدة الأهمية في عصر المحتوى المُولَّد بالذكاء الاصطناعي.</a:t>
            </a:r>
            <a:br/>
            <a:br/>
            <a:r>
              <a:t>لا يقتصر هدف المشروع على مجرد اكتشاف وجود خطأ، وإنما الانتقال الشامل والموثق من:</a:t>
            </a:r>
          </a:p>
          <a:p>
            <a:pPr algn="ctr" rtl="1">
              <a:spcAft>
                <a:spcPts val="2500"/>
              </a:spcAft>
              <a:defRPr sz="2200" b="1">
                <a:solidFill>
                  <a:srgbClr val="C58C27"/>
                </a:solidFill>
                <a:latin typeface="Amiri"/>
              </a:defRPr>
            </a:pPr>
            <a:r>
              <a:t>اكتشاف الخطأ  ←  تحديد المصدر  ←  تقديم الدليل  ←  التصحيح الموثوق</a:t>
            </a:r>
          </a:p>
          <a:p>
            <a:pPr algn="ctr" rtl="1">
              <a:defRPr sz="1800" b="1">
                <a:solidFill>
                  <a:srgbClr val="045239"/>
                </a:solidFill>
                <a:latin typeface="Amiri"/>
              </a:defRPr>
            </a:pPr>
            <a:r>
              <a:t>الكشف   •   التحقق   •   التصحيح   •   بالدليل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19</TotalTime>
  <Words>1527</Words>
  <Application>Microsoft Office PowerPoint</Application>
  <PresentationFormat>Widescreen</PresentationFormat>
  <Paragraphs>127</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Microsoft</dc:creator>
  <cp:keywords/>
  <dc:description>generated using python-pptx</dc:description>
  <cp:lastModifiedBy>Ghada Ragab</cp:lastModifiedBy>
  <cp:revision>10</cp:revision>
  <dcterms:created xsi:type="dcterms:W3CDTF">2013-01-27T09:14:16Z</dcterms:created>
  <dcterms:modified xsi:type="dcterms:W3CDTF">2026-09-29T13:59:54Z</dcterms:modified>
  <cp:category/>
</cp:coreProperties>
</file>